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57" r:id="rId3"/>
    <p:sldId id="295" r:id="rId4"/>
    <p:sldId id="293" r:id="rId5"/>
    <p:sldId id="279" r:id="rId6"/>
    <p:sldId id="294" r:id="rId7"/>
    <p:sldId id="280" r:id="rId8"/>
    <p:sldId id="301" r:id="rId9"/>
    <p:sldId id="284" r:id="rId10"/>
    <p:sldId id="302" r:id="rId11"/>
    <p:sldId id="282" r:id="rId12"/>
    <p:sldId id="303" r:id="rId13"/>
    <p:sldId id="299" r:id="rId14"/>
    <p:sldId id="300" r:id="rId15"/>
    <p:sldId id="285" r:id="rId16"/>
    <p:sldId id="288" r:id="rId17"/>
    <p:sldId id="289" r:id="rId18"/>
    <p:sldId id="308" r:id="rId19"/>
    <p:sldId id="309" r:id="rId20"/>
    <p:sldId id="278" r:id="rId2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66"/>
    <a:srgbClr val="6600FF"/>
    <a:srgbClr val="3333CC"/>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5" autoAdjust="0"/>
    <p:restoredTop sz="94660"/>
  </p:normalViewPr>
  <p:slideViewPr>
    <p:cSldViewPr snapToGrid="0">
      <p:cViewPr varScale="1">
        <p:scale>
          <a:sx n="72" d="100"/>
          <a:sy n="72" d="100"/>
        </p:scale>
        <p:origin x="63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705DBE60-0375-44CF-9D69-1A90A3767ED8}" type="datetimeFigureOut">
              <a:rPr lang="es-ES" smtClean="0"/>
              <a:t>09/11/2025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3670152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705DBE60-0375-44CF-9D69-1A90A3767ED8}" type="datetimeFigureOut">
              <a:rPr lang="es-ES" smtClean="0"/>
              <a:t>09/11/2025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1846347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705DBE60-0375-44CF-9D69-1A90A3767ED8}" type="datetimeFigureOut">
              <a:rPr lang="es-ES" smtClean="0"/>
              <a:t>09/11/2025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3064415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705DBE60-0375-44CF-9D69-1A90A3767ED8}" type="datetimeFigureOut">
              <a:rPr lang="es-ES" smtClean="0"/>
              <a:t>09/11/2025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2820975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705DBE60-0375-44CF-9D69-1A90A3767ED8}" type="datetimeFigureOut">
              <a:rPr lang="es-ES" smtClean="0"/>
              <a:t>09/11/2025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3665255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705DBE60-0375-44CF-9D69-1A90A3767ED8}" type="datetimeFigureOut">
              <a:rPr lang="es-ES" smtClean="0"/>
              <a:t>09/11/2025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3276843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705DBE60-0375-44CF-9D69-1A90A3767ED8}" type="datetimeFigureOut">
              <a:rPr lang="es-ES" smtClean="0"/>
              <a:t>09/11/2025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2442656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705DBE60-0375-44CF-9D69-1A90A3767ED8}" type="datetimeFigureOut">
              <a:rPr lang="es-ES" smtClean="0"/>
              <a:t>09/11/2025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32030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705DBE60-0375-44CF-9D69-1A90A3767ED8}" type="datetimeFigureOut">
              <a:rPr lang="es-ES" smtClean="0"/>
              <a:t>09/11/2025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3529404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705DBE60-0375-44CF-9D69-1A90A3767ED8}" type="datetimeFigureOut">
              <a:rPr lang="es-ES" smtClean="0"/>
              <a:t>09/11/2025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625201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705DBE60-0375-44CF-9D69-1A90A3767ED8}" type="datetimeFigureOut">
              <a:rPr lang="es-ES" smtClean="0"/>
              <a:t>09/11/2025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B570D6A-5C3C-4B5F-8041-E014EE884136}" type="slidenum">
              <a:rPr lang="es-ES" smtClean="0"/>
              <a:t>‹Nº›</a:t>
            </a:fld>
            <a:endParaRPr lang="es-ES"/>
          </a:p>
        </p:txBody>
      </p:sp>
    </p:spTree>
    <p:extLst>
      <p:ext uri="{BB962C8B-B14F-4D97-AF65-F5344CB8AC3E}">
        <p14:creationId xmlns:p14="http://schemas.microsoft.com/office/powerpoint/2010/main" val="683340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5DBE60-0375-44CF-9D69-1A90A3767ED8}" type="datetimeFigureOut">
              <a:rPr lang="es-ES" smtClean="0"/>
              <a:t>09/11/2025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570D6A-5C3C-4B5F-8041-E014EE884136}" type="slidenum">
              <a:rPr lang="es-ES" smtClean="0"/>
              <a:t>‹Nº›</a:t>
            </a:fld>
            <a:endParaRPr lang="es-ES"/>
          </a:p>
        </p:txBody>
      </p:sp>
    </p:spTree>
    <p:extLst>
      <p:ext uri="{BB962C8B-B14F-4D97-AF65-F5344CB8AC3E}">
        <p14:creationId xmlns:p14="http://schemas.microsoft.com/office/powerpoint/2010/main" val="108909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853"/>
          <p:cNvSpPr/>
          <p:nvPr/>
        </p:nvSpPr>
        <p:spPr>
          <a:xfrm rot="16200000">
            <a:off x="4887640" y="-447310"/>
            <a:ext cx="2416724" cy="12192001"/>
          </a:xfrm>
          <a:prstGeom prst="rect">
            <a:avLst/>
          </a:prstGeom>
          <a:solidFill>
            <a:srgbClr val="000066"/>
          </a:solid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000066"/>
                </a:solidFill>
              </a:ln>
              <a:solidFill>
                <a:srgbClr val="000066"/>
              </a:solidFill>
            </a:endParaRPr>
          </a:p>
        </p:txBody>
      </p:sp>
      <p:sp>
        <p:nvSpPr>
          <p:cNvPr id="8" name="CuadroTexto 7">
            <a:extLst>
              <a:ext uri="{FF2B5EF4-FFF2-40B4-BE49-F238E27FC236}">
                <a16:creationId xmlns:a16="http://schemas.microsoft.com/office/drawing/2014/main" id="{50598379-CCCD-425F-A624-78459515EDD1}"/>
              </a:ext>
            </a:extLst>
          </p:cNvPr>
          <p:cNvSpPr txBox="1"/>
          <p:nvPr/>
        </p:nvSpPr>
        <p:spPr>
          <a:xfrm>
            <a:off x="745567" y="1607519"/>
            <a:ext cx="8636972" cy="2308324"/>
          </a:xfrm>
          <a:prstGeom prst="rect">
            <a:avLst/>
          </a:prstGeom>
          <a:noFill/>
        </p:spPr>
        <p:txBody>
          <a:bodyPr wrap="square">
            <a:spAutoFit/>
          </a:bodyPr>
          <a:lstStyle/>
          <a:p>
            <a:r>
              <a:rPr lang="es-NI" sz="4800" b="1" dirty="0">
                <a:solidFill>
                  <a:srgbClr val="002060"/>
                </a:solidFill>
                <a:latin typeface="Franklin Gothic Heavy" panose="020B0903020102020204" pitchFamily="34" charset="0"/>
              </a:rPr>
              <a:t>Planeación de las utilidades: Fundamentos de los estados proforma.</a:t>
            </a:r>
          </a:p>
        </p:txBody>
      </p:sp>
      <p:sp>
        <p:nvSpPr>
          <p:cNvPr id="9" name="object 5">
            <a:extLst>
              <a:ext uri="{FF2B5EF4-FFF2-40B4-BE49-F238E27FC236}">
                <a16:creationId xmlns:a16="http://schemas.microsoft.com/office/drawing/2014/main" id="{64A0E256-A274-451F-9ED5-154F49C40B35}"/>
              </a:ext>
            </a:extLst>
          </p:cNvPr>
          <p:cNvSpPr txBox="1"/>
          <p:nvPr/>
        </p:nvSpPr>
        <p:spPr>
          <a:xfrm>
            <a:off x="1914372" y="252969"/>
            <a:ext cx="7221855" cy="994503"/>
          </a:xfrm>
          <a:prstGeom prst="rect">
            <a:avLst/>
          </a:prstGeom>
        </p:spPr>
        <p:txBody>
          <a:bodyPr vert="horz" wrap="square" lIns="0" tIns="9525" rIns="0" bIns="0" rtlCol="0">
            <a:spAutoFit/>
          </a:bodyPr>
          <a:lstStyle/>
          <a:p>
            <a:pPr algn="ctr">
              <a:spcBef>
                <a:spcPts val="75"/>
              </a:spcBef>
            </a:pPr>
            <a:r>
              <a:rPr sz="1600" b="1" dirty="0">
                <a:solidFill>
                  <a:srgbClr val="002060"/>
                </a:solidFill>
                <a:latin typeface="Franklin Gothic Heavy" panose="020B0903020102020204" pitchFamily="34" charset="0"/>
              </a:rPr>
              <a:t>UNIVERSIDAD NACIONAL DE INGENIERÍA</a:t>
            </a:r>
          </a:p>
          <a:p>
            <a:pPr algn="ctr">
              <a:lnSpc>
                <a:spcPct val="100000"/>
              </a:lnSpc>
            </a:pPr>
            <a:r>
              <a:rPr sz="1600" b="1" dirty="0">
                <a:solidFill>
                  <a:srgbClr val="002060"/>
                </a:solidFill>
                <a:latin typeface="Franklin Gothic Heavy" panose="020B0903020102020204" pitchFamily="34" charset="0"/>
              </a:rPr>
              <a:t>DIRECCIÓN DE</a:t>
            </a:r>
            <a:r>
              <a:rPr lang="es-MX" sz="1600" b="1" dirty="0">
                <a:solidFill>
                  <a:srgbClr val="002060"/>
                </a:solidFill>
                <a:latin typeface="Franklin Gothic Heavy" panose="020B0903020102020204" pitchFamily="34" charset="0"/>
              </a:rPr>
              <a:t>L AREA</a:t>
            </a:r>
            <a:r>
              <a:rPr sz="1600" b="1" dirty="0">
                <a:solidFill>
                  <a:srgbClr val="002060"/>
                </a:solidFill>
                <a:latin typeface="Franklin Gothic Heavy" panose="020B0903020102020204" pitchFamily="34" charset="0"/>
              </a:rPr>
              <a:t> </a:t>
            </a:r>
            <a:r>
              <a:rPr lang="es-MX" sz="1600" b="1" dirty="0">
                <a:solidFill>
                  <a:srgbClr val="002060"/>
                </a:solidFill>
                <a:latin typeface="Franklin Gothic Heavy" panose="020B0903020102020204" pitchFamily="34" charset="0"/>
              </a:rPr>
              <a:t>DEL CONOCIMIENTO DE </a:t>
            </a:r>
            <a:r>
              <a:rPr sz="1600" b="1" dirty="0">
                <a:solidFill>
                  <a:srgbClr val="002060"/>
                </a:solidFill>
                <a:latin typeface="Franklin Gothic Heavy" panose="020B0903020102020204" pitchFamily="34" charset="0"/>
              </a:rPr>
              <a:t>TECNOLOGÍA DE LA INFORMACIÓN Y COMUNICACIÓN</a:t>
            </a:r>
          </a:p>
          <a:p>
            <a:pPr marL="2363153" marR="2358390" algn="ctr"/>
            <a:r>
              <a:rPr lang="es-MX" sz="1600" b="1" dirty="0">
                <a:solidFill>
                  <a:srgbClr val="002060"/>
                </a:solidFill>
                <a:latin typeface="Franklin Gothic Heavy" panose="020B0903020102020204" pitchFamily="34" charset="0"/>
              </a:rPr>
              <a:t>DACTIC- SISTEMA</a:t>
            </a:r>
            <a:endParaRPr sz="1600" b="1" dirty="0">
              <a:solidFill>
                <a:srgbClr val="002060"/>
              </a:solidFill>
              <a:latin typeface="Franklin Gothic Heavy" panose="020B0903020102020204" pitchFamily="34" charset="0"/>
            </a:endParaRPr>
          </a:p>
        </p:txBody>
      </p:sp>
    </p:spTree>
    <p:extLst>
      <p:ext uri="{BB962C8B-B14F-4D97-AF65-F5344CB8AC3E}">
        <p14:creationId xmlns:p14="http://schemas.microsoft.com/office/powerpoint/2010/main" val="1324167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8" name="1 Título">
            <a:extLst>
              <a:ext uri="{FF2B5EF4-FFF2-40B4-BE49-F238E27FC236}">
                <a16:creationId xmlns:a16="http://schemas.microsoft.com/office/drawing/2014/main" id="{29AED7C1-02E8-4341-ADE7-8ECA71847051}"/>
              </a:ext>
            </a:extLst>
          </p:cNvPr>
          <p:cNvSpPr>
            <a:spLocks noGrp="1"/>
          </p:cNvSpPr>
          <p:nvPr>
            <p:ph type="title"/>
          </p:nvPr>
        </p:nvSpPr>
        <p:spPr>
          <a:xfrm>
            <a:off x="2425027" y="14978"/>
            <a:ext cx="7908500" cy="848139"/>
          </a:xfrm>
        </p:spPr>
        <p:txBody>
          <a:bodyPr/>
          <a:lstStyle/>
          <a:p>
            <a:r>
              <a:rPr lang="es-NI" b="1" dirty="0">
                <a:solidFill>
                  <a:schemeClr val="bg1"/>
                </a:solidFill>
              </a:rPr>
              <a:t>PLANEACIÓN DE LAS UTILIDADES</a:t>
            </a:r>
          </a:p>
        </p:txBody>
      </p:sp>
      <p:sp>
        <p:nvSpPr>
          <p:cNvPr id="9" name="2 Marcador de contenido">
            <a:extLst>
              <a:ext uri="{FF2B5EF4-FFF2-40B4-BE49-F238E27FC236}">
                <a16:creationId xmlns:a16="http://schemas.microsoft.com/office/drawing/2014/main" id="{5A4250C0-6973-46D6-92F8-70B66DFB44D3}"/>
              </a:ext>
            </a:extLst>
          </p:cNvPr>
          <p:cNvSpPr>
            <a:spLocks noGrp="1"/>
          </p:cNvSpPr>
          <p:nvPr>
            <p:ph sz="quarter" idx="1"/>
          </p:nvPr>
        </p:nvSpPr>
        <p:spPr>
          <a:xfrm>
            <a:off x="1994597" y="1586947"/>
            <a:ext cx="9176986" cy="4601817"/>
          </a:xfrm>
        </p:spPr>
        <p:txBody>
          <a:bodyPr>
            <a:normAutofit/>
          </a:bodyPr>
          <a:lstStyle/>
          <a:p>
            <a:pPr algn="just"/>
            <a:r>
              <a:rPr lang="es-NI" sz="3100" dirty="0">
                <a:solidFill>
                  <a:srgbClr val="002060"/>
                </a:solidFill>
              </a:rPr>
              <a:t>Se basa en los conceptos de acumulación para proyectar la utilidad y la posición financiera general de la empresa. </a:t>
            </a:r>
          </a:p>
          <a:p>
            <a:pPr algn="just">
              <a:buNone/>
            </a:pPr>
            <a:endParaRPr lang="es-NI" sz="3100" dirty="0">
              <a:solidFill>
                <a:srgbClr val="002060"/>
              </a:solidFill>
            </a:endParaRPr>
          </a:p>
          <a:p>
            <a:pPr algn="just"/>
            <a:r>
              <a:rPr lang="es-NI" sz="3100" dirty="0">
                <a:solidFill>
                  <a:srgbClr val="002060"/>
                </a:solidFill>
              </a:rPr>
              <a:t>Los accionistas, los acreedores y la administración de la compañía presenta mucha atención a los estados financiero proforma, que son estado de resultado y balance general proyectado.</a:t>
            </a:r>
          </a:p>
          <a:p>
            <a:pPr algn="just">
              <a:buNone/>
            </a:pPr>
            <a:endParaRPr lang="es-NI" dirty="0"/>
          </a:p>
        </p:txBody>
      </p:sp>
    </p:spTree>
    <p:extLst>
      <p:ext uri="{BB962C8B-B14F-4D97-AF65-F5344CB8AC3E}">
        <p14:creationId xmlns:p14="http://schemas.microsoft.com/office/powerpoint/2010/main" val="894024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8" name="1 Título">
            <a:extLst>
              <a:ext uri="{FF2B5EF4-FFF2-40B4-BE49-F238E27FC236}">
                <a16:creationId xmlns:a16="http://schemas.microsoft.com/office/drawing/2014/main" id="{29AED7C1-02E8-4341-ADE7-8ECA71847051}"/>
              </a:ext>
            </a:extLst>
          </p:cNvPr>
          <p:cNvSpPr>
            <a:spLocks noGrp="1"/>
          </p:cNvSpPr>
          <p:nvPr>
            <p:ph type="title"/>
          </p:nvPr>
        </p:nvSpPr>
        <p:spPr>
          <a:xfrm>
            <a:off x="2425027" y="14978"/>
            <a:ext cx="7908500" cy="848139"/>
          </a:xfrm>
        </p:spPr>
        <p:txBody>
          <a:bodyPr/>
          <a:lstStyle/>
          <a:p>
            <a:r>
              <a:rPr lang="es-NI" b="1" dirty="0">
                <a:solidFill>
                  <a:schemeClr val="bg1"/>
                </a:solidFill>
              </a:rPr>
              <a:t>PLANEACIÓN DE LAS UTILIDADES</a:t>
            </a:r>
          </a:p>
        </p:txBody>
      </p:sp>
      <p:sp>
        <p:nvSpPr>
          <p:cNvPr id="11" name="CuadroTexto 10">
            <a:extLst>
              <a:ext uri="{FF2B5EF4-FFF2-40B4-BE49-F238E27FC236}">
                <a16:creationId xmlns:a16="http://schemas.microsoft.com/office/drawing/2014/main" id="{A5572358-6C31-437F-A717-3A028041C13D}"/>
              </a:ext>
            </a:extLst>
          </p:cNvPr>
          <p:cNvSpPr txBox="1"/>
          <p:nvPr/>
        </p:nvSpPr>
        <p:spPr>
          <a:xfrm>
            <a:off x="1838819" y="1623080"/>
            <a:ext cx="2567097" cy="1046440"/>
          </a:xfrm>
          <a:prstGeom prst="rect">
            <a:avLst/>
          </a:prstGeom>
          <a:noFill/>
        </p:spPr>
        <p:txBody>
          <a:bodyPr wrap="square">
            <a:spAutoFit/>
          </a:bodyPr>
          <a:lstStyle/>
          <a:p>
            <a:pPr algn="just"/>
            <a:r>
              <a:rPr lang="es-MX" sz="3100" dirty="0">
                <a:solidFill>
                  <a:srgbClr val="002060"/>
                </a:solidFill>
              </a:rPr>
              <a:t>Planeación de efectivo</a:t>
            </a:r>
            <a:endParaRPr lang="es-NI" sz="3100" dirty="0">
              <a:solidFill>
                <a:srgbClr val="002060"/>
              </a:solidFill>
            </a:endParaRPr>
          </a:p>
        </p:txBody>
      </p:sp>
      <p:sp>
        <p:nvSpPr>
          <p:cNvPr id="15" name="CuadroTexto 14">
            <a:extLst>
              <a:ext uri="{FF2B5EF4-FFF2-40B4-BE49-F238E27FC236}">
                <a16:creationId xmlns:a16="http://schemas.microsoft.com/office/drawing/2014/main" id="{948677C5-3D05-4FC5-9F59-0E09483FEF01}"/>
              </a:ext>
            </a:extLst>
          </p:cNvPr>
          <p:cNvSpPr txBox="1"/>
          <p:nvPr/>
        </p:nvSpPr>
        <p:spPr>
          <a:xfrm>
            <a:off x="5914372" y="1589128"/>
            <a:ext cx="5810633" cy="1046440"/>
          </a:xfrm>
          <a:prstGeom prst="rect">
            <a:avLst/>
          </a:prstGeom>
          <a:noFill/>
        </p:spPr>
        <p:txBody>
          <a:bodyPr wrap="square">
            <a:spAutoFit/>
          </a:bodyPr>
          <a:lstStyle/>
          <a:p>
            <a:pPr algn="just"/>
            <a:r>
              <a:rPr lang="es-MX" sz="3100" dirty="0">
                <a:solidFill>
                  <a:srgbClr val="002060"/>
                </a:solidFill>
              </a:rPr>
              <a:t>Se centra en el pronóstico de flujos de efectivo</a:t>
            </a:r>
            <a:endParaRPr lang="es-NI" sz="3100" dirty="0">
              <a:solidFill>
                <a:srgbClr val="002060"/>
              </a:solidFill>
            </a:endParaRPr>
          </a:p>
        </p:txBody>
      </p:sp>
      <p:sp>
        <p:nvSpPr>
          <p:cNvPr id="17" name="CuadroTexto 16">
            <a:extLst>
              <a:ext uri="{FF2B5EF4-FFF2-40B4-BE49-F238E27FC236}">
                <a16:creationId xmlns:a16="http://schemas.microsoft.com/office/drawing/2014/main" id="{6998D45C-6924-4936-BB89-D164B8699536}"/>
              </a:ext>
            </a:extLst>
          </p:cNvPr>
          <p:cNvSpPr txBox="1"/>
          <p:nvPr/>
        </p:nvSpPr>
        <p:spPr>
          <a:xfrm>
            <a:off x="5663368" y="3972440"/>
            <a:ext cx="6312642" cy="2000548"/>
          </a:xfrm>
          <a:prstGeom prst="rect">
            <a:avLst/>
          </a:prstGeom>
          <a:noFill/>
        </p:spPr>
        <p:txBody>
          <a:bodyPr wrap="square">
            <a:spAutoFit/>
          </a:bodyPr>
          <a:lstStyle/>
          <a:p>
            <a:pPr algn="just"/>
            <a:r>
              <a:rPr lang="es-MX" sz="3100" dirty="0">
                <a:solidFill>
                  <a:srgbClr val="002060"/>
                </a:solidFill>
              </a:rPr>
              <a:t>Se basa en los conceptos de acumulación para proyectar la utilidad y la posición financiera general de la empresa.</a:t>
            </a:r>
            <a:endParaRPr lang="es-NI" sz="3100" dirty="0">
              <a:solidFill>
                <a:srgbClr val="002060"/>
              </a:solidFill>
            </a:endParaRPr>
          </a:p>
        </p:txBody>
      </p:sp>
      <p:sp>
        <p:nvSpPr>
          <p:cNvPr id="19" name="CuadroTexto 18">
            <a:extLst>
              <a:ext uri="{FF2B5EF4-FFF2-40B4-BE49-F238E27FC236}">
                <a16:creationId xmlns:a16="http://schemas.microsoft.com/office/drawing/2014/main" id="{6F335430-08C7-4755-83D7-EB22B31B6CD4}"/>
              </a:ext>
            </a:extLst>
          </p:cNvPr>
          <p:cNvSpPr txBox="1"/>
          <p:nvPr/>
        </p:nvSpPr>
        <p:spPr>
          <a:xfrm>
            <a:off x="1715291" y="4164024"/>
            <a:ext cx="2425197" cy="1046440"/>
          </a:xfrm>
          <a:prstGeom prst="rect">
            <a:avLst/>
          </a:prstGeom>
          <a:noFill/>
        </p:spPr>
        <p:txBody>
          <a:bodyPr wrap="square">
            <a:spAutoFit/>
          </a:bodyPr>
          <a:lstStyle/>
          <a:p>
            <a:pPr algn="just"/>
            <a:r>
              <a:rPr lang="es-MX" sz="3100" dirty="0">
                <a:solidFill>
                  <a:srgbClr val="002060"/>
                </a:solidFill>
              </a:rPr>
              <a:t>Planeación de las utilidades</a:t>
            </a:r>
            <a:endParaRPr lang="es-NI" sz="3100" dirty="0">
              <a:solidFill>
                <a:srgbClr val="002060"/>
              </a:solidFill>
            </a:endParaRPr>
          </a:p>
        </p:txBody>
      </p:sp>
      <p:sp>
        <p:nvSpPr>
          <p:cNvPr id="21" name="Flecha: a la derecha 20">
            <a:extLst>
              <a:ext uri="{FF2B5EF4-FFF2-40B4-BE49-F238E27FC236}">
                <a16:creationId xmlns:a16="http://schemas.microsoft.com/office/drawing/2014/main" id="{014C0C58-1DB6-48EB-B362-A7575F6452A6}"/>
              </a:ext>
            </a:extLst>
          </p:cNvPr>
          <p:cNvSpPr/>
          <p:nvPr/>
        </p:nvSpPr>
        <p:spPr>
          <a:xfrm>
            <a:off x="4603195" y="1844071"/>
            <a:ext cx="1060173" cy="536554"/>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
        <p:nvSpPr>
          <p:cNvPr id="23" name="Flecha: a la derecha 22">
            <a:extLst>
              <a:ext uri="{FF2B5EF4-FFF2-40B4-BE49-F238E27FC236}">
                <a16:creationId xmlns:a16="http://schemas.microsoft.com/office/drawing/2014/main" id="{806FA720-A436-4442-8A48-8C6B247805E9}"/>
              </a:ext>
            </a:extLst>
          </p:cNvPr>
          <p:cNvSpPr/>
          <p:nvPr/>
        </p:nvSpPr>
        <p:spPr>
          <a:xfrm>
            <a:off x="4426225" y="4443423"/>
            <a:ext cx="1060173" cy="536554"/>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dirty="0"/>
          </a:p>
        </p:txBody>
      </p:sp>
    </p:spTree>
    <p:extLst>
      <p:ext uri="{BB962C8B-B14F-4D97-AF65-F5344CB8AC3E}">
        <p14:creationId xmlns:p14="http://schemas.microsoft.com/office/powerpoint/2010/main" val="3096646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8" name="1 Título">
            <a:extLst>
              <a:ext uri="{FF2B5EF4-FFF2-40B4-BE49-F238E27FC236}">
                <a16:creationId xmlns:a16="http://schemas.microsoft.com/office/drawing/2014/main" id="{29AED7C1-02E8-4341-ADE7-8ECA71847051}"/>
              </a:ext>
            </a:extLst>
          </p:cNvPr>
          <p:cNvSpPr>
            <a:spLocks noGrp="1"/>
          </p:cNvSpPr>
          <p:nvPr>
            <p:ph type="title"/>
          </p:nvPr>
        </p:nvSpPr>
        <p:spPr>
          <a:xfrm>
            <a:off x="2425027" y="14978"/>
            <a:ext cx="7908500" cy="848139"/>
          </a:xfrm>
        </p:spPr>
        <p:txBody>
          <a:bodyPr/>
          <a:lstStyle/>
          <a:p>
            <a:r>
              <a:rPr lang="es-NI" b="1" dirty="0">
                <a:solidFill>
                  <a:schemeClr val="bg1"/>
                </a:solidFill>
              </a:rPr>
              <a:t>PLANEACIÓN DE LAS UTILIDADES</a:t>
            </a:r>
          </a:p>
        </p:txBody>
      </p:sp>
      <p:sp>
        <p:nvSpPr>
          <p:cNvPr id="4" name="26 Rectángulo">
            <a:extLst>
              <a:ext uri="{FF2B5EF4-FFF2-40B4-BE49-F238E27FC236}">
                <a16:creationId xmlns:a16="http://schemas.microsoft.com/office/drawing/2014/main" id="{736A823C-7AC4-43C4-B8C9-EA368E34542C}"/>
              </a:ext>
            </a:extLst>
          </p:cNvPr>
          <p:cNvSpPr/>
          <p:nvPr/>
        </p:nvSpPr>
        <p:spPr>
          <a:xfrm>
            <a:off x="2425027" y="5037049"/>
            <a:ext cx="3459504" cy="1477328"/>
          </a:xfrm>
          <a:prstGeom prst="rect">
            <a:avLst/>
          </a:prstGeom>
        </p:spPr>
        <p:txBody>
          <a:bodyPr wrap="square">
            <a:spAutoFit/>
          </a:bodyPr>
          <a:lstStyle/>
          <a:p>
            <a:pPr algn="ctr"/>
            <a:r>
              <a:rPr lang="es-ES" b="1" dirty="0">
                <a:solidFill>
                  <a:schemeClr val="tx2"/>
                </a:solidFill>
              </a:rPr>
              <a:t>Estados  proformas: Son estados financieros (de resultados y balance general) proyectados o pronosticados</a:t>
            </a:r>
          </a:p>
          <a:p>
            <a:endParaRPr lang="es-ES" dirty="0"/>
          </a:p>
        </p:txBody>
      </p:sp>
      <p:sp>
        <p:nvSpPr>
          <p:cNvPr id="5" name="11 Rectángulo">
            <a:extLst>
              <a:ext uri="{FF2B5EF4-FFF2-40B4-BE49-F238E27FC236}">
                <a16:creationId xmlns:a16="http://schemas.microsoft.com/office/drawing/2014/main" id="{321D9DFB-D425-4838-813C-46E2C9610C31}"/>
              </a:ext>
            </a:extLst>
          </p:cNvPr>
          <p:cNvSpPr/>
          <p:nvPr/>
        </p:nvSpPr>
        <p:spPr>
          <a:xfrm>
            <a:off x="2844149" y="2505670"/>
            <a:ext cx="3107570" cy="923330"/>
          </a:xfrm>
          <a:prstGeom prst="rect">
            <a:avLst/>
          </a:prstGeom>
        </p:spPr>
        <p:txBody>
          <a:bodyPr wrap="square">
            <a:spAutoFit/>
          </a:bodyPr>
          <a:lstStyle/>
          <a:p>
            <a:pPr algn="ctr"/>
            <a:r>
              <a:rPr lang="es-ES" b="1" dirty="0">
                <a:solidFill>
                  <a:schemeClr val="tx2"/>
                </a:solidFill>
              </a:rPr>
              <a:t>Pronósticos de los  requerimientos financieros)</a:t>
            </a:r>
          </a:p>
          <a:p>
            <a:endParaRPr lang="es-ES" dirty="0"/>
          </a:p>
        </p:txBody>
      </p:sp>
      <p:sp>
        <p:nvSpPr>
          <p:cNvPr id="7" name="15 Rectángulo">
            <a:extLst>
              <a:ext uri="{FF2B5EF4-FFF2-40B4-BE49-F238E27FC236}">
                <a16:creationId xmlns:a16="http://schemas.microsoft.com/office/drawing/2014/main" id="{1208485B-0715-4A39-8974-D57D51C28110}"/>
              </a:ext>
            </a:extLst>
          </p:cNvPr>
          <p:cNvSpPr/>
          <p:nvPr/>
        </p:nvSpPr>
        <p:spPr>
          <a:xfrm>
            <a:off x="6516694" y="1390164"/>
            <a:ext cx="4722231" cy="707886"/>
          </a:xfrm>
          <a:prstGeom prst="rect">
            <a:avLst/>
          </a:prstGeom>
        </p:spPr>
        <p:txBody>
          <a:bodyPr wrap="square">
            <a:spAutoFit/>
          </a:bodyPr>
          <a:lstStyle/>
          <a:p>
            <a:pPr algn="just"/>
            <a:r>
              <a:rPr lang="es-ES" sz="2000" dirty="0">
                <a:solidFill>
                  <a:srgbClr val="002060"/>
                </a:solidFill>
              </a:rPr>
              <a:t>Determinar la cantidad de dinero que necesitará la empresa  durante un período </a:t>
            </a:r>
          </a:p>
        </p:txBody>
      </p:sp>
      <p:sp>
        <p:nvSpPr>
          <p:cNvPr id="12" name="16 Rectángulo">
            <a:extLst>
              <a:ext uri="{FF2B5EF4-FFF2-40B4-BE49-F238E27FC236}">
                <a16:creationId xmlns:a16="http://schemas.microsoft.com/office/drawing/2014/main" id="{126FDF48-92D7-46AD-B604-26E7774E83D2}"/>
              </a:ext>
            </a:extLst>
          </p:cNvPr>
          <p:cNvSpPr/>
          <p:nvPr/>
        </p:nvSpPr>
        <p:spPr>
          <a:xfrm>
            <a:off x="6582893" y="2436528"/>
            <a:ext cx="4688140" cy="1015663"/>
          </a:xfrm>
          <a:prstGeom prst="rect">
            <a:avLst/>
          </a:prstGeom>
        </p:spPr>
        <p:txBody>
          <a:bodyPr wrap="square">
            <a:spAutoFit/>
          </a:bodyPr>
          <a:lstStyle/>
          <a:p>
            <a:r>
              <a:rPr lang="es-ES" sz="2000" dirty="0">
                <a:solidFill>
                  <a:srgbClr val="002060"/>
                </a:solidFill>
              </a:rPr>
              <a:t>Determinar la cantidad de dinero que la empresa generará internamente durante el mismo período</a:t>
            </a:r>
          </a:p>
        </p:txBody>
      </p:sp>
      <p:sp>
        <p:nvSpPr>
          <p:cNvPr id="14" name="17 Rectángulo">
            <a:extLst>
              <a:ext uri="{FF2B5EF4-FFF2-40B4-BE49-F238E27FC236}">
                <a16:creationId xmlns:a16="http://schemas.microsoft.com/office/drawing/2014/main" id="{A0E7FDDB-610A-41CC-BDF1-0E8CAF38C438}"/>
              </a:ext>
            </a:extLst>
          </p:cNvPr>
          <p:cNvSpPr/>
          <p:nvPr/>
        </p:nvSpPr>
        <p:spPr>
          <a:xfrm>
            <a:off x="6440513" y="3720546"/>
            <a:ext cx="4916599" cy="1015663"/>
          </a:xfrm>
          <a:prstGeom prst="rect">
            <a:avLst/>
          </a:prstGeom>
        </p:spPr>
        <p:txBody>
          <a:bodyPr wrap="square">
            <a:spAutoFit/>
          </a:bodyPr>
          <a:lstStyle/>
          <a:p>
            <a:pPr algn="just"/>
            <a:r>
              <a:rPr lang="es-ES" sz="2000" dirty="0">
                <a:solidFill>
                  <a:srgbClr val="002060"/>
                </a:solidFill>
              </a:rPr>
              <a:t>Sustraer de los fondos requeridos  los fondos generados  para determinar  los requerimientos financieros externos</a:t>
            </a:r>
          </a:p>
        </p:txBody>
      </p:sp>
      <p:sp>
        <p:nvSpPr>
          <p:cNvPr id="16" name="1 Abrir llave">
            <a:extLst>
              <a:ext uri="{FF2B5EF4-FFF2-40B4-BE49-F238E27FC236}">
                <a16:creationId xmlns:a16="http://schemas.microsoft.com/office/drawing/2014/main" id="{07B222DE-B90A-451F-AB67-79A49E4040C6}"/>
              </a:ext>
            </a:extLst>
          </p:cNvPr>
          <p:cNvSpPr/>
          <p:nvPr/>
        </p:nvSpPr>
        <p:spPr>
          <a:xfrm>
            <a:off x="5951719" y="1275428"/>
            <a:ext cx="288562" cy="367240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18" name="6 Flecha abajo">
            <a:extLst>
              <a:ext uri="{FF2B5EF4-FFF2-40B4-BE49-F238E27FC236}">
                <a16:creationId xmlns:a16="http://schemas.microsoft.com/office/drawing/2014/main" id="{38F9CBAC-51E1-47DE-8837-39DD85370E0B}"/>
              </a:ext>
            </a:extLst>
          </p:cNvPr>
          <p:cNvSpPr/>
          <p:nvPr/>
        </p:nvSpPr>
        <p:spPr>
          <a:xfrm>
            <a:off x="4230050" y="3822172"/>
            <a:ext cx="360040" cy="821705"/>
          </a:xfrm>
          <a:prstGeom prst="downArrow">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0" name="Picture 2" descr="D:\Tutorías\Image226.gif">
            <a:extLst>
              <a:ext uri="{FF2B5EF4-FFF2-40B4-BE49-F238E27FC236}">
                <a16:creationId xmlns:a16="http://schemas.microsoft.com/office/drawing/2014/main" id="{90FD5B74-E3B9-4C67-9BAA-ACC0538A4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1367741">
            <a:off x="1432184" y="2199405"/>
            <a:ext cx="1668005" cy="2805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739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4" name="15 Rectángulo">
            <a:extLst>
              <a:ext uri="{FF2B5EF4-FFF2-40B4-BE49-F238E27FC236}">
                <a16:creationId xmlns:a16="http://schemas.microsoft.com/office/drawing/2014/main" id="{670E0989-371F-4797-8AD8-63BFEC288A52}"/>
              </a:ext>
            </a:extLst>
          </p:cNvPr>
          <p:cNvSpPr/>
          <p:nvPr/>
        </p:nvSpPr>
        <p:spPr>
          <a:xfrm>
            <a:off x="2256891" y="1463539"/>
            <a:ext cx="8821926" cy="3539430"/>
          </a:xfrm>
          <a:prstGeom prst="rect">
            <a:avLst/>
          </a:prstGeom>
        </p:spPr>
        <p:txBody>
          <a:bodyPr wrap="square">
            <a:spAutoFit/>
          </a:bodyPr>
          <a:lstStyle/>
          <a:p>
            <a:r>
              <a:rPr lang="es-ES" sz="3200" dirty="0"/>
              <a:t>ER proforma : Los estados de ingresos pro-forma de la empresa muestran los ingresos y costos esperados para el año siguiente.</a:t>
            </a:r>
          </a:p>
          <a:p>
            <a:endParaRPr lang="es-ES" sz="3200" dirty="0"/>
          </a:p>
          <a:p>
            <a:r>
              <a:rPr lang="es-ES" sz="3200" dirty="0"/>
              <a:t>Balance </a:t>
            </a:r>
            <a:r>
              <a:rPr lang="es-ES" sz="3200" dirty="0" err="1"/>
              <a:t>pro-forma</a:t>
            </a:r>
            <a:r>
              <a:rPr lang="es-ES" sz="3200" dirty="0"/>
              <a:t> muestra la posición financiera esperada, es decir, activos, pasivos y capital contable al finalizar el periodo pronosticado</a:t>
            </a:r>
          </a:p>
        </p:txBody>
      </p:sp>
      <p:sp>
        <p:nvSpPr>
          <p:cNvPr id="5" name="17 Rectángulo">
            <a:extLst>
              <a:ext uri="{FF2B5EF4-FFF2-40B4-BE49-F238E27FC236}">
                <a16:creationId xmlns:a16="http://schemas.microsoft.com/office/drawing/2014/main" id="{064471D8-2B4F-41C5-85E0-842FCCA43ADC}"/>
              </a:ext>
            </a:extLst>
          </p:cNvPr>
          <p:cNvSpPr/>
          <p:nvPr/>
        </p:nvSpPr>
        <p:spPr>
          <a:xfrm>
            <a:off x="2552596" y="3479476"/>
            <a:ext cx="7115305" cy="369332"/>
          </a:xfrm>
          <a:prstGeom prst="rect">
            <a:avLst/>
          </a:prstGeom>
        </p:spPr>
        <p:txBody>
          <a:bodyPr wrap="square">
            <a:spAutoFit/>
          </a:bodyPr>
          <a:lstStyle/>
          <a:p>
            <a:r>
              <a:rPr lang="es-ES" b="1" dirty="0"/>
              <a:t>.</a:t>
            </a:r>
          </a:p>
        </p:txBody>
      </p:sp>
    </p:spTree>
    <p:extLst>
      <p:ext uri="{BB962C8B-B14F-4D97-AF65-F5344CB8AC3E}">
        <p14:creationId xmlns:p14="http://schemas.microsoft.com/office/powerpoint/2010/main" val="3860631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7" name="1 Título">
            <a:extLst>
              <a:ext uri="{FF2B5EF4-FFF2-40B4-BE49-F238E27FC236}">
                <a16:creationId xmlns:a16="http://schemas.microsoft.com/office/drawing/2014/main" id="{2010AF77-6EA4-43FA-AEC7-AE2A58913C60}"/>
              </a:ext>
            </a:extLst>
          </p:cNvPr>
          <p:cNvSpPr txBox="1">
            <a:spLocks/>
          </p:cNvSpPr>
          <p:nvPr/>
        </p:nvSpPr>
        <p:spPr>
          <a:xfrm>
            <a:off x="1885633" y="1195526"/>
            <a:ext cx="9425464" cy="1452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s-NI" sz="3200" b="1" dirty="0"/>
              <a:t>ESTADOS FINANCIEROS PROFORMA (PROYECTADOS)</a:t>
            </a:r>
          </a:p>
        </p:txBody>
      </p:sp>
      <p:sp>
        <p:nvSpPr>
          <p:cNvPr id="10" name="2 CuadroTexto">
            <a:extLst>
              <a:ext uri="{FF2B5EF4-FFF2-40B4-BE49-F238E27FC236}">
                <a16:creationId xmlns:a16="http://schemas.microsoft.com/office/drawing/2014/main" id="{B693E7D9-4BAC-4A07-A013-28D4F3756494}"/>
              </a:ext>
            </a:extLst>
          </p:cNvPr>
          <p:cNvSpPr txBox="1"/>
          <p:nvPr/>
        </p:nvSpPr>
        <p:spPr>
          <a:xfrm>
            <a:off x="2756596" y="2648089"/>
            <a:ext cx="6864481" cy="1384995"/>
          </a:xfrm>
          <a:prstGeom prst="rect">
            <a:avLst/>
          </a:prstGeom>
          <a:solidFill>
            <a:schemeClr val="accent1">
              <a:lumMod val="75000"/>
            </a:schemeClr>
          </a:solidFill>
        </p:spPr>
        <p:style>
          <a:lnRef idx="3">
            <a:schemeClr val="lt1"/>
          </a:lnRef>
          <a:fillRef idx="1">
            <a:schemeClr val="accent2"/>
          </a:fillRef>
          <a:effectRef idx="1">
            <a:schemeClr val="accent2"/>
          </a:effectRef>
          <a:fontRef idx="minor">
            <a:schemeClr val="lt1"/>
          </a:fontRef>
        </p:style>
        <p:txBody>
          <a:bodyPr wrap="square">
            <a:spAutoFit/>
          </a:bodyPr>
          <a:lstStyle/>
          <a:p>
            <a:pPr>
              <a:defRPr/>
            </a:pPr>
            <a:r>
              <a:rPr lang="es-ES_tradnl" sz="2800" dirty="0"/>
              <a:t>Existen 2 métodos:</a:t>
            </a:r>
          </a:p>
          <a:p>
            <a:pPr marL="342900" indent="-342900">
              <a:buFont typeface="+mj-lt"/>
              <a:buAutoNum type="arabicPeriod"/>
              <a:defRPr/>
            </a:pPr>
            <a:r>
              <a:rPr lang="es-ES_tradnl" sz="2800" dirty="0"/>
              <a:t>Método de Porcentaje de Ventas</a:t>
            </a:r>
          </a:p>
          <a:p>
            <a:pPr marL="342900" indent="-342900">
              <a:buFont typeface="+mj-lt"/>
              <a:buAutoNum type="arabicPeriod"/>
              <a:defRPr/>
            </a:pPr>
            <a:r>
              <a:rPr lang="es-ES_tradnl" sz="2800" dirty="0"/>
              <a:t>Método Crítico (Premisas)</a:t>
            </a:r>
          </a:p>
        </p:txBody>
      </p:sp>
    </p:spTree>
    <p:extLst>
      <p:ext uri="{BB962C8B-B14F-4D97-AF65-F5344CB8AC3E}">
        <p14:creationId xmlns:p14="http://schemas.microsoft.com/office/powerpoint/2010/main" val="509782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10" name="1 Título">
            <a:extLst>
              <a:ext uri="{FF2B5EF4-FFF2-40B4-BE49-F238E27FC236}">
                <a16:creationId xmlns:a16="http://schemas.microsoft.com/office/drawing/2014/main" id="{8D97FC9B-83A6-4480-9A8D-1A06A5BF8078}"/>
              </a:ext>
            </a:extLst>
          </p:cNvPr>
          <p:cNvSpPr txBox="1">
            <a:spLocks/>
          </p:cNvSpPr>
          <p:nvPr/>
        </p:nvSpPr>
        <p:spPr>
          <a:xfrm>
            <a:off x="2185958" y="735743"/>
            <a:ext cx="8229600" cy="1452563"/>
          </a:xfrm>
          <a:prstGeom prst="rect">
            <a:avLst/>
          </a:prstGeom>
        </p:spPr>
        <p:txBody>
          <a:bodyPr vert="horz"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NI" sz="3200" b="0" i="0" u="none" strike="noStrike" kern="1200" cap="none" spc="0" normalizeH="0" baseline="0" noProof="0" dirty="0">
                <a:ln>
                  <a:noFill/>
                </a:ln>
                <a:solidFill>
                  <a:schemeClr val="tx2"/>
                </a:solidFill>
                <a:effectLst/>
                <a:uLnTx/>
                <a:uFillTx/>
                <a:latin typeface="+mj-lt"/>
                <a:ea typeface="+mj-ea"/>
                <a:cs typeface="+mj-cs"/>
              </a:rPr>
              <a:t>ESTADOS FINANCIEROS PROFORMA</a:t>
            </a:r>
            <a:br>
              <a:rPr kumimoji="0" lang="es-NI" sz="3200" b="0" i="0" u="none" strike="noStrike" kern="1200" cap="none" spc="0" normalizeH="0" baseline="0" noProof="0" dirty="0">
                <a:ln>
                  <a:noFill/>
                </a:ln>
                <a:solidFill>
                  <a:schemeClr val="tx2"/>
                </a:solidFill>
                <a:effectLst/>
                <a:uLnTx/>
                <a:uFillTx/>
                <a:latin typeface="+mj-lt"/>
                <a:ea typeface="+mj-ea"/>
                <a:cs typeface="+mj-cs"/>
              </a:rPr>
            </a:br>
            <a:r>
              <a:rPr kumimoji="0" lang="es-NI" sz="2800" b="0" i="0" u="none" strike="noStrike" kern="1200" cap="none" spc="0" normalizeH="0" baseline="0" noProof="0" dirty="0">
                <a:ln>
                  <a:noFill/>
                </a:ln>
                <a:solidFill>
                  <a:srgbClr val="FF0000"/>
                </a:solidFill>
                <a:effectLst/>
                <a:uLnTx/>
                <a:uFillTx/>
                <a:latin typeface="+mj-lt"/>
                <a:ea typeface="+mj-ea"/>
                <a:cs typeface="+mj-cs"/>
              </a:rPr>
              <a:t>MÉTODO DEL PORCENTAJE DE VENTAS</a:t>
            </a:r>
            <a:endParaRPr kumimoji="0" lang="es-NI" sz="3200" b="0" i="0" u="none" strike="noStrike" kern="1200" cap="none" spc="0" normalizeH="0" baseline="0" noProof="0" dirty="0">
              <a:ln>
                <a:noFill/>
              </a:ln>
              <a:solidFill>
                <a:srgbClr val="FF0000"/>
              </a:solidFill>
              <a:effectLst/>
              <a:uLnTx/>
              <a:uFillTx/>
              <a:latin typeface="+mj-lt"/>
              <a:ea typeface="+mj-ea"/>
              <a:cs typeface="+mj-cs"/>
            </a:endParaRPr>
          </a:p>
        </p:txBody>
      </p:sp>
      <p:sp>
        <p:nvSpPr>
          <p:cNvPr id="9" name="CuadroTexto 8">
            <a:extLst>
              <a:ext uri="{FF2B5EF4-FFF2-40B4-BE49-F238E27FC236}">
                <a16:creationId xmlns:a16="http://schemas.microsoft.com/office/drawing/2014/main" id="{EA158472-903B-46B8-A17A-5F8EE03708D8}"/>
              </a:ext>
            </a:extLst>
          </p:cNvPr>
          <p:cNvSpPr txBox="1"/>
          <p:nvPr/>
        </p:nvSpPr>
        <p:spPr>
          <a:xfrm>
            <a:off x="2371488" y="2272914"/>
            <a:ext cx="7858539" cy="2554545"/>
          </a:xfrm>
          <a:prstGeom prst="rect">
            <a:avLst/>
          </a:prstGeom>
          <a:noFill/>
        </p:spPr>
        <p:txBody>
          <a:bodyPr wrap="square">
            <a:spAutoFit/>
          </a:bodyPr>
          <a:lstStyle/>
          <a:p>
            <a:pPr algn="just"/>
            <a:r>
              <a:rPr lang="es-NI" sz="3200" b="0" i="0" u="none" strike="noStrike" baseline="0" dirty="0">
                <a:latin typeface="Calibri" panose="020F0502020204030204" pitchFamily="34" charset="0"/>
                <a:cs typeface="Calibri" panose="020F0502020204030204" pitchFamily="34" charset="0"/>
              </a:rPr>
              <a:t>Método sencillo para desarrollar el estado de resultados pro forma; </a:t>
            </a:r>
            <a:r>
              <a:rPr lang="es-MX" sz="3200" b="0" i="0" u="none" strike="noStrike" baseline="0" dirty="0">
                <a:latin typeface="Calibri" panose="020F0502020204030204" pitchFamily="34" charset="0"/>
                <a:cs typeface="Calibri" panose="020F0502020204030204" pitchFamily="34" charset="0"/>
              </a:rPr>
              <a:t>pronostica las ventas y después expresa los diversos rubros del </a:t>
            </a:r>
            <a:r>
              <a:rPr lang="es-NI" sz="3200" b="0" i="0" u="none" strike="noStrike" baseline="0" dirty="0">
                <a:latin typeface="Calibri" panose="020F0502020204030204" pitchFamily="34" charset="0"/>
                <a:cs typeface="Calibri" panose="020F0502020204030204" pitchFamily="34" charset="0"/>
              </a:rPr>
              <a:t>estado de resultados como porcentajes de las ventas proyectadas.</a:t>
            </a:r>
            <a:endParaRPr lang="es-NI"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9803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10" name="1 Título">
            <a:extLst>
              <a:ext uri="{FF2B5EF4-FFF2-40B4-BE49-F238E27FC236}">
                <a16:creationId xmlns:a16="http://schemas.microsoft.com/office/drawing/2014/main" id="{8D97FC9B-83A6-4480-9A8D-1A06A5BF8078}"/>
              </a:ext>
            </a:extLst>
          </p:cNvPr>
          <p:cNvSpPr txBox="1">
            <a:spLocks/>
          </p:cNvSpPr>
          <p:nvPr/>
        </p:nvSpPr>
        <p:spPr>
          <a:xfrm>
            <a:off x="2108840" y="368921"/>
            <a:ext cx="8229600" cy="1452563"/>
          </a:xfrm>
          <a:prstGeom prst="rect">
            <a:avLst/>
          </a:prstGeom>
        </p:spPr>
        <p:txBody>
          <a:bodyPr vert="horz" anchor="ctr">
            <a:normAutofit fontScale="975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s-NI" sz="3200" b="0" i="0" u="none" strike="noStrike" kern="1200" cap="none" spc="0" normalizeH="0" baseline="0" noProof="0" dirty="0">
                <a:ln>
                  <a:noFill/>
                </a:ln>
                <a:solidFill>
                  <a:schemeClr val="tx2"/>
                </a:solidFill>
                <a:effectLst/>
                <a:uLnTx/>
                <a:uFillTx/>
                <a:latin typeface="+mj-lt"/>
                <a:ea typeface="+mj-ea"/>
                <a:cs typeface="+mj-cs"/>
              </a:rPr>
              <a:t>ESTADOS FINANCIEROS PROFORMA</a:t>
            </a:r>
            <a:br>
              <a:rPr kumimoji="0" lang="es-NI" sz="3200" b="0" i="0" u="none" strike="noStrike" kern="1200" cap="none" spc="0" normalizeH="0" baseline="0" noProof="0" dirty="0">
                <a:ln>
                  <a:noFill/>
                </a:ln>
                <a:solidFill>
                  <a:schemeClr val="tx2"/>
                </a:solidFill>
                <a:effectLst/>
                <a:uLnTx/>
                <a:uFillTx/>
                <a:latin typeface="+mj-lt"/>
                <a:ea typeface="+mj-ea"/>
                <a:cs typeface="+mj-cs"/>
              </a:rPr>
            </a:br>
            <a:r>
              <a:rPr kumimoji="0" lang="es-NI" sz="2800" b="0" i="0" u="none" strike="noStrike" kern="1200" cap="none" spc="0" normalizeH="0" baseline="0" noProof="0" dirty="0">
                <a:ln>
                  <a:noFill/>
                </a:ln>
                <a:solidFill>
                  <a:srgbClr val="FF0000"/>
                </a:solidFill>
                <a:effectLst/>
                <a:uLnTx/>
                <a:uFillTx/>
                <a:latin typeface="+mj-lt"/>
                <a:ea typeface="+mj-ea"/>
                <a:cs typeface="+mj-cs"/>
              </a:rPr>
              <a:t>MÉTODO DEL PORCENTAJE DE VENTAS</a:t>
            </a:r>
            <a:endParaRPr kumimoji="0" lang="es-NI" sz="3200" b="0" i="0" u="none" strike="noStrike" kern="1200" cap="none" spc="0" normalizeH="0" baseline="0" noProof="0" dirty="0">
              <a:ln>
                <a:noFill/>
              </a:ln>
              <a:solidFill>
                <a:srgbClr val="FF0000"/>
              </a:solidFill>
              <a:effectLst/>
              <a:uLnTx/>
              <a:uFillTx/>
              <a:latin typeface="+mj-lt"/>
              <a:ea typeface="+mj-ea"/>
              <a:cs typeface="+mj-cs"/>
            </a:endParaRPr>
          </a:p>
        </p:txBody>
      </p:sp>
      <p:sp>
        <p:nvSpPr>
          <p:cNvPr id="9" name="CuadroTexto 8">
            <a:extLst>
              <a:ext uri="{FF2B5EF4-FFF2-40B4-BE49-F238E27FC236}">
                <a16:creationId xmlns:a16="http://schemas.microsoft.com/office/drawing/2014/main" id="{EA158472-903B-46B8-A17A-5F8EE03708D8}"/>
              </a:ext>
            </a:extLst>
          </p:cNvPr>
          <p:cNvSpPr txBox="1"/>
          <p:nvPr/>
        </p:nvSpPr>
        <p:spPr>
          <a:xfrm>
            <a:off x="1633358" y="1644953"/>
            <a:ext cx="9820512" cy="4524315"/>
          </a:xfrm>
          <a:prstGeom prst="rect">
            <a:avLst/>
          </a:prstGeom>
          <a:noFill/>
        </p:spPr>
        <p:txBody>
          <a:bodyPr wrap="square">
            <a:spAutoFit/>
          </a:bodyPr>
          <a:lstStyle/>
          <a:p>
            <a:pPr algn="just"/>
            <a:r>
              <a:rPr lang="es-ES" sz="3200" dirty="0"/>
              <a:t>La tabla 4.12 presenta el estado de resultados de las operaciones de la empresa en 2012 para la empresa </a:t>
            </a:r>
            <a:r>
              <a:rPr lang="es-ES" sz="3200" dirty="0" err="1"/>
              <a:t>Vectra</a:t>
            </a:r>
            <a:r>
              <a:rPr lang="es-ES" sz="3200" dirty="0"/>
              <a:t>. La cual tuvo ventas de $100,000, un costo total de los bienes vendidos de $80,000, una utilidad neta antes de impuestos de $9,000, y una utilidad neta después de impuestos de $7,650. La empresa pagó $4,000 de dividendos en efectivo, de manera que quedaron $3,650 para transferir a las ganancias retenidas. La tabla 4.13 muestra el balance general de 2012 de la empresa</a:t>
            </a:r>
            <a:endParaRPr lang="es-NI"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7331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graphicFrame>
        <p:nvGraphicFramePr>
          <p:cNvPr id="2" name="Tabla 1">
            <a:extLst>
              <a:ext uri="{FF2B5EF4-FFF2-40B4-BE49-F238E27FC236}">
                <a16:creationId xmlns:a16="http://schemas.microsoft.com/office/drawing/2014/main" id="{CF1CCAB8-68C1-4CBA-A17D-B33FA72F42C7}"/>
              </a:ext>
            </a:extLst>
          </p:cNvPr>
          <p:cNvGraphicFramePr>
            <a:graphicFrameLocks noGrp="1"/>
          </p:cNvGraphicFramePr>
          <p:nvPr>
            <p:extLst>
              <p:ext uri="{D42A27DB-BD31-4B8C-83A1-F6EECF244321}">
                <p14:modId xmlns:p14="http://schemas.microsoft.com/office/powerpoint/2010/main" val="2715883445"/>
              </p:ext>
            </p:extLst>
          </p:nvPr>
        </p:nvGraphicFramePr>
        <p:xfrm>
          <a:off x="3168418" y="735743"/>
          <a:ext cx="6108103" cy="5877098"/>
        </p:xfrm>
        <a:graphic>
          <a:graphicData uri="http://schemas.openxmlformats.org/drawingml/2006/table">
            <a:tbl>
              <a:tblPr>
                <a:tableStyleId>{5C22544A-7EE6-4342-B048-85BDC9FD1C3A}</a:tableStyleId>
              </a:tblPr>
              <a:tblGrid>
                <a:gridCol w="3809693">
                  <a:extLst>
                    <a:ext uri="{9D8B030D-6E8A-4147-A177-3AD203B41FA5}">
                      <a16:colId xmlns:a16="http://schemas.microsoft.com/office/drawing/2014/main" val="20000"/>
                    </a:ext>
                  </a:extLst>
                </a:gridCol>
                <a:gridCol w="2298410">
                  <a:extLst>
                    <a:ext uri="{9D8B030D-6E8A-4147-A177-3AD203B41FA5}">
                      <a16:colId xmlns:a16="http://schemas.microsoft.com/office/drawing/2014/main" val="20001"/>
                    </a:ext>
                  </a:extLst>
                </a:gridCol>
              </a:tblGrid>
              <a:tr h="337025">
                <a:tc gridSpan="2">
                  <a:txBody>
                    <a:bodyPr/>
                    <a:lstStyle/>
                    <a:p>
                      <a:pPr algn="ctr" fontAlgn="b"/>
                      <a:r>
                        <a:rPr lang="es-NI" sz="1600" b="1" u="none" strike="noStrike" dirty="0" err="1">
                          <a:effectLst/>
                        </a:rPr>
                        <a:t>Vectra</a:t>
                      </a:r>
                      <a:r>
                        <a:rPr lang="es-NI" sz="1600" b="1" u="none" strike="noStrike" dirty="0">
                          <a:effectLst/>
                        </a:rPr>
                        <a:t> </a:t>
                      </a:r>
                      <a:r>
                        <a:rPr lang="es-NI" sz="1600" b="1" u="none" strike="noStrike" dirty="0" err="1">
                          <a:effectLst/>
                        </a:rPr>
                        <a:t>Manufacturing</a:t>
                      </a:r>
                      <a:r>
                        <a:rPr lang="es-NI" sz="1600" b="1" u="none" strike="noStrike" dirty="0">
                          <a:effectLst/>
                        </a:rPr>
                        <a:t> </a:t>
                      </a:r>
                      <a:endParaRPr lang="es-NI" sz="16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10000"/>
                  </a:ext>
                </a:extLst>
              </a:tr>
              <a:tr h="263813">
                <a:tc gridSpan="2">
                  <a:txBody>
                    <a:bodyPr/>
                    <a:lstStyle/>
                    <a:p>
                      <a:pPr algn="ctr" fontAlgn="b"/>
                      <a:r>
                        <a:rPr lang="es-NI" sz="1600" b="1" u="none" strike="noStrike" dirty="0">
                          <a:effectLst/>
                        </a:rPr>
                        <a:t>Estado de Resultado al 31 de diciembre 2012</a:t>
                      </a:r>
                      <a:endParaRPr lang="es-NI" sz="16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10001"/>
                  </a:ext>
                </a:extLst>
              </a:tr>
              <a:tr h="263813">
                <a:tc>
                  <a:txBody>
                    <a:bodyPr/>
                    <a:lstStyle/>
                    <a:p>
                      <a:pPr algn="l" fontAlgn="b"/>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263813">
                <a:tc>
                  <a:txBody>
                    <a:bodyPr/>
                    <a:lstStyle/>
                    <a:p>
                      <a:pPr algn="l" fontAlgn="b"/>
                      <a:r>
                        <a:rPr lang="es-NI" sz="1600" u="none" strike="noStrike" dirty="0">
                          <a:effectLst/>
                        </a:rPr>
                        <a:t>Ingreso por ventas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263813">
                <a:tc>
                  <a:txBody>
                    <a:bodyPr/>
                    <a:lstStyle/>
                    <a:p>
                      <a:pPr algn="l" fontAlgn="b"/>
                      <a:r>
                        <a:rPr lang="es-NI" sz="1600" u="none" strike="noStrike" dirty="0">
                          <a:effectLst/>
                        </a:rPr>
                        <a:t>Modelo X  (1,000 unid a $20/unid)</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$ 20,000.00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263813">
                <a:tc>
                  <a:txBody>
                    <a:bodyPr/>
                    <a:lstStyle/>
                    <a:p>
                      <a:pPr algn="l" fontAlgn="b"/>
                      <a:r>
                        <a:rPr lang="es-NI" sz="1600" u="none" strike="noStrike">
                          <a:effectLst/>
                        </a:rPr>
                        <a:t>Modelo Y (2,000 unid a $40/unid)</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$ 80,000.00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263813">
                <a:tc>
                  <a:txBody>
                    <a:bodyPr/>
                    <a:lstStyle/>
                    <a:p>
                      <a:pPr algn="l" fontAlgn="b"/>
                      <a:r>
                        <a:rPr lang="es-NI" sz="1600" b="1" u="none" strike="noStrike" dirty="0">
                          <a:effectLst/>
                        </a:rPr>
                        <a:t>Total de ventas</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$ 100,000.00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263813">
                <a:tc>
                  <a:txBody>
                    <a:bodyPr/>
                    <a:lstStyle/>
                    <a:p>
                      <a:pPr algn="l" fontAlgn="b"/>
                      <a:r>
                        <a:rPr lang="es-NI" sz="1600" u="none" strike="noStrike">
                          <a:effectLst/>
                        </a:rPr>
                        <a:t>Menos: Costo de los bienes vendidos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263813">
                <a:tc>
                  <a:txBody>
                    <a:bodyPr/>
                    <a:lstStyle/>
                    <a:p>
                      <a:pPr algn="l" fontAlgn="b"/>
                      <a:r>
                        <a:rPr lang="es-NI" sz="1600" u="none" strike="noStrike" dirty="0">
                          <a:effectLst/>
                        </a:rPr>
                        <a:t>Mano de obra</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$ 28,500.00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263813">
                <a:tc>
                  <a:txBody>
                    <a:bodyPr/>
                    <a:lstStyle/>
                    <a:p>
                      <a:pPr algn="l" fontAlgn="b"/>
                      <a:r>
                        <a:rPr lang="es-NI" sz="1600" u="none" strike="noStrike" dirty="0">
                          <a:effectLst/>
                        </a:rPr>
                        <a:t>Material A</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$ 8,000.00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263813">
                <a:tc>
                  <a:txBody>
                    <a:bodyPr/>
                    <a:lstStyle/>
                    <a:p>
                      <a:pPr algn="l" fontAlgn="b"/>
                      <a:r>
                        <a:rPr lang="es-NI" sz="1600" u="none" strike="noStrike" dirty="0">
                          <a:effectLst/>
                        </a:rPr>
                        <a:t>Material B</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$ 5,500.00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r h="263813">
                <a:tc>
                  <a:txBody>
                    <a:bodyPr/>
                    <a:lstStyle/>
                    <a:p>
                      <a:pPr algn="l" fontAlgn="b"/>
                      <a:r>
                        <a:rPr lang="es-NI" sz="1600" u="none" strike="noStrike" dirty="0">
                          <a:effectLst/>
                        </a:rPr>
                        <a:t>Gastos generales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$ 38,000.00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1"/>
                  </a:ext>
                </a:extLst>
              </a:tr>
              <a:tr h="263813">
                <a:tc>
                  <a:txBody>
                    <a:bodyPr/>
                    <a:lstStyle/>
                    <a:p>
                      <a:pPr algn="l" fontAlgn="b"/>
                      <a:r>
                        <a:rPr lang="es-NI" sz="1600" u="none" strike="noStrike" dirty="0">
                          <a:effectLst/>
                          <a:highlight>
                            <a:srgbClr val="FFFF00"/>
                          </a:highlight>
                        </a:rPr>
                        <a:t>Costo total de los bienes vendidos</a:t>
                      </a:r>
                      <a:endParaRPr lang="es-NI" sz="1600" b="1" i="0" u="none" strike="noStrike" dirty="0">
                        <a:solidFill>
                          <a:srgbClr val="00000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600" u="none" strike="noStrike" dirty="0">
                          <a:effectLst/>
                          <a:highlight>
                            <a:srgbClr val="FFFF00"/>
                          </a:highlight>
                        </a:rPr>
                        <a:t>$ 80,000.00</a:t>
                      </a:r>
                      <a:endParaRPr lang="es-NI" sz="1600" b="1" i="0" u="none" strike="noStrike" dirty="0">
                        <a:solidFill>
                          <a:srgbClr val="00000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10012"/>
                  </a:ext>
                </a:extLst>
              </a:tr>
              <a:tr h="263813">
                <a:tc>
                  <a:txBody>
                    <a:bodyPr/>
                    <a:lstStyle/>
                    <a:p>
                      <a:pPr algn="l" fontAlgn="b"/>
                      <a:r>
                        <a:rPr lang="es-NI" sz="1600" b="1" u="none" strike="noStrike" dirty="0">
                          <a:effectLst/>
                        </a:rPr>
                        <a:t>Utilidad bruta</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$ 20,000.00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3"/>
                  </a:ext>
                </a:extLst>
              </a:tr>
              <a:tr h="263813">
                <a:tc>
                  <a:txBody>
                    <a:bodyPr/>
                    <a:lstStyle/>
                    <a:p>
                      <a:pPr algn="l" fontAlgn="b"/>
                      <a:r>
                        <a:rPr lang="es-NI" sz="1600" u="none" strike="noStrike" dirty="0">
                          <a:effectLst/>
                        </a:rPr>
                        <a:t>Menos: Gastos operativos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$ 10,000.00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4"/>
                  </a:ext>
                </a:extLst>
              </a:tr>
              <a:tr h="263813">
                <a:tc>
                  <a:txBody>
                    <a:bodyPr/>
                    <a:lstStyle/>
                    <a:p>
                      <a:pPr algn="l" fontAlgn="b"/>
                      <a:r>
                        <a:rPr lang="es-NI" sz="1600" b="1" u="none" strike="noStrike" dirty="0">
                          <a:effectLst/>
                        </a:rPr>
                        <a:t>Utilidad operativa</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$ 10,000.00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5"/>
                  </a:ext>
                </a:extLst>
              </a:tr>
              <a:tr h="263813">
                <a:tc>
                  <a:txBody>
                    <a:bodyPr/>
                    <a:lstStyle/>
                    <a:p>
                      <a:pPr algn="l" fontAlgn="b"/>
                      <a:r>
                        <a:rPr lang="es-NI" sz="1600" u="none" strike="noStrike" dirty="0">
                          <a:effectLst/>
                        </a:rPr>
                        <a:t>Menos: Gastos  por intereses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$ 1,000.00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6"/>
                  </a:ext>
                </a:extLst>
              </a:tr>
              <a:tr h="263813">
                <a:tc>
                  <a:txBody>
                    <a:bodyPr/>
                    <a:lstStyle/>
                    <a:p>
                      <a:pPr algn="l" fontAlgn="b"/>
                      <a:r>
                        <a:rPr lang="es-NI" sz="1600" b="1" u="none" strike="noStrike" dirty="0">
                          <a:effectLst/>
                        </a:rPr>
                        <a:t>Utilidad  neta antes de impuesto</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$ 9,000.00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7"/>
                  </a:ext>
                </a:extLst>
              </a:tr>
              <a:tr h="263813">
                <a:tc>
                  <a:txBody>
                    <a:bodyPr/>
                    <a:lstStyle/>
                    <a:p>
                      <a:pPr algn="l" fontAlgn="b"/>
                      <a:r>
                        <a:rPr lang="es-NI" sz="1600" u="none" strike="noStrike">
                          <a:effectLst/>
                        </a:rPr>
                        <a:t>Menos: Impuestos (0.15X9000)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$ 1,350.00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8"/>
                  </a:ext>
                </a:extLst>
              </a:tr>
              <a:tr h="263813">
                <a:tc>
                  <a:txBody>
                    <a:bodyPr/>
                    <a:lstStyle/>
                    <a:p>
                      <a:pPr algn="l" fontAlgn="b"/>
                      <a:r>
                        <a:rPr lang="es-NI" sz="1600" b="1" u="none" strike="noStrike" dirty="0">
                          <a:effectLst/>
                        </a:rPr>
                        <a:t>Utilidad neta después de impuestos</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$ 7,650.00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9"/>
                  </a:ext>
                </a:extLst>
              </a:tr>
              <a:tr h="263813">
                <a:tc>
                  <a:txBody>
                    <a:bodyPr/>
                    <a:lstStyle/>
                    <a:p>
                      <a:pPr algn="l" fontAlgn="b"/>
                      <a:r>
                        <a:rPr lang="es-NI" sz="1600" u="none" strike="noStrike" dirty="0">
                          <a:effectLst/>
                        </a:rPr>
                        <a:t>Menos: Dividendos de acciones comunes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$ 4,000.00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20"/>
                  </a:ext>
                </a:extLst>
              </a:tr>
              <a:tr h="263813">
                <a:tc>
                  <a:txBody>
                    <a:bodyPr/>
                    <a:lstStyle/>
                    <a:p>
                      <a:pPr algn="l" fontAlgn="b"/>
                      <a:r>
                        <a:rPr lang="es-NI" sz="1600" b="1" u="none" strike="noStrike" dirty="0">
                          <a:effectLst/>
                        </a:rPr>
                        <a:t>Utilidades</a:t>
                      </a:r>
                      <a:r>
                        <a:rPr lang="es-NI" sz="1600" b="1" u="none" strike="noStrike" baseline="0" dirty="0">
                          <a:effectLst/>
                        </a:rPr>
                        <a:t> retenidas</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$ 3,650.00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21"/>
                  </a:ext>
                </a:extLst>
              </a:tr>
            </a:tbl>
          </a:graphicData>
        </a:graphic>
      </p:graphicFrame>
      <p:sp>
        <p:nvSpPr>
          <p:cNvPr id="7" name="CuadroTexto 6">
            <a:extLst>
              <a:ext uri="{FF2B5EF4-FFF2-40B4-BE49-F238E27FC236}">
                <a16:creationId xmlns:a16="http://schemas.microsoft.com/office/drawing/2014/main" id="{30B100A6-6C27-4745-906D-337B9CD9644F}"/>
              </a:ext>
            </a:extLst>
          </p:cNvPr>
          <p:cNvSpPr txBox="1"/>
          <p:nvPr/>
        </p:nvSpPr>
        <p:spPr>
          <a:xfrm>
            <a:off x="1550742" y="735743"/>
            <a:ext cx="1738862" cy="369332"/>
          </a:xfrm>
          <a:prstGeom prst="rect">
            <a:avLst/>
          </a:prstGeom>
          <a:noFill/>
        </p:spPr>
        <p:txBody>
          <a:bodyPr wrap="square">
            <a:spAutoFit/>
          </a:bodyPr>
          <a:lstStyle/>
          <a:p>
            <a:r>
              <a:rPr lang="es-ES" b="1" dirty="0"/>
              <a:t>Tabla </a:t>
            </a:r>
            <a:r>
              <a:rPr lang="es-ES" sz="1800" b="1" dirty="0"/>
              <a:t> 4.12 </a:t>
            </a:r>
            <a:endParaRPr lang="es-NI" b="1" dirty="0"/>
          </a:p>
        </p:txBody>
      </p:sp>
    </p:spTree>
    <p:extLst>
      <p:ext uri="{BB962C8B-B14F-4D97-AF65-F5344CB8AC3E}">
        <p14:creationId xmlns:p14="http://schemas.microsoft.com/office/powerpoint/2010/main" val="210001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7" name="CuadroTexto 6">
            <a:extLst>
              <a:ext uri="{FF2B5EF4-FFF2-40B4-BE49-F238E27FC236}">
                <a16:creationId xmlns:a16="http://schemas.microsoft.com/office/drawing/2014/main" id="{30B100A6-6C27-4745-906D-337B9CD9644F}"/>
              </a:ext>
            </a:extLst>
          </p:cNvPr>
          <p:cNvSpPr txBox="1"/>
          <p:nvPr/>
        </p:nvSpPr>
        <p:spPr>
          <a:xfrm>
            <a:off x="2070746" y="1167921"/>
            <a:ext cx="1738862" cy="369332"/>
          </a:xfrm>
          <a:prstGeom prst="rect">
            <a:avLst/>
          </a:prstGeom>
          <a:noFill/>
        </p:spPr>
        <p:txBody>
          <a:bodyPr wrap="square">
            <a:spAutoFit/>
          </a:bodyPr>
          <a:lstStyle/>
          <a:p>
            <a:r>
              <a:rPr lang="es-ES" b="1" dirty="0"/>
              <a:t>Tabla </a:t>
            </a:r>
            <a:r>
              <a:rPr lang="es-ES" sz="1800" b="1" dirty="0"/>
              <a:t> 4.13 </a:t>
            </a:r>
            <a:endParaRPr lang="es-NI" b="1" dirty="0"/>
          </a:p>
        </p:txBody>
      </p:sp>
      <p:graphicFrame>
        <p:nvGraphicFramePr>
          <p:cNvPr id="3" name="Tabla 2">
            <a:extLst>
              <a:ext uri="{FF2B5EF4-FFF2-40B4-BE49-F238E27FC236}">
                <a16:creationId xmlns:a16="http://schemas.microsoft.com/office/drawing/2014/main" id="{F2B053D9-2925-4D18-B313-EA017A625FA3}"/>
              </a:ext>
            </a:extLst>
          </p:cNvPr>
          <p:cNvGraphicFramePr>
            <a:graphicFrameLocks noGrp="1"/>
          </p:cNvGraphicFramePr>
          <p:nvPr>
            <p:extLst>
              <p:ext uri="{D42A27DB-BD31-4B8C-83A1-F6EECF244321}">
                <p14:modId xmlns:p14="http://schemas.microsoft.com/office/powerpoint/2010/main" val="659077469"/>
              </p:ext>
            </p:extLst>
          </p:nvPr>
        </p:nvGraphicFramePr>
        <p:xfrm>
          <a:off x="1885633" y="1537253"/>
          <a:ext cx="8883133" cy="4315484"/>
        </p:xfrm>
        <a:graphic>
          <a:graphicData uri="http://schemas.openxmlformats.org/drawingml/2006/table">
            <a:tbl>
              <a:tblPr>
                <a:tableStyleId>{5C22544A-7EE6-4342-B048-85BDC9FD1C3A}</a:tableStyleId>
              </a:tblPr>
              <a:tblGrid>
                <a:gridCol w="2270577">
                  <a:extLst>
                    <a:ext uri="{9D8B030D-6E8A-4147-A177-3AD203B41FA5}">
                      <a16:colId xmlns:a16="http://schemas.microsoft.com/office/drawing/2014/main" val="4219414339"/>
                    </a:ext>
                  </a:extLst>
                </a:gridCol>
                <a:gridCol w="1447326">
                  <a:extLst>
                    <a:ext uri="{9D8B030D-6E8A-4147-A177-3AD203B41FA5}">
                      <a16:colId xmlns:a16="http://schemas.microsoft.com/office/drawing/2014/main" val="2142999341"/>
                    </a:ext>
                  </a:extLst>
                </a:gridCol>
                <a:gridCol w="278843">
                  <a:extLst>
                    <a:ext uri="{9D8B030D-6E8A-4147-A177-3AD203B41FA5}">
                      <a16:colId xmlns:a16="http://schemas.microsoft.com/office/drawing/2014/main" val="3748758125"/>
                    </a:ext>
                  </a:extLst>
                </a:gridCol>
                <a:gridCol w="3388093">
                  <a:extLst>
                    <a:ext uri="{9D8B030D-6E8A-4147-A177-3AD203B41FA5}">
                      <a16:colId xmlns:a16="http://schemas.microsoft.com/office/drawing/2014/main" val="593668303"/>
                    </a:ext>
                  </a:extLst>
                </a:gridCol>
                <a:gridCol w="1498294">
                  <a:extLst>
                    <a:ext uri="{9D8B030D-6E8A-4147-A177-3AD203B41FA5}">
                      <a16:colId xmlns:a16="http://schemas.microsoft.com/office/drawing/2014/main" val="576483456"/>
                    </a:ext>
                  </a:extLst>
                </a:gridCol>
              </a:tblGrid>
              <a:tr h="253852">
                <a:tc gridSpan="5">
                  <a:txBody>
                    <a:bodyPr/>
                    <a:lstStyle/>
                    <a:p>
                      <a:pPr algn="ctr" fontAlgn="b"/>
                      <a:r>
                        <a:rPr lang="es-NI" sz="1400" b="1" u="none" strike="noStrike" dirty="0" err="1">
                          <a:effectLst/>
                        </a:rPr>
                        <a:t>Vectra</a:t>
                      </a:r>
                      <a:r>
                        <a:rPr lang="es-NI" sz="1400" b="1" u="none" strike="noStrike" dirty="0">
                          <a:effectLst/>
                        </a:rPr>
                        <a:t> </a:t>
                      </a:r>
                      <a:r>
                        <a:rPr lang="es-NI" sz="1400" b="1" u="none" strike="noStrike" dirty="0" err="1">
                          <a:effectLst/>
                        </a:rPr>
                        <a:t>Manufacturing</a:t>
                      </a:r>
                      <a:r>
                        <a:rPr lang="es-NI" sz="1400" b="1" u="none" strike="noStrike" dirty="0">
                          <a:effectLst/>
                        </a:rPr>
                        <a:t> </a:t>
                      </a:r>
                      <a:endParaRPr lang="es-NI"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3277335565"/>
                  </a:ext>
                </a:extLst>
              </a:tr>
              <a:tr h="253852">
                <a:tc gridSpan="5">
                  <a:txBody>
                    <a:bodyPr/>
                    <a:lstStyle/>
                    <a:p>
                      <a:pPr algn="ctr" fontAlgn="b"/>
                      <a:r>
                        <a:rPr lang="es-ES" sz="1400" b="1" u="none" strike="noStrike" dirty="0">
                          <a:effectLst/>
                        </a:rPr>
                        <a:t>Balance general al 31 de diciembre 2012</a:t>
                      </a:r>
                      <a:endParaRPr lang="es-ES"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2954681886"/>
                  </a:ext>
                </a:extLst>
              </a:tr>
              <a:tr h="253852">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83468210"/>
                  </a:ext>
                </a:extLst>
              </a:tr>
              <a:tr h="253852">
                <a:tc>
                  <a:txBody>
                    <a:bodyPr/>
                    <a:lstStyle/>
                    <a:p>
                      <a:pPr algn="ctr" fontAlgn="b"/>
                      <a:r>
                        <a:rPr lang="es-NI" sz="1400" b="1" u="none" strike="noStrike" dirty="0">
                          <a:effectLst/>
                        </a:rPr>
                        <a:t>Activos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ES" sz="1400" b="1" u="none" strike="noStrike" dirty="0">
                          <a:effectLst/>
                        </a:rPr>
                        <a:t>Pasivos y patrimonio de los accionistas</a:t>
                      </a:r>
                      <a:endParaRPr lang="es-E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7961611"/>
                  </a:ext>
                </a:extLst>
              </a:tr>
              <a:tr h="253852">
                <a:tc>
                  <a:txBody>
                    <a:bodyPr/>
                    <a:lstStyle/>
                    <a:p>
                      <a:pPr algn="ctr" fontAlgn="b"/>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57389974"/>
                  </a:ext>
                </a:extLst>
              </a:tr>
              <a:tr h="253852">
                <a:tc>
                  <a:txBody>
                    <a:bodyPr/>
                    <a:lstStyle/>
                    <a:p>
                      <a:pPr algn="l" fontAlgn="b"/>
                      <a:r>
                        <a:rPr lang="es-NI" sz="1400" u="none" strike="noStrike" dirty="0">
                          <a:effectLst/>
                        </a:rPr>
                        <a:t>Efectivo </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$ 6,000.00</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dirty="0">
                          <a:effectLst/>
                        </a:rPr>
                        <a:t>Cuentas por pagar</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$ 7,000.00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78127447"/>
                  </a:ext>
                </a:extLst>
              </a:tr>
              <a:tr h="253852">
                <a:tc>
                  <a:txBody>
                    <a:bodyPr/>
                    <a:lstStyle/>
                    <a:p>
                      <a:pPr algn="l" fontAlgn="b"/>
                      <a:r>
                        <a:rPr lang="es-NI" sz="1400" u="none" strike="noStrike" dirty="0">
                          <a:effectLst/>
                        </a:rPr>
                        <a:t>Valores negociables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$ 4,000.00</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dirty="0">
                          <a:effectLst/>
                        </a:rPr>
                        <a:t>Impuestos por pagar</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$ 300.00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60856949"/>
                  </a:ext>
                </a:extLst>
              </a:tr>
              <a:tr h="253852">
                <a:tc>
                  <a:txBody>
                    <a:bodyPr/>
                    <a:lstStyle/>
                    <a:p>
                      <a:pPr algn="l" fontAlgn="b"/>
                      <a:r>
                        <a:rPr lang="es-NI" sz="1400" u="none" strike="noStrike" dirty="0">
                          <a:effectLst/>
                        </a:rPr>
                        <a:t>Cuentas por cobrar</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$ 13,000.00</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dirty="0">
                          <a:effectLst/>
                        </a:rPr>
                        <a:t>Documentos por pagar</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$ 8,300.00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20530366"/>
                  </a:ext>
                </a:extLst>
              </a:tr>
              <a:tr h="253852">
                <a:tc>
                  <a:txBody>
                    <a:bodyPr/>
                    <a:lstStyle/>
                    <a:p>
                      <a:pPr algn="l" fontAlgn="b"/>
                      <a:r>
                        <a:rPr lang="es-NI" sz="1400" u="none" strike="noStrike" dirty="0">
                          <a:effectLst/>
                        </a:rPr>
                        <a:t>Inventarios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$ 16,000.00</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a:effectLst/>
                        </a:rPr>
                        <a:t>Otros pasivos corrientes</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$ 3,400.00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09293541"/>
                  </a:ext>
                </a:extLst>
              </a:tr>
              <a:tr h="253852">
                <a:tc>
                  <a:txBody>
                    <a:bodyPr/>
                    <a:lstStyle/>
                    <a:p>
                      <a:pPr algn="l" fontAlgn="b"/>
                      <a:r>
                        <a:rPr lang="es-NI" sz="1400" b="1" u="none" strike="noStrike" dirty="0">
                          <a:effectLst/>
                        </a:rPr>
                        <a:t>Total de activos corrientes </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$ 39,000.00</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b="1" u="none" strike="noStrike" dirty="0">
                          <a:effectLst/>
                        </a:rPr>
                        <a:t>Total de pasivos corrientes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$ 19,000.00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54112356"/>
                  </a:ext>
                </a:extLst>
              </a:tr>
              <a:tr h="253852">
                <a:tc>
                  <a:txBody>
                    <a:bodyPr/>
                    <a:lstStyle/>
                    <a:p>
                      <a:pPr algn="l" fontAlgn="b"/>
                      <a:r>
                        <a:rPr lang="es-NI" sz="1400" u="none" strike="noStrike" dirty="0">
                          <a:effectLst/>
                        </a:rPr>
                        <a:t>Activos fijos netos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sng" strike="noStrike" dirty="0">
                          <a:effectLst/>
                        </a:rPr>
                        <a:t>$ 51,000.00</a:t>
                      </a:r>
                      <a:endParaRPr lang="es-NI" sz="14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18365449"/>
                  </a:ext>
                </a:extLst>
              </a:tr>
              <a:tr h="253852">
                <a:tc>
                  <a:txBody>
                    <a:bodyPr/>
                    <a:lstStyle/>
                    <a:p>
                      <a:pPr algn="l" fontAlgn="b"/>
                      <a:r>
                        <a:rPr lang="es-NI" sz="1400" b="1" u="none" strike="noStrike" dirty="0">
                          <a:effectLst/>
                        </a:rPr>
                        <a:t>Total de activos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$ 90,000.00</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a:effectLst/>
                        </a:rPr>
                        <a:t>Deuda a largo plazo</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$ 18,000.00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20643232"/>
                  </a:ext>
                </a:extLst>
              </a:tr>
              <a:tr h="253852">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b="1" u="none" strike="noStrike" dirty="0">
                          <a:effectLst/>
                        </a:rPr>
                        <a:t>Total de pasivos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$ 37,000.00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02161584"/>
                  </a:ext>
                </a:extLst>
              </a:tr>
              <a:tr h="253852">
                <a:tc>
                  <a:txBody>
                    <a:bodyPr/>
                    <a:lstStyle/>
                    <a:p>
                      <a:pPr algn="l" fontAlgn="b"/>
                      <a:endParaRPr lang="es-NI" sz="14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6921403"/>
                  </a:ext>
                </a:extLst>
              </a:tr>
              <a:tr h="253852">
                <a:tc>
                  <a:txBody>
                    <a:bodyPr/>
                    <a:lstStyle/>
                    <a:p>
                      <a:pPr algn="l" fontAlgn="b"/>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a:effectLst/>
                        </a:rPr>
                        <a:t>Acciones comunes</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$ 30,000.00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03255769"/>
                  </a:ext>
                </a:extLst>
              </a:tr>
              <a:tr h="253852">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dirty="0">
                          <a:effectLst/>
                        </a:rPr>
                        <a:t>Ganancias retenidas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$ 23,000.00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25706794"/>
                  </a:ext>
                </a:extLst>
              </a:tr>
              <a:tr h="253852">
                <a:tc>
                  <a:txBody>
                    <a:bodyPr/>
                    <a:lstStyle/>
                    <a:p>
                      <a:pPr algn="l" fontAlgn="b"/>
                      <a:endParaRPr lang="es-NI" sz="14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400" b="1" u="none" strike="noStrike" dirty="0">
                          <a:effectLst/>
                        </a:rPr>
                        <a:t>Total pasivos y patrimonio de los accionistas</a:t>
                      </a:r>
                      <a:endParaRPr lang="es-E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$ 90,000.00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83194959"/>
                  </a:ext>
                </a:extLst>
              </a:tr>
            </a:tbl>
          </a:graphicData>
        </a:graphic>
      </p:graphicFrame>
    </p:spTree>
    <p:extLst>
      <p:ext uri="{BB962C8B-B14F-4D97-AF65-F5344CB8AC3E}">
        <p14:creationId xmlns:p14="http://schemas.microsoft.com/office/powerpoint/2010/main" val="2430221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pic>
        <p:nvPicPr>
          <p:cNvPr id="5" name="Imagen 4">
            <a:extLst>
              <a:ext uri="{FF2B5EF4-FFF2-40B4-BE49-F238E27FC236}">
                <a16:creationId xmlns:a16="http://schemas.microsoft.com/office/drawing/2014/main" id="{7A92A8CB-F1A5-4452-8745-07D41D971B86}"/>
              </a:ext>
            </a:extLst>
          </p:cNvPr>
          <p:cNvPicPr>
            <a:picLocks noChangeAspect="1"/>
          </p:cNvPicPr>
          <p:nvPr/>
        </p:nvPicPr>
        <p:blipFill>
          <a:blip r:embed="rId2"/>
          <a:stretch>
            <a:fillRect/>
          </a:stretch>
        </p:blipFill>
        <p:spPr>
          <a:xfrm>
            <a:off x="3635284" y="2467822"/>
            <a:ext cx="6013019" cy="2565400"/>
          </a:xfrm>
          <a:prstGeom prst="rect">
            <a:avLst/>
          </a:prstGeom>
        </p:spPr>
      </p:pic>
      <p:sp>
        <p:nvSpPr>
          <p:cNvPr id="13" name="CuadroTexto 12">
            <a:extLst>
              <a:ext uri="{FF2B5EF4-FFF2-40B4-BE49-F238E27FC236}">
                <a16:creationId xmlns:a16="http://schemas.microsoft.com/office/drawing/2014/main" id="{8FFA4B88-C8EE-4429-B14C-37BEA9AB613B}"/>
              </a:ext>
            </a:extLst>
          </p:cNvPr>
          <p:cNvSpPr txBox="1"/>
          <p:nvPr/>
        </p:nvSpPr>
        <p:spPr>
          <a:xfrm>
            <a:off x="1885633" y="973151"/>
            <a:ext cx="9512323" cy="954107"/>
          </a:xfrm>
          <a:prstGeom prst="rect">
            <a:avLst/>
          </a:prstGeom>
          <a:noFill/>
        </p:spPr>
        <p:txBody>
          <a:bodyPr wrap="square">
            <a:spAutoFit/>
          </a:bodyPr>
          <a:lstStyle/>
          <a:p>
            <a:pPr algn="l"/>
            <a:r>
              <a:rPr lang="es-MX" sz="2800" dirty="0">
                <a:latin typeface="Calibri" panose="020F0502020204030204" pitchFamily="34" charset="0"/>
                <a:cs typeface="Calibri" panose="020F0502020204030204" pitchFamily="34" charset="0"/>
              </a:rPr>
              <a:t>Usando los valores en dólares tomados del estado de resultados de </a:t>
            </a:r>
            <a:r>
              <a:rPr lang="es-MX" sz="2800" dirty="0" err="1">
                <a:latin typeface="Calibri" panose="020F0502020204030204" pitchFamily="34" charset="0"/>
                <a:cs typeface="Calibri" panose="020F0502020204030204" pitchFamily="34" charset="0"/>
              </a:rPr>
              <a:t>Vectra</a:t>
            </a:r>
            <a:r>
              <a:rPr lang="es-MX" sz="2800" dirty="0">
                <a:latin typeface="Calibri" panose="020F0502020204030204" pitchFamily="34" charset="0"/>
                <a:cs typeface="Calibri" panose="020F0502020204030204" pitchFamily="34" charset="0"/>
              </a:rPr>
              <a:t> de 2012, encontramos que estos porcentajes son:</a:t>
            </a:r>
            <a:endParaRPr lang="es-NI"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2328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7" name="CuadroTexto 6">
            <a:extLst>
              <a:ext uri="{FF2B5EF4-FFF2-40B4-BE49-F238E27FC236}">
                <a16:creationId xmlns:a16="http://schemas.microsoft.com/office/drawing/2014/main" id="{45CF0E1A-014F-4124-B16B-39B5858C6F5E}"/>
              </a:ext>
            </a:extLst>
          </p:cNvPr>
          <p:cNvSpPr txBox="1"/>
          <p:nvPr/>
        </p:nvSpPr>
        <p:spPr>
          <a:xfrm>
            <a:off x="1429555" y="1168941"/>
            <a:ext cx="3957693" cy="4524315"/>
          </a:xfrm>
          <a:prstGeom prst="rect">
            <a:avLst/>
          </a:prstGeom>
          <a:noFill/>
        </p:spPr>
        <p:txBody>
          <a:bodyPr wrap="square">
            <a:spAutoFit/>
          </a:bodyPr>
          <a:lstStyle/>
          <a:p>
            <a:pPr algn="just"/>
            <a:r>
              <a:rPr lang="es-ES" dirty="0"/>
              <a:t>La técnica que se usa para elaborar el estado de resultados pro forma  supone que todos los costos y gastos de la empresa son variables; es decir, suponemos que para un aumento porcentual determinado en las ventas, se generará el mismo aumento porcentual del costo de los bienes vendidos, los gastos operativos y los gastos por intereses. Por ejemplo, al aumentar las ventas de </a:t>
            </a:r>
            <a:r>
              <a:rPr lang="es-ES" dirty="0" err="1"/>
              <a:t>Vectra</a:t>
            </a:r>
            <a:r>
              <a:rPr lang="es-ES" dirty="0"/>
              <a:t> en un 35%, suponemos que los costos de los bienes vendidos también aumentaron un 35%. De acuerdo con este supuesto, la utilidad neta antes de impuestos de la empresa también aumentó en un 35%.</a:t>
            </a:r>
            <a:endParaRPr lang="es-NI" dirty="0"/>
          </a:p>
        </p:txBody>
      </p:sp>
      <p:sp>
        <p:nvSpPr>
          <p:cNvPr id="4" name="CuadroTexto 3">
            <a:extLst>
              <a:ext uri="{FF2B5EF4-FFF2-40B4-BE49-F238E27FC236}">
                <a16:creationId xmlns:a16="http://schemas.microsoft.com/office/drawing/2014/main" id="{57DFB32B-D081-4A60-B7D8-EA8E6BADB96C}"/>
              </a:ext>
            </a:extLst>
          </p:cNvPr>
          <p:cNvSpPr txBox="1"/>
          <p:nvPr/>
        </p:nvSpPr>
        <p:spPr>
          <a:xfrm>
            <a:off x="1429555" y="5784871"/>
            <a:ext cx="4497900" cy="338554"/>
          </a:xfrm>
          <a:prstGeom prst="rect">
            <a:avLst/>
          </a:prstGeom>
          <a:noFill/>
        </p:spPr>
        <p:txBody>
          <a:bodyPr wrap="square">
            <a:spAutoFit/>
          </a:bodyPr>
          <a:lstStyle/>
          <a:p>
            <a:pPr algn="just"/>
            <a:r>
              <a:rPr lang="es-ES" sz="1600" dirty="0">
                <a:highlight>
                  <a:srgbClr val="FFFF00"/>
                </a:highlight>
              </a:rPr>
              <a:t>135000-100000=35000/100000=0.35</a:t>
            </a:r>
            <a:r>
              <a:rPr lang="es-NI" sz="1600" dirty="0">
                <a:highlight>
                  <a:srgbClr val="FFFF00"/>
                </a:highlight>
              </a:rPr>
              <a:t>*100=35%</a:t>
            </a:r>
            <a:endParaRPr lang="es-ES" sz="1600" dirty="0">
              <a:highlight>
                <a:srgbClr val="FFFF00"/>
              </a:highlight>
            </a:endParaRPr>
          </a:p>
        </p:txBody>
      </p:sp>
      <p:graphicFrame>
        <p:nvGraphicFramePr>
          <p:cNvPr id="3" name="Tabla 2">
            <a:extLst>
              <a:ext uri="{FF2B5EF4-FFF2-40B4-BE49-F238E27FC236}">
                <a16:creationId xmlns:a16="http://schemas.microsoft.com/office/drawing/2014/main" id="{4E9D1889-76F9-441A-B907-29A5F8F421E1}"/>
              </a:ext>
            </a:extLst>
          </p:cNvPr>
          <p:cNvGraphicFramePr>
            <a:graphicFrameLocks noGrp="1"/>
          </p:cNvGraphicFramePr>
          <p:nvPr>
            <p:extLst>
              <p:ext uri="{D42A27DB-BD31-4B8C-83A1-F6EECF244321}">
                <p14:modId xmlns:p14="http://schemas.microsoft.com/office/powerpoint/2010/main" val="814353931"/>
              </p:ext>
            </p:extLst>
          </p:nvPr>
        </p:nvGraphicFramePr>
        <p:xfrm>
          <a:off x="5927455" y="855066"/>
          <a:ext cx="5413333" cy="5840743"/>
        </p:xfrm>
        <a:graphic>
          <a:graphicData uri="http://schemas.openxmlformats.org/drawingml/2006/table">
            <a:tbl>
              <a:tblPr>
                <a:tableStyleId>{5C22544A-7EE6-4342-B048-85BDC9FD1C3A}</a:tableStyleId>
              </a:tblPr>
              <a:tblGrid>
                <a:gridCol w="3376357">
                  <a:extLst>
                    <a:ext uri="{9D8B030D-6E8A-4147-A177-3AD203B41FA5}">
                      <a16:colId xmlns:a16="http://schemas.microsoft.com/office/drawing/2014/main" val="20000"/>
                    </a:ext>
                  </a:extLst>
                </a:gridCol>
                <a:gridCol w="2036976">
                  <a:extLst>
                    <a:ext uri="{9D8B030D-6E8A-4147-A177-3AD203B41FA5}">
                      <a16:colId xmlns:a16="http://schemas.microsoft.com/office/drawing/2014/main" val="20001"/>
                    </a:ext>
                  </a:extLst>
                </a:gridCol>
              </a:tblGrid>
              <a:tr h="276238">
                <a:tc gridSpan="2">
                  <a:txBody>
                    <a:bodyPr/>
                    <a:lstStyle/>
                    <a:p>
                      <a:pPr algn="ctr" fontAlgn="b"/>
                      <a:r>
                        <a:rPr lang="es-NI" sz="1600" b="1" u="none" strike="noStrike" dirty="0" err="1">
                          <a:effectLst/>
                        </a:rPr>
                        <a:t>Vectra</a:t>
                      </a:r>
                      <a:r>
                        <a:rPr lang="es-NI" sz="1600" b="1" u="none" strike="noStrike" dirty="0">
                          <a:effectLst/>
                        </a:rPr>
                        <a:t> </a:t>
                      </a:r>
                      <a:r>
                        <a:rPr lang="es-NI" sz="1600" b="1" u="none" strike="noStrike" dirty="0" err="1">
                          <a:effectLst/>
                        </a:rPr>
                        <a:t>Manufacturing</a:t>
                      </a:r>
                      <a:r>
                        <a:rPr lang="es-NI" sz="1600" b="1" u="none" strike="noStrike" dirty="0">
                          <a:effectLst/>
                        </a:rPr>
                        <a:t> </a:t>
                      </a:r>
                      <a:endParaRPr lang="es-NI" sz="16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10000"/>
                  </a:ext>
                </a:extLst>
              </a:tr>
              <a:tr h="216231">
                <a:tc gridSpan="2">
                  <a:txBody>
                    <a:bodyPr/>
                    <a:lstStyle/>
                    <a:p>
                      <a:pPr algn="ctr" fontAlgn="b"/>
                      <a:r>
                        <a:rPr lang="es-NI" sz="1600" b="1" u="none" strike="noStrike" dirty="0">
                          <a:effectLst/>
                        </a:rPr>
                        <a:t>Estado de Resultado al 31 de diciembre 2012</a:t>
                      </a:r>
                      <a:endParaRPr lang="es-NI" sz="16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10001"/>
                  </a:ext>
                </a:extLst>
              </a:tr>
              <a:tr h="216231">
                <a:tc>
                  <a:txBody>
                    <a:bodyPr/>
                    <a:lstStyle/>
                    <a:p>
                      <a:pPr algn="l" fontAlgn="b"/>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2"/>
                  </a:ext>
                </a:extLst>
              </a:tr>
              <a:tr h="216231">
                <a:tc>
                  <a:txBody>
                    <a:bodyPr/>
                    <a:lstStyle/>
                    <a:p>
                      <a:pPr algn="l" fontAlgn="b"/>
                      <a:r>
                        <a:rPr lang="es-NI" sz="1600" u="none" strike="noStrike" dirty="0">
                          <a:effectLst/>
                        </a:rPr>
                        <a:t>Ingreso por ventas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3"/>
                  </a:ext>
                </a:extLst>
              </a:tr>
              <a:tr h="216231">
                <a:tc>
                  <a:txBody>
                    <a:bodyPr/>
                    <a:lstStyle/>
                    <a:p>
                      <a:pPr algn="l" fontAlgn="b"/>
                      <a:r>
                        <a:rPr lang="es-NI" sz="1600" u="none" strike="noStrike" dirty="0">
                          <a:effectLst/>
                        </a:rPr>
                        <a:t>Modelo X  (1,000 unid a $20/unid)</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$ 20,000.00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4"/>
                  </a:ext>
                </a:extLst>
              </a:tr>
              <a:tr h="216231">
                <a:tc>
                  <a:txBody>
                    <a:bodyPr/>
                    <a:lstStyle/>
                    <a:p>
                      <a:pPr algn="l" fontAlgn="b"/>
                      <a:r>
                        <a:rPr lang="es-NI" sz="1600" u="none" strike="noStrike">
                          <a:effectLst/>
                        </a:rPr>
                        <a:t>Modelo Y (2,000 unid a $40/unid)</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$ 80,000.00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5"/>
                  </a:ext>
                </a:extLst>
              </a:tr>
              <a:tr h="216231">
                <a:tc>
                  <a:txBody>
                    <a:bodyPr/>
                    <a:lstStyle/>
                    <a:p>
                      <a:pPr algn="l" fontAlgn="b"/>
                      <a:r>
                        <a:rPr lang="es-NI" sz="1600" b="1" u="none" strike="noStrike" dirty="0">
                          <a:effectLst/>
                        </a:rPr>
                        <a:t>Total de ventas</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$ 100,000.00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6"/>
                  </a:ext>
                </a:extLst>
              </a:tr>
              <a:tr h="216231">
                <a:tc>
                  <a:txBody>
                    <a:bodyPr/>
                    <a:lstStyle/>
                    <a:p>
                      <a:pPr algn="l" fontAlgn="b"/>
                      <a:r>
                        <a:rPr lang="es-NI" sz="1600" u="none" strike="noStrike">
                          <a:effectLst/>
                        </a:rPr>
                        <a:t>Menos: Costo de los bienes vendidos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7"/>
                  </a:ext>
                </a:extLst>
              </a:tr>
              <a:tr h="216231">
                <a:tc>
                  <a:txBody>
                    <a:bodyPr/>
                    <a:lstStyle/>
                    <a:p>
                      <a:pPr algn="l" fontAlgn="b"/>
                      <a:r>
                        <a:rPr lang="es-NI" sz="1600" u="none" strike="noStrike" dirty="0">
                          <a:effectLst/>
                        </a:rPr>
                        <a:t>Mano de obra</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$ 28,500.00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8"/>
                  </a:ext>
                </a:extLst>
              </a:tr>
              <a:tr h="216231">
                <a:tc>
                  <a:txBody>
                    <a:bodyPr/>
                    <a:lstStyle/>
                    <a:p>
                      <a:pPr algn="l" fontAlgn="b"/>
                      <a:r>
                        <a:rPr lang="es-NI" sz="1600" u="none" strike="noStrike" dirty="0">
                          <a:effectLst/>
                        </a:rPr>
                        <a:t>Material A</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$ 8,000.00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09"/>
                  </a:ext>
                </a:extLst>
              </a:tr>
              <a:tr h="216231">
                <a:tc>
                  <a:txBody>
                    <a:bodyPr/>
                    <a:lstStyle/>
                    <a:p>
                      <a:pPr algn="l" fontAlgn="b"/>
                      <a:r>
                        <a:rPr lang="es-NI" sz="1600" u="none" strike="noStrike" dirty="0">
                          <a:effectLst/>
                        </a:rPr>
                        <a:t>Material B</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$ 5,500.00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0"/>
                  </a:ext>
                </a:extLst>
              </a:tr>
              <a:tr h="216231">
                <a:tc>
                  <a:txBody>
                    <a:bodyPr/>
                    <a:lstStyle/>
                    <a:p>
                      <a:pPr algn="l" fontAlgn="b"/>
                      <a:r>
                        <a:rPr lang="es-NI" sz="1600" u="none" strike="noStrike" dirty="0">
                          <a:effectLst/>
                        </a:rPr>
                        <a:t>Gastos generales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a:effectLst/>
                        </a:rPr>
                        <a:t>$ 38,000.00</a:t>
                      </a:r>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1"/>
                  </a:ext>
                </a:extLst>
              </a:tr>
              <a:tr h="216231">
                <a:tc>
                  <a:txBody>
                    <a:bodyPr/>
                    <a:lstStyle/>
                    <a:p>
                      <a:pPr algn="l" fontAlgn="b"/>
                      <a:r>
                        <a:rPr lang="es-NI" sz="1600" u="none" strike="noStrike" dirty="0">
                          <a:solidFill>
                            <a:srgbClr val="FF0000"/>
                          </a:solidFill>
                          <a:effectLst/>
                        </a:rPr>
                        <a:t>Costo total de los bienes vendidos</a:t>
                      </a:r>
                      <a:endParaRPr lang="es-NI" sz="1600" b="1" i="0" u="none" strike="noStrike" dirty="0">
                        <a:solidFill>
                          <a:srgbClr val="FF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solidFill>
                            <a:srgbClr val="FF0000"/>
                          </a:solidFill>
                          <a:effectLst/>
                        </a:rPr>
                        <a:t>$ 80,000.00</a:t>
                      </a:r>
                      <a:endParaRPr lang="es-NI" sz="1600" b="1" i="0" u="none" strike="noStrike" dirty="0">
                        <a:solidFill>
                          <a:srgbClr val="FF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2"/>
                  </a:ext>
                </a:extLst>
              </a:tr>
              <a:tr h="216231">
                <a:tc>
                  <a:txBody>
                    <a:bodyPr/>
                    <a:lstStyle/>
                    <a:p>
                      <a:pPr algn="l" fontAlgn="b"/>
                      <a:r>
                        <a:rPr lang="es-NI" sz="1600" b="1" u="none" strike="noStrike" dirty="0">
                          <a:effectLst/>
                        </a:rPr>
                        <a:t>Utilidad bruta</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$ 20,000.00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3"/>
                  </a:ext>
                </a:extLst>
              </a:tr>
              <a:tr h="216231">
                <a:tc>
                  <a:txBody>
                    <a:bodyPr/>
                    <a:lstStyle/>
                    <a:p>
                      <a:pPr algn="l" fontAlgn="b"/>
                      <a:r>
                        <a:rPr lang="es-NI" sz="1600" u="none" strike="noStrike" dirty="0">
                          <a:effectLst/>
                        </a:rPr>
                        <a:t>Menos: Gastos operativos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$ 10,000.00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4"/>
                  </a:ext>
                </a:extLst>
              </a:tr>
              <a:tr h="216231">
                <a:tc>
                  <a:txBody>
                    <a:bodyPr/>
                    <a:lstStyle/>
                    <a:p>
                      <a:pPr algn="l" fontAlgn="b"/>
                      <a:r>
                        <a:rPr lang="es-NI" sz="1600" b="1" u="none" strike="noStrike" dirty="0">
                          <a:effectLst/>
                        </a:rPr>
                        <a:t>Utilidad operativa</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$ 10,000.00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5"/>
                  </a:ext>
                </a:extLst>
              </a:tr>
              <a:tr h="216231">
                <a:tc>
                  <a:txBody>
                    <a:bodyPr/>
                    <a:lstStyle/>
                    <a:p>
                      <a:pPr algn="l" fontAlgn="b"/>
                      <a:r>
                        <a:rPr lang="es-NI" sz="1600" u="none" strike="noStrike" dirty="0">
                          <a:effectLst/>
                        </a:rPr>
                        <a:t>Menos: Gastos  por intereses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$ 1,000.00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6"/>
                  </a:ext>
                </a:extLst>
              </a:tr>
              <a:tr h="216231">
                <a:tc>
                  <a:txBody>
                    <a:bodyPr/>
                    <a:lstStyle/>
                    <a:p>
                      <a:pPr algn="l" fontAlgn="b"/>
                      <a:r>
                        <a:rPr lang="es-NI" sz="1600" b="1" u="none" strike="noStrike" dirty="0">
                          <a:effectLst/>
                        </a:rPr>
                        <a:t>Utilidad  neta antes de impuesto</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$ 9,000.00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7"/>
                  </a:ext>
                </a:extLst>
              </a:tr>
              <a:tr h="216231">
                <a:tc>
                  <a:txBody>
                    <a:bodyPr/>
                    <a:lstStyle/>
                    <a:p>
                      <a:pPr algn="l" fontAlgn="b"/>
                      <a:r>
                        <a:rPr lang="es-NI" sz="1600" u="none" strike="noStrike">
                          <a:effectLst/>
                        </a:rPr>
                        <a:t>Menos: Impuestos (0.15X9000)</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$ 1,350.00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8"/>
                  </a:ext>
                </a:extLst>
              </a:tr>
              <a:tr h="216231">
                <a:tc>
                  <a:txBody>
                    <a:bodyPr/>
                    <a:lstStyle/>
                    <a:p>
                      <a:pPr algn="l" fontAlgn="b"/>
                      <a:r>
                        <a:rPr lang="es-NI" sz="1600" b="1" u="none" strike="noStrike" dirty="0">
                          <a:effectLst/>
                        </a:rPr>
                        <a:t>Utilidad neta después de impuestos</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$ 7,650.00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19"/>
                  </a:ext>
                </a:extLst>
              </a:tr>
              <a:tr h="216231">
                <a:tc>
                  <a:txBody>
                    <a:bodyPr/>
                    <a:lstStyle/>
                    <a:p>
                      <a:pPr algn="l" fontAlgn="b"/>
                      <a:r>
                        <a:rPr lang="es-NI" sz="1600" u="none" strike="noStrike" dirty="0">
                          <a:effectLst/>
                        </a:rPr>
                        <a:t>Menos: Dividendos de acciones comunes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u="none" strike="noStrike" dirty="0">
                          <a:effectLst/>
                        </a:rPr>
                        <a:t>$ 4,000.00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20"/>
                  </a:ext>
                </a:extLst>
              </a:tr>
              <a:tr h="216231">
                <a:tc>
                  <a:txBody>
                    <a:bodyPr/>
                    <a:lstStyle/>
                    <a:p>
                      <a:pPr algn="l" fontAlgn="b"/>
                      <a:r>
                        <a:rPr lang="es-NI" sz="1600" b="1" u="none" strike="noStrike" dirty="0">
                          <a:effectLst/>
                        </a:rPr>
                        <a:t>Utilidades</a:t>
                      </a:r>
                      <a:r>
                        <a:rPr lang="es-NI" sz="1600" b="1" u="none" strike="noStrike" baseline="0" dirty="0">
                          <a:effectLst/>
                        </a:rPr>
                        <a:t> retenidas</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$ 3,650.00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1752103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graphicFrame>
        <p:nvGraphicFramePr>
          <p:cNvPr id="2" name="Tabla 1">
            <a:extLst>
              <a:ext uri="{FF2B5EF4-FFF2-40B4-BE49-F238E27FC236}">
                <a16:creationId xmlns:a16="http://schemas.microsoft.com/office/drawing/2014/main" id="{1AFA85A7-47FF-4845-950C-4DA2AA1409C0}"/>
              </a:ext>
            </a:extLst>
          </p:cNvPr>
          <p:cNvGraphicFramePr>
            <a:graphicFrameLocks noGrp="1"/>
          </p:cNvGraphicFramePr>
          <p:nvPr>
            <p:extLst>
              <p:ext uri="{D42A27DB-BD31-4B8C-83A1-F6EECF244321}">
                <p14:modId xmlns:p14="http://schemas.microsoft.com/office/powerpoint/2010/main" val="2687980637"/>
              </p:ext>
            </p:extLst>
          </p:nvPr>
        </p:nvGraphicFramePr>
        <p:xfrm>
          <a:off x="5531410" y="1073129"/>
          <a:ext cx="6151217" cy="4699077"/>
        </p:xfrm>
        <a:graphic>
          <a:graphicData uri="http://schemas.openxmlformats.org/drawingml/2006/table">
            <a:tbl>
              <a:tblPr>
                <a:tableStyleId>{5C22544A-7EE6-4342-B048-85BDC9FD1C3A}</a:tableStyleId>
              </a:tblPr>
              <a:tblGrid>
                <a:gridCol w="4096118">
                  <a:extLst>
                    <a:ext uri="{9D8B030D-6E8A-4147-A177-3AD203B41FA5}">
                      <a16:colId xmlns:a16="http://schemas.microsoft.com/office/drawing/2014/main" val="1075455174"/>
                    </a:ext>
                  </a:extLst>
                </a:gridCol>
                <a:gridCol w="2055099">
                  <a:extLst>
                    <a:ext uri="{9D8B030D-6E8A-4147-A177-3AD203B41FA5}">
                      <a16:colId xmlns:a16="http://schemas.microsoft.com/office/drawing/2014/main" val="1060135589"/>
                    </a:ext>
                  </a:extLst>
                </a:gridCol>
              </a:tblGrid>
              <a:tr h="111183">
                <a:tc gridSpan="2">
                  <a:txBody>
                    <a:bodyPr/>
                    <a:lstStyle/>
                    <a:p>
                      <a:pPr algn="ctr" fontAlgn="b"/>
                      <a:r>
                        <a:rPr lang="es-NI" sz="1600" b="1" u="none" strike="noStrike" dirty="0" err="1">
                          <a:effectLst/>
                        </a:rPr>
                        <a:t>Vectra</a:t>
                      </a:r>
                      <a:r>
                        <a:rPr lang="es-NI" sz="1600" b="1" u="none" strike="noStrike" dirty="0">
                          <a:effectLst/>
                        </a:rPr>
                        <a:t> </a:t>
                      </a:r>
                      <a:r>
                        <a:rPr lang="es-NI" sz="1600" b="1" u="none" strike="noStrike" dirty="0" err="1">
                          <a:effectLst/>
                        </a:rPr>
                        <a:t>Manufacturing</a:t>
                      </a:r>
                      <a:r>
                        <a:rPr lang="es-NI" sz="1600" b="1" u="none" strike="noStrike" dirty="0">
                          <a:effectLst/>
                        </a:rPr>
                        <a:t> </a:t>
                      </a:r>
                      <a:endParaRPr lang="es-NI" sz="16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3188268714"/>
                  </a:ext>
                </a:extLst>
              </a:tr>
              <a:tr h="277857">
                <a:tc gridSpan="2">
                  <a:txBody>
                    <a:bodyPr/>
                    <a:lstStyle/>
                    <a:p>
                      <a:pPr algn="ctr" fontAlgn="b"/>
                      <a:r>
                        <a:rPr lang="es-NI" sz="1600" b="1" u="none" strike="noStrike" dirty="0">
                          <a:effectLst/>
                        </a:rPr>
                        <a:t>Estado de Resultado  Proforma 2013</a:t>
                      </a:r>
                      <a:endParaRPr lang="es-NI" sz="16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2513142829"/>
                  </a:ext>
                </a:extLst>
              </a:tr>
              <a:tr h="277857">
                <a:tc>
                  <a:txBody>
                    <a:bodyPr/>
                    <a:lstStyle/>
                    <a:p>
                      <a:pPr algn="l" fontAlgn="b"/>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6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12332594"/>
                  </a:ext>
                </a:extLst>
              </a:tr>
              <a:tr h="277857">
                <a:tc>
                  <a:txBody>
                    <a:bodyPr/>
                    <a:lstStyle/>
                    <a:p>
                      <a:pPr algn="l" fontAlgn="b"/>
                      <a:r>
                        <a:rPr lang="es-NI" sz="1600" b="0" u="none" strike="noStrike" dirty="0">
                          <a:effectLst/>
                        </a:rPr>
                        <a:t>Ingreso por ventas</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6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32872509"/>
                  </a:ext>
                </a:extLst>
              </a:tr>
              <a:tr h="277857">
                <a:tc>
                  <a:txBody>
                    <a:bodyPr/>
                    <a:lstStyle/>
                    <a:p>
                      <a:pPr algn="l" fontAlgn="b"/>
                      <a:r>
                        <a:rPr lang="es-MX" sz="1600" b="0" u="none" strike="noStrike" dirty="0">
                          <a:effectLst/>
                        </a:rPr>
                        <a:t>Modelo X  (1350 unid a $20/unid)</a:t>
                      </a:r>
                      <a:endParaRPr lang="es-MX"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u="none" strike="noStrike" dirty="0">
                          <a:effectLst/>
                        </a:rPr>
                        <a:t>$ 27,000.00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26694666"/>
                  </a:ext>
                </a:extLst>
              </a:tr>
              <a:tr h="277857">
                <a:tc>
                  <a:txBody>
                    <a:bodyPr/>
                    <a:lstStyle/>
                    <a:p>
                      <a:pPr algn="l" fontAlgn="b"/>
                      <a:r>
                        <a:rPr lang="es-MX" sz="1600" b="0" u="none" strike="noStrike" dirty="0">
                          <a:effectLst/>
                        </a:rPr>
                        <a:t>Modelo Y (2700 unid a $40/unid) </a:t>
                      </a:r>
                      <a:endParaRPr lang="es-MX"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u="none" strike="noStrike" dirty="0">
                          <a:effectLst/>
                        </a:rPr>
                        <a:t>$ 108,000.00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68226090"/>
                  </a:ext>
                </a:extLst>
              </a:tr>
              <a:tr h="277857">
                <a:tc>
                  <a:txBody>
                    <a:bodyPr/>
                    <a:lstStyle/>
                    <a:p>
                      <a:pPr algn="l" fontAlgn="b"/>
                      <a:r>
                        <a:rPr lang="es-NI" sz="1600" b="1" u="none" strike="noStrike" dirty="0">
                          <a:effectLst/>
                        </a:rPr>
                        <a:t>Ingreso por ventas</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sng" strike="noStrike" dirty="0">
                          <a:effectLst/>
                        </a:rPr>
                        <a:t>$ 135,000.00</a:t>
                      </a:r>
                      <a:endParaRPr lang="es-NI" sz="1600" b="1" i="0" u="sng"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9081707"/>
                  </a:ext>
                </a:extLst>
              </a:tr>
              <a:tr h="277857">
                <a:tc>
                  <a:txBody>
                    <a:bodyPr/>
                    <a:lstStyle/>
                    <a:p>
                      <a:pPr algn="l" fontAlgn="b"/>
                      <a:r>
                        <a:rPr lang="es-MX" sz="1600" b="0" u="none" strike="noStrike" dirty="0">
                          <a:effectLst/>
                          <a:highlight>
                            <a:srgbClr val="FFFF00"/>
                          </a:highlight>
                        </a:rPr>
                        <a:t>Menos: Costo de los bienes vendidos (0.80)</a:t>
                      </a:r>
                      <a:endParaRPr lang="es-MX" sz="1600" b="0" i="0" u="none" strike="noStrike" dirty="0">
                        <a:solidFill>
                          <a:srgbClr val="7030A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600" b="0" u="none" strike="noStrike" dirty="0">
                          <a:effectLst/>
                          <a:highlight>
                            <a:srgbClr val="FFFF00"/>
                          </a:highlight>
                        </a:rPr>
                        <a:t>$ 108,000.00</a:t>
                      </a:r>
                      <a:endParaRPr lang="es-NI" sz="1600" b="0" i="0" u="none" strike="noStrike" dirty="0">
                        <a:solidFill>
                          <a:srgbClr val="7030A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4063184625"/>
                  </a:ext>
                </a:extLst>
              </a:tr>
              <a:tr h="277857">
                <a:tc>
                  <a:txBody>
                    <a:bodyPr/>
                    <a:lstStyle/>
                    <a:p>
                      <a:pPr algn="l" fontAlgn="b"/>
                      <a:r>
                        <a:rPr lang="es-NI" sz="1600" b="1" u="none" strike="noStrike" dirty="0">
                          <a:effectLst/>
                        </a:rPr>
                        <a:t>Utilidad bruta</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sng" strike="noStrike" dirty="0">
                          <a:effectLst/>
                        </a:rPr>
                        <a:t>$ 27,000.00</a:t>
                      </a:r>
                      <a:endParaRPr lang="es-NI" sz="1600" b="1" i="0" u="sng"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26481533"/>
                  </a:ext>
                </a:extLst>
              </a:tr>
              <a:tr h="277857">
                <a:tc>
                  <a:txBody>
                    <a:bodyPr/>
                    <a:lstStyle/>
                    <a:p>
                      <a:pPr algn="l" fontAlgn="b"/>
                      <a:r>
                        <a:rPr lang="es-NI" sz="1600" b="0" u="none" strike="noStrike" dirty="0">
                          <a:effectLst/>
                          <a:highlight>
                            <a:srgbClr val="FFFF00"/>
                          </a:highlight>
                        </a:rPr>
                        <a:t>Menos: Gastos operativos(0.10)</a:t>
                      </a:r>
                      <a:endParaRPr lang="es-NI" sz="1600" b="0" i="0" u="none" strike="noStrike" dirty="0">
                        <a:solidFill>
                          <a:srgbClr val="7030A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600" b="0" u="none" strike="noStrike" dirty="0">
                          <a:effectLst/>
                          <a:highlight>
                            <a:srgbClr val="FFFF00"/>
                          </a:highlight>
                        </a:rPr>
                        <a:t>$ 13,500.00</a:t>
                      </a:r>
                      <a:endParaRPr lang="es-NI" sz="1600" b="0" i="0" u="none" strike="noStrike" dirty="0">
                        <a:solidFill>
                          <a:srgbClr val="7030A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1698059882"/>
                  </a:ext>
                </a:extLst>
              </a:tr>
              <a:tr h="277857">
                <a:tc>
                  <a:txBody>
                    <a:bodyPr/>
                    <a:lstStyle/>
                    <a:p>
                      <a:pPr algn="l" fontAlgn="b"/>
                      <a:r>
                        <a:rPr lang="es-NI" sz="1600" b="1" u="none" strike="noStrike" dirty="0">
                          <a:effectLst/>
                        </a:rPr>
                        <a:t>Utilidad operativa</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$ 13,500.00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49377057"/>
                  </a:ext>
                </a:extLst>
              </a:tr>
              <a:tr h="277857">
                <a:tc>
                  <a:txBody>
                    <a:bodyPr/>
                    <a:lstStyle/>
                    <a:p>
                      <a:pPr algn="l" fontAlgn="b"/>
                      <a:r>
                        <a:rPr lang="es-NI" sz="1600" b="0" u="none" strike="noStrike" dirty="0">
                          <a:effectLst/>
                          <a:highlight>
                            <a:srgbClr val="FFFF00"/>
                          </a:highlight>
                        </a:rPr>
                        <a:t>Menos: Gastos  por intereses (0.01)</a:t>
                      </a:r>
                      <a:endParaRPr lang="es-NI" sz="1600" b="0" i="0" u="none" strike="noStrike" dirty="0">
                        <a:solidFill>
                          <a:srgbClr val="7030A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600" b="0" u="none" strike="noStrike" dirty="0">
                          <a:effectLst/>
                          <a:highlight>
                            <a:srgbClr val="FFFF00"/>
                          </a:highlight>
                        </a:rPr>
                        <a:t>$ 1,350.00</a:t>
                      </a:r>
                      <a:endParaRPr lang="es-NI" sz="1600" b="0" i="0" u="none" strike="noStrike" dirty="0">
                        <a:solidFill>
                          <a:srgbClr val="7030A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2790036461"/>
                  </a:ext>
                </a:extLst>
              </a:tr>
              <a:tr h="277857">
                <a:tc>
                  <a:txBody>
                    <a:bodyPr/>
                    <a:lstStyle/>
                    <a:p>
                      <a:pPr algn="l" fontAlgn="b"/>
                      <a:r>
                        <a:rPr lang="es-MX" sz="1600" b="0" u="none" strike="noStrike" dirty="0">
                          <a:effectLst/>
                        </a:rPr>
                        <a:t>Utilidad  neta antes de impuesto</a:t>
                      </a:r>
                      <a:endParaRPr lang="es-MX"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u="none" strike="noStrike" dirty="0">
                          <a:effectLst/>
                        </a:rPr>
                        <a:t>$ 12,150.00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87916193"/>
                  </a:ext>
                </a:extLst>
              </a:tr>
              <a:tr h="277857">
                <a:tc>
                  <a:txBody>
                    <a:bodyPr/>
                    <a:lstStyle/>
                    <a:p>
                      <a:pPr algn="l" fontAlgn="b"/>
                      <a:r>
                        <a:rPr lang="es-NI" sz="1600" b="0" u="none" strike="noStrike" dirty="0">
                          <a:effectLst/>
                        </a:rPr>
                        <a:t>Menos: Impuestos (0.15X$12,150)</a:t>
                      </a:r>
                      <a:endParaRPr lang="es-NI"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u="none" strike="noStrike" dirty="0">
                          <a:effectLst/>
                        </a:rPr>
                        <a:t>$ 1,822.50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41959102"/>
                  </a:ext>
                </a:extLst>
              </a:tr>
              <a:tr h="277857">
                <a:tc>
                  <a:txBody>
                    <a:bodyPr/>
                    <a:lstStyle/>
                    <a:p>
                      <a:pPr algn="l" fontAlgn="b"/>
                      <a:r>
                        <a:rPr lang="es-MX" sz="1600" b="0" u="none" strike="noStrike">
                          <a:effectLst/>
                        </a:rPr>
                        <a:t>Utilidad neta después de impuestos</a:t>
                      </a:r>
                      <a:endParaRPr lang="es-MX"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u="none" strike="noStrike" dirty="0">
                          <a:effectLst/>
                        </a:rPr>
                        <a:t>$ 10,327.50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56156948"/>
                  </a:ext>
                </a:extLst>
              </a:tr>
              <a:tr h="277857">
                <a:tc>
                  <a:txBody>
                    <a:bodyPr/>
                    <a:lstStyle/>
                    <a:p>
                      <a:pPr algn="l" fontAlgn="b"/>
                      <a:r>
                        <a:rPr lang="es-NI" sz="1600" b="0" u="none" strike="noStrike">
                          <a:effectLst/>
                        </a:rPr>
                        <a:t>Menos: Dividendos de acciones comunes</a:t>
                      </a:r>
                      <a:endParaRPr lang="es-NI" sz="16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600" b="0" u="none" strike="noStrike" dirty="0">
                          <a:effectLst/>
                        </a:rPr>
                        <a:t>$ 4,000.00</a:t>
                      </a:r>
                      <a:endParaRPr lang="es-NI"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71202688"/>
                  </a:ext>
                </a:extLst>
              </a:tr>
              <a:tr h="277857">
                <a:tc>
                  <a:txBody>
                    <a:bodyPr/>
                    <a:lstStyle/>
                    <a:p>
                      <a:pPr algn="l" fontAlgn="b"/>
                      <a:r>
                        <a:rPr lang="es-NI" sz="1600" b="1" u="none" strike="noStrike" dirty="0">
                          <a:effectLst/>
                        </a:rPr>
                        <a:t>Utilidades retenidas</a:t>
                      </a:r>
                      <a:endParaRPr lang="es-NI" sz="16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600" b="1" u="none" strike="noStrike" dirty="0">
                          <a:effectLst/>
                        </a:rPr>
                        <a:t>$ 6,327.50</a:t>
                      </a:r>
                      <a:endParaRPr lang="es-NI"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21097124"/>
                  </a:ext>
                </a:extLst>
              </a:tr>
            </a:tbl>
          </a:graphicData>
        </a:graphic>
      </p:graphicFrame>
      <p:sp>
        <p:nvSpPr>
          <p:cNvPr id="7" name="CuadroTexto 6">
            <a:extLst>
              <a:ext uri="{FF2B5EF4-FFF2-40B4-BE49-F238E27FC236}">
                <a16:creationId xmlns:a16="http://schemas.microsoft.com/office/drawing/2014/main" id="{45CF0E1A-014F-4124-B16B-39B5858C6F5E}"/>
              </a:ext>
            </a:extLst>
          </p:cNvPr>
          <p:cNvSpPr txBox="1"/>
          <p:nvPr/>
        </p:nvSpPr>
        <p:spPr>
          <a:xfrm>
            <a:off x="1429555" y="1168941"/>
            <a:ext cx="3957693" cy="4524315"/>
          </a:xfrm>
          <a:prstGeom prst="rect">
            <a:avLst/>
          </a:prstGeom>
          <a:noFill/>
        </p:spPr>
        <p:txBody>
          <a:bodyPr wrap="square">
            <a:spAutoFit/>
          </a:bodyPr>
          <a:lstStyle/>
          <a:p>
            <a:pPr algn="just"/>
            <a:r>
              <a:rPr lang="es-ES" dirty="0"/>
              <a:t>La técnica que se usa para elaborar el estado de resultados pro forma  supone que todos los costos y gastos de la empresa son variables; es decir, suponemos que para un aumento porcentual determinado en las ventas, se generará el mismo aumento porcentual del costo de los bienes vendidos, los gastos operativos y los gastos por intereses. Por ejemplo, al aumentar las ventas de </a:t>
            </a:r>
            <a:r>
              <a:rPr lang="es-ES" dirty="0" err="1"/>
              <a:t>Vectra</a:t>
            </a:r>
            <a:r>
              <a:rPr lang="es-ES" dirty="0"/>
              <a:t> en un 35%, suponemos que los costos de los bienes vendidos también aumentaron un 35%. De acuerdo con este supuesto, la utilidad neta antes de impuestos de la empresa también aumentó en un 35%.</a:t>
            </a:r>
            <a:endParaRPr lang="es-NI" dirty="0"/>
          </a:p>
        </p:txBody>
      </p:sp>
      <p:sp>
        <p:nvSpPr>
          <p:cNvPr id="4" name="CuadroTexto 3">
            <a:extLst>
              <a:ext uri="{FF2B5EF4-FFF2-40B4-BE49-F238E27FC236}">
                <a16:creationId xmlns:a16="http://schemas.microsoft.com/office/drawing/2014/main" id="{57DFB32B-D081-4A60-B7D8-EA8E6BADB96C}"/>
              </a:ext>
            </a:extLst>
          </p:cNvPr>
          <p:cNvSpPr txBox="1"/>
          <p:nvPr/>
        </p:nvSpPr>
        <p:spPr>
          <a:xfrm>
            <a:off x="1429555" y="5784871"/>
            <a:ext cx="4497900" cy="338554"/>
          </a:xfrm>
          <a:prstGeom prst="rect">
            <a:avLst/>
          </a:prstGeom>
          <a:noFill/>
        </p:spPr>
        <p:txBody>
          <a:bodyPr wrap="square">
            <a:spAutoFit/>
          </a:bodyPr>
          <a:lstStyle/>
          <a:p>
            <a:pPr algn="just"/>
            <a:r>
              <a:rPr lang="es-ES" sz="1600" dirty="0">
                <a:highlight>
                  <a:srgbClr val="FFFF00"/>
                </a:highlight>
              </a:rPr>
              <a:t>135000-100000=35000/100000=0.35</a:t>
            </a:r>
            <a:r>
              <a:rPr lang="es-NI" sz="1600" dirty="0">
                <a:highlight>
                  <a:srgbClr val="FFFF00"/>
                </a:highlight>
              </a:rPr>
              <a:t>*100=35%</a:t>
            </a:r>
            <a:endParaRPr lang="es-ES" sz="1600" dirty="0">
              <a:highlight>
                <a:srgbClr val="FFFF00"/>
              </a:highlight>
            </a:endParaRPr>
          </a:p>
        </p:txBody>
      </p:sp>
    </p:spTree>
    <p:extLst>
      <p:ext uri="{BB962C8B-B14F-4D97-AF65-F5344CB8AC3E}">
        <p14:creationId xmlns:p14="http://schemas.microsoft.com/office/powerpoint/2010/main" val="1318420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7" name="CuadroTexto 6">
            <a:extLst>
              <a:ext uri="{FF2B5EF4-FFF2-40B4-BE49-F238E27FC236}">
                <a16:creationId xmlns:a16="http://schemas.microsoft.com/office/drawing/2014/main" id="{E2F655DF-D308-483A-93CC-F05F464E78DF}"/>
              </a:ext>
            </a:extLst>
          </p:cNvPr>
          <p:cNvSpPr txBox="1"/>
          <p:nvPr/>
        </p:nvSpPr>
        <p:spPr>
          <a:xfrm>
            <a:off x="1758166" y="813512"/>
            <a:ext cx="10105222" cy="646331"/>
          </a:xfrm>
          <a:prstGeom prst="rect">
            <a:avLst/>
          </a:prstGeom>
          <a:noFill/>
        </p:spPr>
        <p:txBody>
          <a:bodyPr wrap="square">
            <a:spAutoFit/>
          </a:bodyPr>
          <a:lstStyle/>
          <a:p>
            <a:r>
              <a:rPr lang="es-ES" dirty="0"/>
              <a:t>A continuación se presentan los estados de resultados, real de 2012 y pro forma de 2013, de </a:t>
            </a:r>
            <a:r>
              <a:rPr lang="es-ES" dirty="0" err="1"/>
              <a:t>Vectra</a:t>
            </a:r>
            <a:r>
              <a:rPr lang="es-ES" dirty="0"/>
              <a:t> </a:t>
            </a:r>
            <a:r>
              <a:rPr lang="es-ES" dirty="0" err="1"/>
              <a:t>Manufacturing</a:t>
            </a:r>
            <a:r>
              <a:rPr lang="es-ES" dirty="0"/>
              <a:t>, clasificados en componentes de costos y gastos fijos y variables</a:t>
            </a:r>
            <a:endParaRPr lang="es-NI" dirty="0"/>
          </a:p>
        </p:txBody>
      </p:sp>
      <p:graphicFrame>
        <p:nvGraphicFramePr>
          <p:cNvPr id="3" name="Tabla 2">
            <a:extLst>
              <a:ext uri="{FF2B5EF4-FFF2-40B4-BE49-F238E27FC236}">
                <a16:creationId xmlns:a16="http://schemas.microsoft.com/office/drawing/2014/main" id="{04ECE676-A243-4EB0-BA72-D62A996C5B12}"/>
              </a:ext>
            </a:extLst>
          </p:cNvPr>
          <p:cNvGraphicFramePr>
            <a:graphicFrameLocks noGrp="1"/>
          </p:cNvGraphicFramePr>
          <p:nvPr>
            <p:extLst>
              <p:ext uri="{D42A27DB-BD31-4B8C-83A1-F6EECF244321}">
                <p14:modId xmlns:p14="http://schemas.microsoft.com/office/powerpoint/2010/main" val="2262885847"/>
              </p:ext>
            </p:extLst>
          </p:nvPr>
        </p:nvGraphicFramePr>
        <p:xfrm>
          <a:off x="1667044" y="1553424"/>
          <a:ext cx="4208443" cy="4671060"/>
        </p:xfrm>
        <a:graphic>
          <a:graphicData uri="http://schemas.openxmlformats.org/drawingml/2006/table">
            <a:tbl>
              <a:tblPr>
                <a:tableStyleId>{5C22544A-7EE6-4342-B048-85BDC9FD1C3A}</a:tableStyleId>
              </a:tblPr>
              <a:tblGrid>
                <a:gridCol w="2624853">
                  <a:extLst>
                    <a:ext uri="{9D8B030D-6E8A-4147-A177-3AD203B41FA5}">
                      <a16:colId xmlns:a16="http://schemas.microsoft.com/office/drawing/2014/main" val="4215551843"/>
                    </a:ext>
                  </a:extLst>
                </a:gridCol>
                <a:gridCol w="1583590">
                  <a:extLst>
                    <a:ext uri="{9D8B030D-6E8A-4147-A177-3AD203B41FA5}">
                      <a16:colId xmlns:a16="http://schemas.microsoft.com/office/drawing/2014/main" val="144882937"/>
                    </a:ext>
                  </a:extLst>
                </a:gridCol>
              </a:tblGrid>
              <a:tr h="0">
                <a:tc gridSpan="2">
                  <a:txBody>
                    <a:bodyPr/>
                    <a:lstStyle/>
                    <a:p>
                      <a:pPr algn="ctr" fontAlgn="b"/>
                      <a:r>
                        <a:rPr lang="es-NI" sz="1400" u="none" strike="noStrike" dirty="0" err="1">
                          <a:effectLst/>
                        </a:rPr>
                        <a:t>Vectra</a:t>
                      </a:r>
                      <a:r>
                        <a:rPr lang="es-NI" sz="1400" u="none" strike="noStrike" dirty="0">
                          <a:effectLst/>
                        </a:rPr>
                        <a:t> </a:t>
                      </a:r>
                      <a:r>
                        <a:rPr lang="es-NI" sz="1400" u="none" strike="noStrike" dirty="0" err="1">
                          <a:effectLst/>
                        </a:rPr>
                        <a:t>Manufacturing</a:t>
                      </a:r>
                      <a:r>
                        <a:rPr lang="es-NI" sz="1400" u="none" strike="noStrike" dirty="0">
                          <a:effectLst/>
                        </a:rPr>
                        <a:t> </a:t>
                      </a:r>
                      <a:endParaRPr lang="es-NI"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2580598429"/>
                  </a:ext>
                </a:extLst>
              </a:tr>
              <a:tr h="190500">
                <a:tc gridSpan="2">
                  <a:txBody>
                    <a:bodyPr/>
                    <a:lstStyle/>
                    <a:p>
                      <a:pPr algn="ctr" fontAlgn="b"/>
                      <a:r>
                        <a:rPr lang="es-ES" sz="1400" u="none" strike="noStrike" dirty="0">
                          <a:effectLst/>
                        </a:rPr>
                        <a:t>Estado de Resultado al 31 de diciembre 2012</a:t>
                      </a:r>
                      <a:endParaRPr lang="es-ES"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618402331"/>
                  </a:ext>
                </a:extLst>
              </a:tr>
              <a:tr h="190500">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92361212"/>
                  </a:ext>
                </a:extLst>
              </a:tr>
              <a:tr h="190500">
                <a:tc>
                  <a:txBody>
                    <a:bodyPr/>
                    <a:lstStyle/>
                    <a:p>
                      <a:pPr algn="l" fontAlgn="b"/>
                      <a:r>
                        <a:rPr lang="es-NI" sz="1400" u="none" strike="noStrike" dirty="0">
                          <a:effectLst/>
                        </a:rPr>
                        <a:t>Ingreso por ventas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85840748"/>
                  </a:ext>
                </a:extLst>
              </a:tr>
              <a:tr h="190500">
                <a:tc>
                  <a:txBody>
                    <a:bodyPr/>
                    <a:lstStyle/>
                    <a:p>
                      <a:pPr algn="l" fontAlgn="b"/>
                      <a:r>
                        <a:rPr lang="es-ES" sz="1400" u="none" strike="noStrike" dirty="0">
                          <a:effectLst/>
                        </a:rPr>
                        <a:t>Modelo X  (1,000 unid a $20/unid)</a:t>
                      </a:r>
                      <a:endParaRPr lang="es-E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$ 20,000.00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64132493"/>
                  </a:ext>
                </a:extLst>
              </a:tr>
              <a:tr h="190500">
                <a:tc>
                  <a:txBody>
                    <a:bodyPr/>
                    <a:lstStyle/>
                    <a:p>
                      <a:pPr algn="l" fontAlgn="b"/>
                      <a:r>
                        <a:rPr lang="es-ES" sz="1400" u="none" strike="noStrike" dirty="0">
                          <a:effectLst/>
                        </a:rPr>
                        <a:t>Modelo Y (2,000 unid a $40/unid)</a:t>
                      </a:r>
                      <a:endParaRPr lang="es-E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$ 80,000.00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73051164"/>
                  </a:ext>
                </a:extLst>
              </a:tr>
              <a:tr h="190500">
                <a:tc>
                  <a:txBody>
                    <a:bodyPr/>
                    <a:lstStyle/>
                    <a:p>
                      <a:pPr algn="l" fontAlgn="b"/>
                      <a:r>
                        <a:rPr lang="es-NI" sz="1400" u="none" strike="noStrike" dirty="0">
                          <a:effectLst/>
                        </a:rPr>
                        <a:t>Total de ventas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$ 100,000.00</a:t>
                      </a:r>
                      <a:endParaRPr lang="es-NI"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41379742"/>
                  </a:ext>
                </a:extLst>
              </a:tr>
              <a:tr h="190500">
                <a:tc>
                  <a:txBody>
                    <a:bodyPr/>
                    <a:lstStyle/>
                    <a:p>
                      <a:pPr algn="l" fontAlgn="b"/>
                      <a:r>
                        <a:rPr lang="es-ES" sz="1400" u="none" strike="noStrike" dirty="0">
                          <a:effectLst/>
                        </a:rPr>
                        <a:t>Menos: Costo de los bienes vendidos</a:t>
                      </a:r>
                      <a:endParaRPr lang="es-E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42542797"/>
                  </a:ext>
                </a:extLst>
              </a:tr>
              <a:tr h="190500">
                <a:tc>
                  <a:txBody>
                    <a:bodyPr/>
                    <a:lstStyle/>
                    <a:p>
                      <a:pPr algn="l" fontAlgn="b"/>
                      <a:r>
                        <a:rPr lang="es-NI" sz="1400" u="none" strike="noStrike" dirty="0">
                          <a:effectLst/>
                        </a:rPr>
                        <a:t>Mano de obra</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$ 28,500.00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87931812"/>
                  </a:ext>
                </a:extLst>
              </a:tr>
              <a:tr h="190500">
                <a:tc>
                  <a:txBody>
                    <a:bodyPr/>
                    <a:lstStyle/>
                    <a:p>
                      <a:pPr algn="l" fontAlgn="b"/>
                      <a:r>
                        <a:rPr lang="es-NI" sz="1400" u="none" strike="noStrike" dirty="0">
                          <a:effectLst/>
                        </a:rPr>
                        <a:t>Material A</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$ 8,000.00</a:t>
                      </a:r>
                      <a:endParaRPr lang="es-NI"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62653713"/>
                  </a:ext>
                </a:extLst>
              </a:tr>
              <a:tr h="190500">
                <a:tc>
                  <a:txBody>
                    <a:bodyPr/>
                    <a:lstStyle/>
                    <a:p>
                      <a:pPr algn="l" fontAlgn="b"/>
                      <a:r>
                        <a:rPr lang="es-NI" sz="1400" u="none" strike="noStrike" dirty="0">
                          <a:effectLst/>
                        </a:rPr>
                        <a:t>Material B</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$ 5,500.00</a:t>
                      </a:r>
                      <a:endParaRPr lang="es-NI"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74544861"/>
                  </a:ext>
                </a:extLst>
              </a:tr>
              <a:tr h="190500">
                <a:tc>
                  <a:txBody>
                    <a:bodyPr/>
                    <a:lstStyle/>
                    <a:p>
                      <a:pPr algn="l" fontAlgn="b"/>
                      <a:r>
                        <a:rPr lang="es-NI" sz="1400" u="none" strike="noStrike" dirty="0">
                          <a:effectLst/>
                        </a:rPr>
                        <a:t>Gastos generales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$ 38,000.00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62531300"/>
                  </a:ext>
                </a:extLst>
              </a:tr>
              <a:tr h="190500">
                <a:tc>
                  <a:txBody>
                    <a:bodyPr/>
                    <a:lstStyle/>
                    <a:p>
                      <a:pPr algn="l" fontAlgn="b"/>
                      <a:r>
                        <a:rPr lang="es-ES" sz="1400" u="none" strike="noStrike" dirty="0">
                          <a:effectLst/>
                          <a:highlight>
                            <a:srgbClr val="FFFF00"/>
                          </a:highlight>
                        </a:rPr>
                        <a:t>Costo total de los bienes vendidos</a:t>
                      </a:r>
                      <a:endParaRPr lang="es-ES" sz="1400" b="1" i="0" u="none" strike="noStrike" dirty="0">
                        <a:solidFill>
                          <a:srgbClr val="00000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400" u="none" strike="noStrike" dirty="0">
                          <a:effectLst/>
                          <a:highlight>
                            <a:srgbClr val="FFFF00"/>
                          </a:highlight>
                        </a:rPr>
                        <a:t>$ 80,000.00</a:t>
                      </a:r>
                      <a:endParaRPr lang="es-NI" sz="1400" b="1" i="0" u="none" strike="noStrike" dirty="0">
                        <a:solidFill>
                          <a:srgbClr val="00000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4060647524"/>
                  </a:ext>
                </a:extLst>
              </a:tr>
              <a:tr h="190500">
                <a:tc>
                  <a:txBody>
                    <a:bodyPr/>
                    <a:lstStyle/>
                    <a:p>
                      <a:pPr algn="l" fontAlgn="b"/>
                      <a:r>
                        <a:rPr lang="es-NI" sz="1400" u="none" strike="noStrike" dirty="0">
                          <a:effectLst/>
                        </a:rPr>
                        <a:t>Utilidad bruta</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$ 20,000.00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80101853"/>
                  </a:ext>
                </a:extLst>
              </a:tr>
              <a:tr h="190500">
                <a:tc>
                  <a:txBody>
                    <a:bodyPr/>
                    <a:lstStyle/>
                    <a:p>
                      <a:pPr algn="l" fontAlgn="b"/>
                      <a:r>
                        <a:rPr lang="es-NI" sz="1400" u="none" strike="noStrike" dirty="0">
                          <a:effectLst/>
                          <a:highlight>
                            <a:srgbClr val="FFFF00"/>
                          </a:highlight>
                        </a:rPr>
                        <a:t>Menos: Gastos operativos</a:t>
                      </a:r>
                      <a:endParaRPr lang="es-NI" sz="1400" b="0" i="0" u="none" strike="noStrike" dirty="0">
                        <a:solidFill>
                          <a:srgbClr val="00000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400" u="none" strike="noStrike" dirty="0">
                          <a:effectLst/>
                          <a:highlight>
                            <a:srgbClr val="FFFF00"/>
                          </a:highlight>
                        </a:rPr>
                        <a:t>$ 10,000.00</a:t>
                      </a:r>
                      <a:endParaRPr lang="es-NI" sz="1400" b="0" i="0" u="none" strike="noStrike" dirty="0">
                        <a:solidFill>
                          <a:srgbClr val="00000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3268547517"/>
                  </a:ext>
                </a:extLst>
              </a:tr>
              <a:tr h="190500">
                <a:tc>
                  <a:txBody>
                    <a:bodyPr/>
                    <a:lstStyle/>
                    <a:p>
                      <a:pPr algn="l" fontAlgn="b"/>
                      <a:r>
                        <a:rPr lang="es-NI" sz="1400" u="none" strike="noStrike" dirty="0">
                          <a:effectLst/>
                        </a:rPr>
                        <a:t>Utilidad operativa</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$ 10,000.00</a:t>
                      </a:r>
                      <a:endParaRPr lang="es-NI"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98357238"/>
                  </a:ext>
                </a:extLst>
              </a:tr>
              <a:tr h="190500">
                <a:tc>
                  <a:txBody>
                    <a:bodyPr/>
                    <a:lstStyle/>
                    <a:p>
                      <a:pPr algn="l" fontAlgn="b"/>
                      <a:r>
                        <a:rPr lang="es-NI" sz="1400" u="none" strike="noStrike" dirty="0">
                          <a:effectLst/>
                          <a:highlight>
                            <a:srgbClr val="FFFF00"/>
                          </a:highlight>
                        </a:rPr>
                        <a:t>Menos: Gastos  por intereses</a:t>
                      </a:r>
                      <a:endParaRPr lang="es-NI" sz="1400" b="0" i="0" u="none" strike="noStrike" dirty="0">
                        <a:solidFill>
                          <a:srgbClr val="00000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400" u="none" strike="noStrike" dirty="0">
                          <a:effectLst/>
                          <a:highlight>
                            <a:srgbClr val="FFFF00"/>
                          </a:highlight>
                        </a:rPr>
                        <a:t>$ 1,000.00</a:t>
                      </a:r>
                      <a:endParaRPr lang="es-NI" sz="1400" b="0" i="0" u="none" strike="noStrike" dirty="0">
                        <a:solidFill>
                          <a:srgbClr val="00000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3213102883"/>
                  </a:ext>
                </a:extLst>
              </a:tr>
              <a:tr h="190500">
                <a:tc>
                  <a:txBody>
                    <a:bodyPr/>
                    <a:lstStyle/>
                    <a:p>
                      <a:pPr algn="l" fontAlgn="b"/>
                      <a:r>
                        <a:rPr lang="es-ES" sz="1400" u="none" strike="noStrike" dirty="0">
                          <a:effectLst/>
                        </a:rPr>
                        <a:t>Utilidad  neta antes de impuesto</a:t>
                      </a:r>
                      <a:endParaRPr lang="es-E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$ 9,000.00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98077324"/>
                  </a:ext>
                </a:extLst>
              </a:tr>
              <a:tr h="190500">
                <a:tc>
                  <a:txBody>
                    <a:bodyPr/>
                    <a:lstStyle/>
                    <a:p>
                      <a:pPr algn="l" fontAlgn="b"/>
                      <a:r>
                        <a:rPr lang="es-NI" sz="1400" u="none" strike="noStrike">
                          <a:effectLst/>
                        </a:rPr>
                        <a:t>Menos: Impuestos (0.15X9000)</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$ 1,350.00</a:t>
                      </a:r>
                      <a:endParaRPr lang="es-NI"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62980297"/>
                  </a:ext>
                </a:extLst>
              </a:tr>
              <a:tr h="190500">
                <a:tc>
                  <a:txBody>
                    <a:bodyPr/>
                    <a:lstStyle/>
                    <a:p>
                      <a:pPr algn="l" fontAlgn="b"/>
                      <a:r>
                        <a:rPr lang="es-ES" sz="1400" u="none" strike="noStrike" dirty="0">
                          <a:effectLst/>
                        </a:rPr>
                        <a:t>Utilidad neta después de impuestos</a:t>
                      </a:r>
                      <a:endParaRPr lang="es-E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$ 7,650.00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44417225"/>
                  </a:ext>
                </a:extLst>
              </a:tr>
            </a:tbl>
          </a:graphicData>
        </a:graphic>
      </p:graphicFrame>
      <p:graphicFrame>
        <p:nvGraphicFramePr>
          <p:cNvPr id="4" name="Tabla 3">
            <a:extLst>
              <a:ext uri="{FF2B5EF4-FFF2-40B4-BE49-F238E27FC236}">
                <a16:creationId xmlns:a16="http://schemas.microsoft.com/office/drawing/2014/main" id="{644FE304-E848-4080-84D5-FBF32A2B2204}"/>
              </a:ext>
            </a:extLst>
          </p:cNvPr>
          <p:cNvGraphicFramePr>
            <a:graphicFrameLocks noGrp="1"/>
          </p:cNvGraphicFramePr>
          <p:nvPr>
            <p:extLst>
              <p:ext uri="{D42A27DB-BD31-4B8C-83A1-F6EECF244321}">
                <p14:modId xmlns:p14="http://schemas.microsoft.com/office/powerpoint/2010/main" val="4145471569"/>
              </p:ext>
            </p:extLst>
          </p:nvPr>
        </p:nvGraphicFramePr>
        <p:xfrm>
          <a:off x="7170552" y="1903929"/>
          <a:ext cx="4458159" cy="3789045"/>
        </p:xfrm>
        <a:graphic>
          <a:graphicData uri="http://schemas.openxmlformats.org/drawingml/2006/table">
            <a:tbl>
              <a:tblPr>
                <a:tableStyleId>{5C22544A-7EE6-4342-B048-85BDC9FD1C3A}</a:tableStyleId>
              </a:tblPr>
              <a:tblGrid>
                <a:gridCol w="3378448">
                  <a:extLst>
                    <a:ext uri="{9D8B030D-6E8A-4147-A177-3AD203B41FA5}">
                      <a16:colId xmlns:a16="http://schemas.microsoft.com/office/drawing/2014/main" val="3344228525"/>
                    </a:ext>
                  </a:extLst>
                </a:gridCol>
                <a:gridCol w="1079711">
                  <a:extLst>
                    <a:ext uri="{9D8B030D-6E8A-4147-A177-3AD203B41FA5}">
                      <a16:colId xmlns:a16="http://schemas.microsoft.com/office/drawing/2014/main" val="2576402401"/>
                    </a:ext>
                  </a:extLst>
                </a:gridCol>
              </a:tblGrid>
              <a:tr h="190500">
                <a:tc gridSpan="2">
                  <a:txBody>
                    <a:bodyPr/>
                    <a:lstStyle/>
                    <a:p>
                      <a:pPr algn="ctr" fontAlgn="b"/>
                      <a:r>
                        <a:rPr lang="es-NI" sz="1400" u="none" strike="noStrike" dirty="0" err="1">
                          <a:effectLst/>
                        </a:rPr>
                        <a:t>Vectra</a:t>
                      </a:r>
                      <a:r>
                        <a:rPr lang="es-NI" sz="1400" u="none" strike="noStrike" dirty="0">
                          <a:effectLst/>
                        </a:rPr>
                        <a:t> </a:t>
                      </a:r>
                      <a:r>
                        <a:rPr lang="es-NI" sz="1400" u="none" strike="noStrike" dirty="0" err="1">
                          <a:effectLst/>
                        </a:rPr>
                        <a:t>Manufacturing</a:t>
                      </a:r>
                      <a:r>
                        <a:rPr lang="es-NI" sz="1400" u="none" strike="noStrike" dirty="0">
                          <a:effectLst/>
                        </a:rPr>
                        <a:t> </a:t>
                      </a:r>
                      <a:endParaRPr lang="es-NI"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1248080522"/>
                  </a:ext>
                </a:extLst>
              </a:tr>
              <a:tr h="190500">
                <a:tc gridSpan="2">
                  <a:txBody>
                    <a:bodyPr/>
                    <a:lstStyle/>
                    <a:p>
                      <a:pPr algn="ctr" fontAlgn="b"/>
                      <a:r>
                        <a:rPr lang="es-NI" sz="1400" u="none" strike="noStrike" dirty="0">
                          <a:effectLst/>
                        </a:rPr>
                        <a:t>Estado de Resultado  Proforma 2013</a:t>
                      </a:r>
                      <a:endParaRPr lang="es-NI"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extLst>
                  <a:ext uri="{0D108BD9-81ED-4DB2-BD59-A6C34878D82A}">
                    <a16:rowId xmlns:a16="http://schemas.microsoft.com/office/drawing/2014/main" val="2096737783"/>
                  </a:ext>
                </a:extLst>
              </a:tr>
              <a:tr h="190500">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77951271"/>
                  </a:ext>
                </a:extLst>
              </a:tr>
              <a:tr h="190500">
                <a:tc>
                  <a:txBody>
                    <a:bodyPr/>
                    <a:lstStyle/>
                    <a:p>
                      <a:pPr algn="l" fontAlgn="b"/>
                      <a:r>
                        <a:rPr lang="es-NI" sz="1400" u="none" strike="noStrike" dirty="0">
                          <a:effectLst/>
                        </a:rPr>
                        <a:t>Ingreso por ventas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48721729"/>
                  </a:ext>
                </a:extLst>
              </a:tr>
              <a:tr h="190500">
                <a:tc>
                  <a:txBody>
                    <a:bodyPr/>
                    <a:lstStyle/>
                    <a:p>
                      <a:pPr algn="l" fontAlgn="b"/>
                      <a:r>
                        <a:rPr lang="es-ES" sz="1400" u="none" strike="noStrike" dirty="0">
                          <a:effectLst/>
                        </a:rPr>
                        <a:t>Modelo X  </a:t>
                      </a:r>
                      <a:r>
                        <a:rPr lang="es-MX" sz="1400" b="0" u="none" strike="noStrike" dirty="0">
                          <a:effectLst/>
                        </a:rPr>
                        <a:t>(1350 unid a $20/unid)</a:t>
                      </a:r>
                      <a:endParaRPr lang="es-E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0" u="none" strike="noStrike" dirty="0">
                          <a:effectLst/>
                        </a:rPr>
                        <a:t>$ 27,000.00</a:t>
                      </a:r>
                      <a:endParaRPr lang="es-NI"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9500783"/>
                  </a:ext>
                </a:extLst>
              </a:tr>
              <a:tr h="190500">
                <a:tc>
                  <a:txBody>
                    <a:bodyPr/>
                    <a:lstStyle/>
                    <a:p>
                      <a:pPr algn="l" fontAlgn="b"/>
                      <a:r>
                        <a:rPr lang="es-ES" sz="1400" u="none" strike="noStrike" dirty="0">
                          <a:effectLst/>
                        </a:rPr>
                        <a:t>Modelo Y </a:t>
                      </a:r>
                      <a:r>
                        <a:rPr lang="es-MX" sz="1400" b="0" u="none" strike="noStrike" dirty="0">
                          <a:effectLst/>
                        </a:rPr>
                        <a:t>(2700 unid a $40/unid) </a:t>
                      </a:r>
                      <a:endParaRPr lang="es-E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0" u="none" strike="noStrike" dirty="0">
                          <a:effectLst/>
                        </a:rPr>
                        <a:t>$ 108,000.00</a:t>
                      </a:r>
                      <a:endParaRPr lang="es-NI"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51069809"/>
                  </a:ext>
                </a:extLst>
              </a:tr>
              <a:tr h="190500">
                <a:tc>
                  <a:txBody>
                    <a:bodyPr/>
                    <a:lstStyle/>
                    <a:p>
                      <a:pPr algn="l" fontAlgn="b"/>
                      <a:r>
                        <a:rPr lang="es-NI" sz="1400" u="none" strike="noStrike" dirty="0">
                          <a:effectLst/>
                        </a:rPr>
                        <a:t>Ingreso por ventas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$ 135,000.00</a:t>
                      </a:r>
                      <a:endParaRPr lang="es-NI"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35751217"/>
                  </a:ext>
                </a:extLst>
              </a:tr>
              <a:tr h="190500">
                <a:tc>
                  <a:txBody>
                    <a:bodyPr/>
                    <a:lstStyle/>
                    <a:p>
                      <a:pPr algn="l" fontAlgn="b"/>
                      <a:r>
                        <a:rPr lang="es-ES" sz="1400" u="none" strike="noStrike" dirty="0">
                          <a:effectLst/>
                          <a:highlight>
                            <a:srgbClr val="FFFF00"/>
                          </a:highlight>
                        </a:rPr>
                        <a:t>Menos: Costo de los bienes vendidos (0.80)</a:t>
                      </a:r>
                      <a:endParaRPr lang="es-ES" sz="1400" b="1" i="0" u="none" strike="noStrike" dirty="0">
                        <a:solidFill>
                          <a:srgbClr val="7030A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400" u="none" strike="noStrike" dirty="0">
                          <a:effectLst/>
                          <a:highlight>
                            <a:srgbClr val="FFFF00"/>
                          </a:highlight>
                        </a:rPr>
                        <a:t>$ 108,000.00</a:t>
                      </a:r>
                      <a:endParaRPr lang="es-NI" sz="1400" b="0" i="0" u="none" strike="noStrike" dirty="0">
                        <a:solidFill>
                          <a:srgbClr val="7030A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3266955762"/>
                  </a:ext>
                </a:extLst>
              </a:tr>
              <a:tr h="190500">
                <a:tc>
                  <a:txBody>
                    <a:bodyPr/>
                    <a:lstStyle/>
                    <a:p>
                      <a:pPr algn="l" fontAlgn="b"/>
                      <a:r>
                        <a:rPr lang="es-NI" sz="1400" u="none" strike="noStrike" dirty="0">
                          <a:effectLst/>
                        </a:rPr>
                        <a:t>Utilidad bruta</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$ 27,000.00</a:t>
                      </a:r>
                      <a:endParaRPr lang="es-NI"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39394564"/>
                  </a:ext>
                </a:extLst>
              </a:tr>
              <a:tr h="190500">
                <a:tc>
                  <a:txBody>
                    <a:bodyPr/>
                    <a:lstStyle/>
                    <a:p>
                      <a:pPr algn="l" fontAlgn="b"/>
                      <a:r>
                        <a:rPr lang="es-NI" sz="1400" u="none" strike="noStrike" dirty="0">
                          <a:effectLst/>
                          <a:highlight>
                            <a:srgbClr val="FFFF00"/>
                          </a:highlight>
                        </a:rPr>
                        <a:t>Menos: Gastos operativos(0.10)</a:t>
                      </a:r>
                      <a:endParaRPr lang="es-NI" sz="1400" b="0" i="0" u="none" strike="noStrike" dirty="0">
                        <a:solidFill>
                          <a:srgbClr val="7030A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400" u="none" strike="noStrike" dirty="0">
                          <a:effectLst/>
                          <a:highlight>
                            <a:srgbClr val="FFFF00"/>
                          </a:highlight>
                        </a:rPr>
                        <a:t>$ 13,500.00</a:t>
                      </a:r>
                      <a:endParaRPr lang="es-NI" sz="1400" b="0" i="0" u="none" strike="noStrike" dirty="0">
                        <a:solidFill>
                          <a:srgbClr val="7030A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3216047555"/>
                  </a:ext>
                </a:extLst>
              </a:tr>
              <a:tr h="190500">
                <a:tc>
                  <a:txBody>
                    <a:bodyPr/>
                    <a:lstStyle/>
                    <a:p>
                      <a:pPr algn="l" fontAlgn="b"/>
                      <a:r>
                        <a:rPr lang="es-NI" sz="1400" u="none" strike="noStrike" dirty="0">
                          <a:effectLst/>
                        </a:rPr>
                        <a:t>Utilidad operativa</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$ 13,500.00</a:t>
                      </a:r>
                      <a:endParaRPr lang="es-NI"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26030314"/>
                  </a:ext>
                </a:extLst>
              </a:tr>
              <a:tr h="190500">
                <a:tc>
                  <a:txBody>
                    <a:bodyPr/>
                    <a:lstStyle/>
                    <a:p>
                      <a:pPr algn="l" fontAlgn="b"/>
                      <a:r>
                        <a:rPr lang="es-NI" sz="1400" u="none" strike="noStrike" dirty="0">
                          <a:effectLst/>
                          <a:highlight>
                            <a:srgbClr val="FFFF00"/>
                          </a:highlight>
                        </a:rPr>
                        <a:t>Menos: Gastos  por intereses (0.01)</a:t>
                      </a:r>
                      <a:endParaRPr lang="es-NI" sz="1400" b="1" i="0" u="none" strike="noStrike" dirty="0">
                        <a:solidFill>
                          <a:srgbClr val="7030A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400" u="none" strike="noStrike" dirty="0">
                          <a:effectLst/>
                          <a:highlight>
                            <a:srgbClr val="FFFF00"/>
                          </a:highlight>
                        </a:rPr>
                        <a:t>$ 1,350.00</a:t>
                      </a:r>
                      <a:endParaRPr lang="es-NI" sz="1400" b="1" i="0" u="none" strike="noStrike" dirty="0">
                        <a:solidFill>
                          <a:srgbClr val="7030A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3093908871"/>
                  </a:ext>
                </a:extLst>
              </a:tr>
              <a:tr h="190500">
                <a:tc>
                  <a:txBody>
                    <a:bodyPr/>
                    <a:lstStyle/>
                    <a:p>
                      <a:pPr algn="l" fontAlgn="b"/>
                      <a:r>
                        <a:rPr lang="es-ES" sz="1400" u="none" strike="noStrike" dirty="0">
                          <a:effectLst/>
                        </a:rPr>
                        <a:t>Utilidad  neta antes de impuesto</a:t>
                      </a:r>
                      <a:endParaRPr lang="es-E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$ 12,150.00</a:t>
                      </a:r>
                      <a:endParaRPr lang="es-NI" sz="14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14647065"/>
                  </a:ext>
                </a:extLst>
              </a:tr>
              <a:tr h="190500">
                <a:tc>
                  <a:txBody>
                    <a:bodyPr/>
                    <a:lstStyle/>
                    <a:p>
                      <a:pPr algn="l" fontAlgn="b"/>
                      <a:r>
                        <a:rPr lang="es-NI" sz="1400" u="none" strike="noStrike" dirty="0">
                          <a:effectLst/>
                        </a:rPr>
                        <a:t>Menos: Impuestos (0.15X$12,150)</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$ 1,822.50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57642111"/>
                  </a:ext>
                </a:extLst>
              </a:tr>
              <a:tr h="190500">
                <a:tc>
                  <a:txBody>
                    <a:bodyPr/>
                    <a:lstStyle/>
                    <a:p>
                      <a:pPr algn="l" fontAlgn="b"/>
                      <a:r>
                        <a:rPr lang="es-ES" sz="1400" u="none" strike="noStrike" dirty="0">
                          <a:effectLst/>
                          <a:highlight>
                            <a:srgbClr val="FFFF00"/>
                          </a:highlight>
                        </a:rPr>
                        <a:t>Utilidad neta después de impuestos</a:t>
                      </a:r>
                      <a:endParaRPr lang="es-ES" sz="1400" b="1" i="0" u="none" strike="noStrike" dirty="0">
                        <a:solidFill>
                          <a:srgbClr val="000000"/>
                        </a:solidFill>
                        <a:effectLst/>
                        <a:highlight>
                          <a:srgbClr val="FFFF00"/>
                        </a:highlight>
                        <a:latin typeface="Calibri" panose="020F0502020204030204" pitchFamily="34" charset="0"/>
                      </a:endParaRPr>
                    </a:p>
                  </a:txBody>
                  <a:tcPr marL="9525" marR="9525" marT="9525" marB="0" anchor="b"/>
                </a:tc>
                <a:tc>
                  <a:txBody>
                    <a:bodyPr/>
                    <a:lstStyle/>
                    <a:p>
                      <a:pPr algn="r" fontAlgn="b"/>
                      <a:r>
                        <a:rPr lang="es-NI" sz="1400" u="none" strike="noStrike" dirty="0">
                          <a:effectLst/>
                          <a:highlight>
                            <a:srgbClr val="FFFF00"/>
                          </a:highlight>
                        </a:rPr>
                        <a:t>$ 10,327.50</a:t>
                      </a:r>
                      <a:endParaRPr lang="es-NI" sz="1400" b="1" i="0" u="none" strike="noStrike" dirty="0">
                        <a:solidFill>
                          <a:srgbClr val="000000"/>
                        </a:solidFill>
                        <a:effectLst/>
                        <a:highlight>
                          <a:srgbClr val="FFFF00"/>
                        </a:highlight>
                        <a:latin typeface="Calibri" panose="020F0502020204030204" pitchFamily="34" charset="0"/>
                      </a:endParaRPr>
                    </a:p>
                  </a:txBody>
                  <a:tcPr marL="9525" marR="9525" marT="9525" marB="0" anchor="b"/>
                </a:tc>
                <a:extLst>
                  <a:ext uri="{0D108BD9-81ED-4DB2-BD59-A6C34878D82A}">
                    <a16:rowId xmlns:a16="http://schemas.microsoft.com/office/drawing/2014/main" val="3287770503"/>
                  </a:ext>
                </a:extLst>
              </a:tr>
              <a:tr h="190500">
                <a:tc>
                  <a:txBody>
                    <a:bodyPr/>
                    <a:lstStyle/>
                    <a:p>
                      <a:pPr algn="l" fontAlgn="b"/>
                      <a:r>
                        <a:rPr lang="es-NI" sz="1400" u="none" strike="noStrike" dirty="0">
                          <a:effectLst/>
                        </a:rPr>
                        <a:t>Menos: Dividendos de acciones comunes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$ 4,000.00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1273668"/>
                  </a:ext>
                </a:extLst>
              </a:tr>
              <a:tr h="190500">
                <a:tc>
                  <a:txBody>
                    <a:bodyPr/>
                    <a:lstStyle/>
                    <a:p>
                      <a:pPr algn="l" fontAlgn="b"/>
                      <a:r>
                        <a:rPr lang="es-NI" sz="1400" u="none" strike="noStrike" dirty="0">
                          <a:effectLst/>
                        </a:rPr>
                        <a:t>Utilidades retenidas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$ 6,327.50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86920910"/>
                  </a:ext>
                </a:extLst>
              </a:tr>
            </a:tbl>
          </a:graphicData>
        </a:graphic>
      </p:graphicFrame>
      <p:sp>
        <p:nvSpPr>
          <p:cNvPr id="5" name="Flecha: a la derecha 4">
            <a:extLst>
              <a:ext uri="{FF2B5EF4-FFF2-40B4-BE49-F238E27FC236}">
                <a16:creationId xmlns:a16="http://schemas.microsoft.com/office/drawing/2014/main" id="{A72923B8-72DF-471E-896A-AE878197619C}"/>
              </a:ext>
            </a:extLst>
          </p:cNvPr>
          <p:cNvSpPr/>
          <p:nvPr/>
        </p:nvSpPr>
        <p:spPr>
          <a:xfrm>
            <a:off x="6031378" y="3578113"/>
            <a:ext cx="983282" cy="440675"/>
          </a:xfrm>
          <a:prstGeom prst="rightArrow">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NI"/>
          </a:p>
        </p:txBody>
      </p:sp>
    </p:spTree>
    <p:extLst>
      <p:ext uri="{BB962C8B-B14F-4D97-AF65-F5344CB8AC3E}">
        <p14:creationId xmlns:p14="http://schemas.microsoft.com/office/powerpoint/2010/main" val="11166618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5" name="1 Título">
            <a:extLst>
              <a:ext uri="{FF2B5EF4-FFF2-40B4-BE49-F238E27FC236}">
                <a16:creationId xmlns:a16="http://schemas.microsoft.com/office/drawing/2014/main" id="{657EB076-9E68-4678-9135-FFEF1C928019}"/>
              </a:ext>
            </a:extLst>
          </p:cNvPr>
          <p:cNvSpPr>
            <a:spLocks noGrp="1"/>
          </p:cNvSpPr>
          <p:nvPr>
            <p:ph type="title"/>
          </p:nvPr>
        </p:nvSpPr>
        <p:spPr>
          <a:xfrm>
            <a:off x="2143203" y="699317"/>
            <a:ext cx="8153400" cy="990600"/>
          </a:xfrm>
        </p:spPr>
        <p:txBody>
          <a:bodyPr/>
          <a:lstStyle/>
          <a:p>
            <a:pPr algn="ctr"/>
            <a:r>
              <a:rPr lang="es-NI" b="1" dirty="0">
                <a:solidFill>
                  <a:srgbClr val="FF0000"/>
                </a:solidFill>
              </a:rPr>
              <a:t>Método crítico (premisas)</a:t>
            </a:r>
          </a:p>
        </p:txBody>
      </p:sp>
      <p:sp>
        <p:nvSpPr>
          <p:cNvPr id="2" name="CuadroTexto 1">
            <a:extLst>
              <a:ext uri="{FF2B5EF4-FFF2-40B4-BE49-F238E27FC236}">
                <a16:creationId xmlns:a16="http://schemas.microsoft.com/office/drawing/2014/main" id="{EF1D9C66-CAA2-4BE6-AC3B-3FC41D45F463}"/>
              </a:ext>
            </a:extLst>
          </p:cNvPr>
          <p:cNvSpPr txBox="1"/>
          <p:nvPr/>
        </p:nvSpPr>
        <p:spPr>
          <a:xfrm>
            <a:off x="2033035" y="1589426"/>
            <a:ext cx="8992518" cy="1569660"/>
          </a:xfrm>
          <a:prstGeom prst="rect">
            <a:avLst/>
          </a:prstGeom>
          <a:noFill/>
        </p:spPr>
        <p:txBody>
          <a:bodyPr wrap="square">
            <a:spAutoFit/>
          </a:bodyPr>
          <a:lstStyle/>
          <a:p>
            <a:pPr algn="just"/>
            <a:r>
              <a:rPr lang="es-ES" sz="2400" dirty="0">
                <a:solidFill>
                  <a:srgbClr val="002060"/>
                </a:solidFill>
              </a:rPr>
              <a:t>Método crítico Método simplificado para elaborar el balance general pro forma en el que se calculan los valores de ciertas cuentas del balance general, y el financiamiento externo de la empresa se usa como una cifra de equilibrio o “ajuste”.</a:t>
            </a:r>
            <a:endParaRPr lang="es-NI" sz="2400" dirty="0">
              <a:solidFill>
                <a:srgbClr val="002060"/>
              </a:solidFill>
            </a:endParaRPr>
          </a:p>
        </p:txBody>
      </p:sp>
      <p:sp>
        <p:nvSpPr>
          <p:cNvPr id="12" name="CuadroTexto 11">
            <a:extLst>
              <a:ext uri="{FF2B5EF4-FFF2-40B4-BE49-F238E27FC236}">
                <a16:creationId xmlns:a16="http://schemas.microsoft.com/office/drawing/2014/main" id="{7C07FBA7-E12D-4B3D-A98B-25F1E9F568E7}"/>
              </a:ext>
            </a:extLst>
          </p:cNvPr>
          <p:cNvSpPr txBox="1"/>
          <p:nvPr/>
        </p:nvSpPr>
        <p:spPr>
          <a:xfrm>
            <a:off x="3480376" y="3379320"/>
            <a:ext cx="6097836" cy="2677656"/>
          </a:xfrm>
          <a:prstGeom prst="rect">
            <a:avLst/>
          </a:prstGeom>
          <a:noFill/>
        </p:spPr>
        <p:txBody>
          <a:bodyPr wrap="square">
            <a:spAutoFit/>
          </a:bodyPr>
          <a:lstStyle/>
          <a:p>
            <a:pPr algn="just"/>
            <a:r>
              <a:rPr lang="es-ES" sz="2400" dirty="0">
                <a:solidFill>
                  <a:srgbClr val="002060"/>
                </a:solidFill>
              </a:rPr>
              <a:t>El método crítico es una versión mejorada del método de porcentaje de ventas para la elaboración del balance general pro forma. Como el método crítico solo requiere un poco más de información y produce mejores estimaciones que cualquier método de porcentaje de ventas.</a:t>
            </a:r>
            <a:endParaRPr lang="es-NI" sz="2400" dirty="0">
              <a:solidFill>
                <a:srgbClr val="002060"/>
              </a:solidFill>
            </a:endParaRPr>
          </a:p>
        </p:txBody>
      </p:sp>
    </p:spTree>
    <p:extLst>
      <p:ext uri="{BB962C8B-B14F-4D97-AF65-F5344CB8AC3E}">
        <p14:creationId xmlns:p14="http://schemas.microsoft.com/office/powerpoint/2010/main" val="4029857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14" name="CuadroTexto 13">
            <a:extLst>
              <a:ext uri="{FF2B5EF4-FFF2-40B4-BE49-F238E27FC236}">
                <a16:creationId xmlns:a16="http://schemas.microsoft.com/office/drawing/2014/main" id="{EC4AE366-EFE8-4D04-B4DE-035335E5A395}"/>
              </a:ext>
            </a:extLst>
          </p:cNvPr>
          <p:cNvSpPr txBox="1"/>
          <p:nvPr/>
        </p:nvSpPr>
        <p:spPr>
          <a:xfrm>
            <a:off x="1603808" y="1018702"/>
            <a:ext cx="10402678" cy="1200329"/>
          </a:xfrm>
          <a:prstGeom prst="rect">
            <a:avLst/>
          </a:prstGeom>
          <a:noFill/>
        </p:spPr>
        <p:txBody>
          <a:bodyPr wrap="square">
            <a:spAutoFit/>
          </a:bodyPr>
          <a:lstStyle/>
          <a:p>
            <a:r>
              <a:rPr lang="es-ES" sz="2400" dirty="0">
                <a:solidFill>
                  <a:srgbClr val="002060"/>
                </a:solidFill>
              </a:rPr>
              <a:t>Para aplicar el método crítico en la elaboración del balance general pro forma de 2013 de </a:t>
            </a:r>
            <a:r>
              <a:rPr lang="es-ES" sz="2400" dirty="0" err="1">
                <a:solidFill>
                  <a:srgbClr val="002060"/>
                </a:solidFill>
              </a:rPr>
              <a:t>Vectra</a:t>
            </a:r>
            <a:r>
              <a:rPr lang="es-ES" sz="2400" dirty="0">
                <a:solidFill>
                  <a:srgbClr val="002060"/>
                </a:solidFill>
              </a:rPr>
              <a:t> </a:t>
            </a:r>
            <a:r>
              <a:rPr lang="es-ES" sz="2400" dirty="0" err="1">
                <a:solidFill>
                  <a:srgbClr val="002060"/>
                </a:solidFill>
              </a:rPr>
              <a:t>Manufacturing</a:t>
            </a:r>
            <a:r>
              <a:rPr lang="es-ES" sz="2400" dirty="0">
                <a:solidFill>
                  <a:srgbClr val="002060"/>
                </a:solidFill>
              </a:rPr>
              <a:t>, deben realizarse varias suposiciones relacionadas con los niveles de diversas cuentas del balance general:</a:t>
            </a:r>
            <a:endParaRPr lang="es-NI" sz="2400" dirty="0">
              <a:solidFill>
                <a:srgbClr val="002060"/>
              </a:solidFill>
            </a:endParaRPr>
          </a:p>
        </p:txBody>
      </p:sp>
      <p:sp>
        <p:nvSpPr>
          <p:cNvPr id="15" name="4 Marcador de contenido">
            <a:extLst>
              <a:ext uri="{FF2B5EF4-FFF2-40B4-BE49-F238E27FC236}">
                <a16:creationId xmlns:a16="http://schemas.microsoft.com/office/drawing/2014/main" id="{72C2FC80-3850-4724-9D96-9D556CCEACE7}"/>
              </a:ext>
            </a:extLst>
          </p:cNvPr>
          <p:cNvSpPr>
            <a:spLocks noGrp="1"/>
          </p:cNvSpPr>
          <p:nvPr>
            <p:ph sz="quarter" idx="1"/>
          </p:nvPr>
        </p:nvSpPr>
        <p:spPr>
          <a:xfrm>
            <a:off x="1603808" y="2631079"/>
            <a:ext cx="9589329" cy="3208219"/>
          </a:xfrm>
        </p:spPr>
        <p:txBody>
          <a:bodyPr>
            <a:normAutofit/>
          </a:bodyPr>
          <a:lstStyle/>
          <a:p>
            <a:pPr marL="0" indent="0" algn="just">
              <a:lnSpc>
                <a:spcPct val="100000"/>
              </a:lnSpc>
              <a:buNone/>
            </a:pPr>
            <a:r>
              <a:rPr lang="es-NI" sz="1800" b="1" dirty="0">
                <a:solidFill>
                  <a:srgbClr val="002060"/>
                </a:solidFill>
              </a:rPr>
              <a:t>       1. </a:t>
            </a:r>
            <a:r>
              <a:rPr lang="es-NI" sz="1800" dirty="0">
                <a:solidFill>
                  <a:srgbClr val="002060"/>
                </a:solidFill>
              </a:rPr>
              <a:t>Es deseable un saldo de efectivo mínimo de $6,000.</a:t>
            </a:r>
          </a:p>
          <a:p>
            <a:pPr marL="354013" indent="0" algn="just">
              <a:lnSpc>
                <a:spcPct val="100000"/>
              </a:lnSpc>
              <a:spcBef>
                <a:spcPts val="0"/>
              </a:spcBef>
              <a:buNone/>
            </a:pPr>
            <a:r>
              <a:rPr lang="es-NI" sz="1800" b="1" dirty="0">
                <a:solidFill>
                  <a:srgbClr val="002060"/>
                </a:solidFill>
              </a:rPr>
              <a:t>2. </a:t>
            </a:r>
            <a:r>
              <a:rPr lang="es-NI" sz="1800" dirty="0">
                <a:solidFill>
                  <a:srgbClr val="002060"/>
                </a:solidFill>
              </a:rPr>
              <a:t>Los valores negociables permanecen sin cambios en relación con su nivel actual de $4,000.</a:t>
            </a:r>
          </a:p>
          <a:p>
            <a:pPr marL="354013" indent="0" algn="just">
              <a:lnSpc>
                <a:spcPct val="100000"/>
              </a:lnSpc>
              <a:spcBef>
                <a:spcPts val="0"/>
              </a:spcBef>
              <a:buNone/>
            </a:pPr>
            <a:r>
              <a:rPr lang="es-NI" sz="1800" b="1" dirty="0">
                <a:solidFill>
                  <a:srgbClr val="002060"/>
                </a:solidFill>
              </a:rPr>
              <a:t>3. </a:t>
            </a:r>
            <a:r>
              <a:rPr lang="es-NI" sz="1800" dirty="0">
                <a:solidFill>
                  <a:srgbClr val="002060"/>
                </a:solidFill>
              </a:rPr>
              <a:t>En promedio, las cuentas por cobrar representan alrededor de 45 días de ventas</a:t>
            </a:r>
          </a:p>
          <a:p>
            <a:pPr marL="354013" indent="0" algn="just">
              <a:lnSpc>
                <a:spcPct val="100000"/>
              </a:lnSpc>
              <a:spcBef>
                <a:spcPts val="0"/>
              </a:spcBef>
              <a:buNone/>
            </a:pPr>
            <a:r>
              <a:rPr lang="es-NI" sz="1800" dirty="0">
                <a:solidFill>
                  <a:srgbClr val="002060"/>
                </a:solidFill>
              </a:rPr>
              <a:t>(aproximadamente 1/8 del año). Como se pronostica que las ventas anuales de </a:t>
            </a:r>
            <a:r>
              <a:rPr lang="es-NI" sz="1800" dirty="0" err="1">
                <a:solidFill>
                  <a:srgbClr val="002060"/>
                </a:solidFill>
              </a:rPr>
              <a:t>Vectra</a:t>
            </a:r>
            <a:r>
              <a:rPr lang="es-NI" sz="1800" dirty="0">
                <a:solidFill>
                  <a:srgbClr val="002060"/>
                </a:solidFill>
              </a:rPr>
              <a:t> serán </a:t>
            </a:r>
          </a:p>
          <a:p>
            <a:pPr marL="354013" indent="0" algn="just">
              <a:lnSpc>
                <a:spcPct val="100000"/>
              </a:lnSpc>
              <a:spcBef>
                <a:spcPts val="0"/>
              </a:spcBef>
              <a:buNone/>
            </a:pPr>
            <a:r>
              <a:rPr lang="es-NI" sz="1800" dirty="0">
                <a:solidFill>
                  <a:srgbClr val="002060"/>
                </a:solidFill>
              </a:rPr>
              <a:t>de $135,000, las cuentas por cobrar deberían promediar $16,875 (1/8  $135,000).</a:t>
            </a:r>
          </a:p>
          <a:p>
            <a:pPr marL="354013" indent="0" algn="just">
              <a:lnSpc>
                <a:spcPct val="100000"/>
              </a:lnSpc>
              <a:spcBef>
                <a:spcPts val="0"/>
              </a:spcBef>
              <a:buNone/>
            </a:pPr>
            <a:r>
              <a:rPr lang="es-NI" sz="1800" b="1" dirty="0">
                <a:solidFill>
                  <a:srgbClr val="002060"/>
                </a:solidFill>
              </a:rPr>
              <a:t>4. </a:t>
            </a:r>
            <a:r>
              <a:rPr lang="es-NI" sz="1800" dirty="0">
                <a:solidFill>
                  <a:srgbClr val="002060"/>
                </a:solidFill>
              </a:rPr>
              <a:t>El inventario final debe permanecer a un nivel aproximado de $16,000, de los</a:t>
            </a:r>
          </a:p>
          <a:p>
            <a:pPr marL="354013" indent="0" algn="just">
              <a:lnSpc>
                <a:spcPct val="100000"/>
              </a:lnSpc>
              <a:spcBef>
                <a:spcPts val="0"/>
              </a:spcBef>
              <a:buNone/>
            </a:pPr>
            <a:r>
              <a:rPr lang="es-NI" sz="1800" dirty="0">
                <a:solidFill>
                  <a:srgbClr val="002060"/>
                </a:solidFill>
              </a:rPr>
              <a:t>cuales el 25% (alrededor de $4,000) debe ser de materias primas y el 75% restante</a:t>
            </a:r>
          </a:p>
          <a:p>
            <a:pPr marL="354013" indent="0" algn="just">
              <a:lnSpc>
                <a:spcPct val="100000"/>
              </a:lnSpc>
              <a:spcBef>
                <a:spcPts val="0"/>
              </a:spcBef>
              <a:buNone/>
            </a:pPr>
            <a:r>
              <a:rPr lang="es-NI" sz="1800" dirty="0">
                <a:solidFill>
                  <a:srgbClr val="002060"/>
                </a:solidFill>
              </a:rPr>
              <a:t>(alrededor de $12,000) de productos terminados.</a:t>
            </a:r>
          </a:p>
          <a:p>
            <a:pPr marL="354013" indent="0" algn="just">
              <a:lnSpc>
                <a:spcPct val="100000"/>
              </a:lnSpc>
              <a:spcBef>
                <a:spcPts val="0"/>
              </a:spcBef>
              <a:buNone/>
            </a:pPr>
            <a:r>
              <a:rPr lang="es-NI" sz="1800" b="1" dirty="0">
                <a:solidFill>
                  <a:srgbClr val="002060"/>
                </a:solidFill>
              </a:rPr>
              <a:t>5. </a:t>
            </a:r>
            <a:r>
              <a:rPr lang="es-NI" sz="1800" dirty="0">
                <a:solidFill>
                  <a:srgbClr val="002060"/>
                </a:solidFill>
              </a:rPr>
              <a:t>Se adquirirá una máquina nueva a un costo de $20,000. La depreciación total</a:t>
            </a:r>
          </a:p>
          <a:p>
            <a:pPr marL="354013" indent="0" algn="just">
              <a:lnSpc>
                <a:spcPct val="100000"/>
              </a:lnSpc>
              <a:spcBef>
                <a:spcPts val="0"/>
              </a:spcBef>
              <a:buNone/>
            </a:pPr>
            <a:r>
              <a:rPr lang="es-NI" sz="1800" dirty="0">
                <a:solidFill>
                  <a:srgbClr val="002060"/>
                </a:solidFill>
              </a:rPr>
              <a:t>para el año es de $8,000. Si se suma la adquisición de $20,000 a los activos fijos netos existentes </a:t>
            </a:r>
          </a:p>
          <a:p>
            <a:pPr marL="354013" indent="0" algn="just">
              <a:lnSpc>
                <a:spcPct val="100000"/>
              </a:lnSpc>
              <a:spcBef>
                <a:spcPts val="0"/>
              </a:spcBef>
              <a:buNone/>
            </a:pPr>
            <a:r>
              <a:rPr lang="es-NI" sz="1800" dirty="0">
                <a:solidFill>
                  <a:srgbClr val="002060"/>
                </a:solidFill>
              </a:rPr>
              <a:t>de $51,000 y se resta la depreciación de $8,000 se obtienen activos fijos netos de $63,000.</a:t>
            </a:r>
          </a:p>
        </p:txBody>
      </p:sp>
    </p:spTree>
    <p:extLst>
      <p:ext uri="{BB962C8B-B14F-4D97-AF65-F5344CB8AC3E}">
        <p14:creationId xmlns:p14="http://schemas.microsoft.com/office/powerpoint/2010/main" val="18672979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0" y="2146300"/>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5" name="2 Marcador de contenido">
            <a:extLst>
              <a:ext uri="{FF2B5EF4-FFF2-40B4-BE49-F238E27FC236}">
                <a16:creationId xmlns:a16="http://schemas.microsoft.com/office/drawing/2014/main" id="{670799C0-E93B-4921-9E62-1B78F0D19B9F}"/>
              </a:ext>
            </a:extLst>
          </p:cNvPr>
          <p:cNvSpPr>
            <a:spLocks noGrp="1"/>
          </p:cNvSpPr>
          <p:nvPr>
            <p:ph sz="quarter" idx="1"/>
          </p:nvPr>
        </p:nvSpPr>
        <p:spPr>
          <a:xfrm>
            <a:off x="1517690" y="1004994"/>
            <a:ext cx="10237308" cy="6143668"/>
          </a:xfrm>
        </p:spPr>
        <p:txBody>
          <a:bodyPr>
            <a:normAutofit fontScale="25000" lnSpcReduction="20000"/>
          </a:bodyPr>
          <a:lstStyle/>
          <a:p>
            <a:pPr marL="354013" indent="0" algn="just">
              <a:lnSpc>
                <a:spcPct val="120000"/>
              </a:lnSpc>
              <a:spcBef>
                <a:spcPts val="0"/>
              </a:spcBef>
              <a:buNone/>
            </a:pPr>
            <a:r>
              <a:rPr lang="es-NI" sz="7200" b="1" dirty="0"/>
              <a:t>6</a:t>
            </a:r>
            <a:r>
              <a:rPr lang="es-NI" sz="7200" dirty="0">
                <a:solidFill>
                  <a:srgbClr val="002060"/>
                </a:solidFill>
              </a:rPr>
              <a:t>. Se espera que las compras representen alrededor del 30% de las ventas anuales, que en este caso corresponde a $40,500 aproximadamente (0.30  $135,000). La</a:t>
            </a:r>
          </a:p>
          <a:p>
            <a:pPr marL="354013" indent="0" algn="just">
              <a:lnSpc>
                <a:spcPct val="120000"/>
              </a:lnSpc>
              <a:spcBef>
                <a:spcPts val="0"/>
              </a:spcBef>
              <a:buNone/>
            </a:pPr>
            <a:r>
              <a:rPr lang="es-NI" sz="7200" dirty="0">
                <a:solidFill>
                  <a:srgbClr val="002060"/>
                </a:solidFill>
              </a:rPr>
              <a:t>empresa calcula que requiere 73 días en promedio para saldar sus cuentas por pagar.</a:t>
            </a:r>
          </a:p>
          <a:p>
            <a:pPr marL="354013" indent="0" algn="just">
              <a:lnSpc>
                <a:spcPct val="120000"/>
              </a:lnSpc>
              <a:spcBef>
                <a:spcPts val="0"/>
              </a:spcBef>
              <a:buNone/>
            </a:pPr>
            <a:r>
              <a:rPr lang="es-NI" sz="7200" dirty="0">
                <a:solidFill>
                  <a:srgbClr val="002060"/>
                </a:solidFill>
              </a:rPr>
              <a:t>Por lo tanto, las cuentas por pagar equivalen a una quinta parte (73 días  365 días)</a:t>
            </a:r>
          </a:p>
          <a:p>
            <a:pPr marL="354013" indent="0" algn="just">
              <a:lnSpc>
                <a:spcPct val="120000"/>
              </a:lnSpc>
              <a:spcBef>
                <a:spcPts val="0"/>
              </a:spcBef>
              <a:buNone/>
            </a:pPr>
            <a:r>
              <a:rPr lang="es-NI" sz="7200" dirty="0">
                <a:solidFill>
                  <a:srgbClr val="002060"/>
                </a:solidFill>
              </a:rPr>
              <a:t>de las compras de la empresa, es decir, $8,100 (1/5  $40,500).</a:t>
            </a:r>
          </a:p>
          <a:p>
            <a:pPr marL="354013" indent="0" algn="just">
              <a:lnSpc>
                <a:spcPct val="120000"/>
              </a:lnSpc>
              <a:spcBef>
                <a:spcPts val="0"/>
              </a:spcBef>
              <a:buNone/>
            </a:pPr>
            <a:r>
              <a:rPr lang="es-NI" sz="7200" b="1" dirty="0">
                <a:solidFill>
                  <a:srgbClr val="002060"/>
                </a:solidFill>
              </a:rPr>
              <a:t>7</a:t>
            </a:r>
            <a:r>
              <a:rPr lang="es-NI" sz="7200" dirty="0">
                <a:solidFill>
                  <a:srgbClr val="002060"/>
                </a:solidFill>
              </a:rPr>
              <a:t>. Se espera que los impuestos por pagar sean iguales a una cuarta parte de los</a:t>
            </a:r>
          </a:p>
          <a:p>
            <a:pPr marL="354013" indent="0" algn="just">
              <a:lnSpc>
                <a:spcPct val="120000"/>
              </a:lnSpc>
              <a:spcBef>
                <a:spcPts val="0"/>
              </a:spcBef>
              <a:buNone/>
            </a:pPr>
            <a:r>
              <a:rPr lang="es-NI" sz="7200" dirty="0">
                <a:solidFill>
                  <a:srgbClr val="002060"/>
                </a:solidFill>
              </a:rPr>
              <a:t>pasivos por impuestos del año en curso, lo que equivale a $455.75 (una cuarta parte</a:t>
            </a:r>
          </a:p>
          <a:p>
            <a:pPr marL="354013" indent="0" algn="just">
              <a:lnSpc>
                <a:spcPct val="120000"/>
              </a:lnSpc>
              <a:spcBef>
                <a:spcPts val="0"/>
              </a:spcBef>
              <a:buNone/>
            </a:pPr>
            <a:r>
              <a:rPr lang="es-NI" sz="7200" dirty="0">
                <a:solidFill>
                  <a:srgbClr val="002060"/>
                </a:solidFill>
              </a:rPr>
              <a:t>de los pasivos por impuestos de $1,823, registrados en el estado de resultados pro.</a:t>
            </a:r>
          </a:p>
          <a:p>
            <a:pPr marL="354013" indent="0" algn="just">
              <a:lnSpc>
                <a:spcPct val="120000"/>
              </a:lnSpc>
              <a:spcBef>
                <a:spcPts val="0"/>
              </a:spcBef>
              <a:buNone/>
            </a:pPr>
            <a:r>
              <a:rPr lang="es-NI" sz="7200" b="1" dirty="0">
                <a:solidFill>
                  <a:srgbClr val="002060"/>
                </a:solidFill>
              </a:rPr>
              <a:t>8</a:t>
            </a:r>
            <a:r>
              <a:rPr lang="es-NI" sz="7200" dirty="0">
                <a:solidFill>
                  <a:srgbClr val="002060"/>
                </a:solidFill>
              </a:rPr>
              <a:t>. Los documentos por pagar permanecen sin cambios en relación con su nivel</a:t>
            </a:r>
          </a:p>
          <a:p>
            <a:pPr marL="354013" indent="0" algn="just">
              <a:lnSpc>
                <a:spcPct val="120000"/>
              </a:lnSpc>
              <a:spcBef>
                <a:spcPts val="0"/>
              </a:spcBef>
              <a:buNone/>
            </a:pPr>
            <a:r>
              <a:rPr lang="es-NI" sz="7200" dirty="0">
                <a:solidFill>
                  <a:srgbClr val="002060"/>
                </a:solidFill>
              </a:rPr>
              <a:t>actual de $8,300.</a:t>
            </a:r>
          </a:p>
          <a:p>
            <a:pPr marL="354013" indent="0" algn="just">
              <a:lnSpc>
                <a:spcPct val="120000"/>
              </a:lnSpc>
              <a:spcBef>
                <a:spcPts val="0"/>
              </a:spcBef>
              <a:buNone/>
            </a:pPr>
            <a:r>
              <a:rPr lang="es-NI" sz="7200" b="1" dirty="0">
                <a:solidFill>
                  <a:srgbClr val="002060"/>
                </a:solidFill>
              </a:rPr>
              <a:t>9</a:t>
            </a:r>
            <a:r>
              <a:rPr lang="es-NI" sz="7200" dirty="0">
                <a:solidFill>
                  <a:srgbClr val="002060"/>
                </a:solidFill>
              </a:rPr>
              <a:t>. No se espera ningún cambio en otros pasivos corrientes. Permanecen al mismo nivel del año anterior: $3,400.</a:t>
            </a:r>
          </a:p>
          <a:p>
            <a:pPr marL="354013" indent="0" algn="just">
              <a:lnSpc>
                <a:spcPct val="120000"/>
              </a:lnSpc>
              <a:spcBef>
                <a:spcPts val="0"/>
              </a:spcBef>
              <a:buNone/>
            </a:pPr>
            <a:r>
              <a:rPr lang="es-NI" sz="7200" b="1" dirty="0">
                <a:solidFill>
                  <a:srgbClr val="002060"/>
                </a:solidFill>
              </a:rPr>
              <a:t>10</a:t>
            </a:r>
            <a:r>
              <a:rPr lang="es-NI" sz="7200" dirty="0">
                <a:solidFill>
                  <a:srgbClr val="002060"/>
                </a:solidFill>
              </a:rPr>
              <a:t>. La deuda a largo plazo de la empresa y sus acciones comunes permanecen sin cambios  en $18,000 y $30,000, respectivamente; no hay planes de realizar ninguna misión, retiro ni readquisición de bonos o acciones.</a:t>
            </a:r>
          </a:p>
          <a:p>
            <a:pPr marL="354013" indent="0" algn="just">
              <a:lnSpc>
                <a:spcPct val="120000"/>
              </a:lnSpc>
              <a:spcBef>
                <a:spcPts val="0"/>
              </a:spcBef>
              <a:buNone/>
            </a:pPr>
            <a:r>
              <a:rPr lang="es-NI" sz="7200" b="1" dirty="0">
                <a:solidFill>
                  <a:srgbClr val="002060"/>
                </a:solidFill>
              </a:rPr>
              <a:t>11</a:t>
            </a:r>
            <a:r>
              <a:rPr lang="es-NI" sz="7200" dirty="0">
                <a:solidFill>
                  <a:srgbClr val="002060"/>
                </a:solidFill>
              </a:rPr>
              <a:t>. </a:t>
            </a:r>
            <a:r>
              <a:rPr lang="es-ES" sz="7200" dirty="0">
                <a:solidFill>
                  <a:srgbClr val="002060"/>
                </a:solidFill>
              </a:rPr>
              <a:t>Las ganancias retenidas aumentarán del nivel inicial de $23,000 (del balance general del 31 de diciembre de 2012) a $29,327. El aumento de $6,327 representa el monto de ganancias retenidas calculadas en el estado de resultados pro forma de finales de 2013</a:t>
            </a:r>
            <a:endParaRPr lang="es-NI" sz="7200" dirty="0">
              <a:solidFill>
                <a:srgbClr val="002060"/>
              </a:solidFill>
            </a:endParaRPr>
          </a:p>
        </p:txBody>
      </p:sp>
    </p:spTree>
    <p:extLst>
      <p:ext uri="{BB962C8B-B14F-4D97-AF65-F5344CB8AC3E}">
        <p14:creationId xmlns:p14="http://schemas.microsoft.com/office/powerpoint/2010/main" val="3637966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7" name="CuadroTexto 6">
            <a:extLst>
              <a:ext uri="{FF2B5EF4-FFF2-40B4-BE49-F238E27FC236}">
                <a16:creationId xmlns:a16="http://schemas.microsoft.com/office/drawing/2014/main" id="{30B100A6-6C27-4745-906D-337B9CD9644F}"/>
              </a:ext>
            </a:extLst>
          </p:cNvPr>
          <p:cNvSpPr txBox="1"/>
          <p:nvPr/>
        </p:nvSpPr>
        <p:spPr>
          <a:xfrm>
            <a:off x="2070746" y="1167921"/>
            <a:ext cx="1738862" cy="369332"/>
          </a:xfrm>
          <a:prstGeom prst="rect">
            <a:avLst/>
          </a:prstGeom>
          <a:noFill/>
        </p:spPr>
        <p:txBody>
          <a:bodyPr wrap="square">
            <a:spAutoFit/>
          </a:bodyPr>
          <a:lstStyle/>
          <a:p>
            <a:r>
              <a:rPr lang="es-ES" b="1" dirty="0"/>
              <a:t>Tabla </a:t>
            </a:r>
            <a:r>
              <a:rPr lang="es-ES" sz="1800" b="1" dirty="0"/>
              <a:t> 4.13 </a:t>
            </a:r>
            <a:endParaRPr lang="es-NI" b="1" dirty="0"/>
          </a:p>
        </p:txBody>
      </p:sp>
      <p:graphicFrame>
        <p:nvGraphicFramePr>
          <p:cNvPr id="9" name="Tabla 8">
            <a:extLst>
              <a:ext uri="{FF2B5EF4-FFF2-40B4-BE49-F238E27FC236}">
                <a16:creationId xmlns:a16="http://schemas.microsoft.com/office/drawing/2014/main" id="{46825AB0-C2A0-4902-B49A-CF45753E6319}"/>
              </a:ext>
            </a:extLst>
          </p:cNvPr>
          <p:cNvGraphicFramePr>
            <a:graphicFrameLocks noGrp="1"/>
          </p:cNvGraphicFramePr>
          <p:nvPr>
            <p:extLst>
              <p:ext uri="{D42A27DB-BD31-4B8C-83A1-F6EECF244321}">
                <p14:modId xmlns:p14="http://schemas.microsoft.com/office/powerpoint/2010/main" val="3702568918"/>
              </p:ext>
            </p:extLst>
          </p:nvPr>
        </p:nvGraphicFramePr>
        <p:xfrm>
          <a:off x="1895061" y="1669774"/>
          <a:ext cx="9634331" cy="4598500"/>
        </p:xfrm>
        <a:graphic>
          <a:graphicData uri="http://schemas.openxmlformats.org/drawingml/2006/table">
            <a:tbl>
              <a:tblPr>
                <a:tableStyleId>{5C22544A-7EE6-4342-B048-85BDC9FD1C3A}</a:tableStyleId>
              </a:tblPr>
              <a:tblGrid>
                <a:gridCol w="2462587">
                  <a:extLst>
                    <a:ext uri="{9D8B030D-6E8A-4147-A177-3AD203B41FA5}">
                      <a16:colId xmlns:a16="http://schemas.microsoft.com/office/drawing/2014/main" val="3158489423"/>
                    </a:ext>
                  </a:extLst>
                </a:gridCol>
                <a:gridCol w="1569719">
                  <a:extLst>
                    <a:ext uri="{9D8B030D-6E8A-4147-A177-3AD203B41FA5}">
                      <a16:colId xmlns:a16="http://schemas.microsoft.com/office/drawing/2014/main" val="541439643"/>
                    </a:ext>
                  </a:extLst>
                </a:gridCol>
                <a:gridCol w="302424">
                  <a:extLst>
                    <a:ext uri="{9D8B030D-6E8A-4147-A177-3AD203B41FA5}">
                      <a16:colId xmlns:a16="http://schemas.microsoft.com/office/drawing/2014/main" val="3257555623"/>
                    </a:ext>
                  </a:extLst>
                </a:gridCol>
                <a:gridCol w="4147514">
                  <a:extLst>
                    <a:ext uri="{9D8B030D-6E8A-4147-A177-3AD203B41FA5}">
                      <a16:colId xmlns:a16="http://schemas.microsoft.com/office/drawing/2014/main" val="2599458735"/>
                    </a:ext>
                  </a:extLst>
                </a:gridCol>
                <a:gridCol w="1152087">
                  <a:extLst>
                    <a:ext uri="{9D8B030D-6E8A-4147-A177-3AD203B41FA5}">
                      <a16:colId xmlns:a16="http://schemas.microsoft.com/office/drawing/2014/main" val="1633560963"/>
                    </a:ext>
                  </a:extLst>
                </a:gridCol>
              </a:tblGrid>
              <a:tr h="270500">
                <a:tc gridSpan="5">
                  <a:txBody>
                    <a:bodyPr/>
                    <a:lstStyle/>
                    <a:p>
                      <a:pPr algn="ctr" fontAlgn="b"/>
                      <a:r>
                        <a:rPr lang="es-NI" sz="1400" u="none" strike="noStrike" dirty="0" err="1">
                          <a:effectLst/>
                        </a:rPr>
                        <a:t>Vectra</a:t>
                      </a:r>
                      <a:r>
                        <a:rPr lang="es-NI" sz="1400" u="none" strike="noStrike" dirty="0">
                          <a:effectLst/>
                        </a:rPr>
                        <a:t> </a:t>
                      </a:r>
                      <a:r>
                        <a:rPr lang="es-NI" sz="1400" u="none" strike="noStrike" dirty="0" err="1">
                          <a:effectLst/>
                        </a:rPr>
                        <a:t>Manufacturing</a:t>
                      </a:r>
                      <a:r>
                        <a:rPr lang="es-NI" sz="1400" u="none" strike="noStrike" dirty="0">
                          <a:effectLst/>
                        </a:rPr>
                        <a:t> </a:t>
                      </a:r>
                      <a:endParaRPr lang="es-NI"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4271916863"/>
                  </a:ext>
                </a:extLst>
              </a:tr>
              <a:tr h="270500">
                <a:tc gridSpan="5">
                  <a:txBody>
                    <a:bodyPr/>
                    <a:lstStyle/>
                    <a:p>
                      <a:pPr algn="ctr" fontAlgn="b"/>
                      <a:r>
                        <a:rPr lang="es-ES" sz="1400" u="none" strike="noStrike" dirty="0">
                          <a:effectLst/>
                        </a:rPr>
                        <a:t>Balance general al 31 de diciembre 2012</a:t>
                      </a:r>
                      <a:endParaRPr lang="es-ES" sz="14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1294945788"/>
                  </a:ext>
                </a:extLst>
              </a:tr>
              <a:tr h="270500">
                <a:tc>
                  <a:txBody>
                    <a:bodyPr/>
                    <a:lstStyle/>
                    <a:p>
                      <a:pPr algn="l" fontAlgn="b"/>
                      <a:endParaRPr lang="es-NI"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82234059"/>
                  </a:ext>
                </a:extLst>
              </a:tr>
              <a:tr h="270500">
                <a:tc>
                  <a:txBody>
                    <a:bodyPr/>
                    <a:lstStyle/>
                    <a:p>
                      <a:pPr algn="ctr" fontAlgn="b"/>
                      <a:r>
                        <a:rPr lang="es-NI" sz="1400" b="1" u="none" strike="noStrike" dirty="0">
                          <a:effectLst/>
                        </a:rPr>
                        <a:t>Activos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400" b="1" u="none" strike="noStrike" dirty="0">
                          <a:effectLst/>
                        </a:rPr>
                        <a:t>Pasivos y patrimonio de los accionistas</a:t>
                      </a:r>
                      <a:endParaRPr lang="es-E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87540264"/>
                  </a:ext>
                </a:extLst>
              </a:tr>
              <a:tr h="270500">
                <a:tc>
                  <a:txBody>
                    <a:bodyPr/>
                    <a:lstStyle/>
                    <a:p>
                      <a:pPr algn="ctr" fontAlgn="b"/>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2784264"/>
                  </a:ext>
                </a:extLst>
              </a:tr>
              <a:tr h="270500">
                <a:tc>
                  <a:txBody>
                    <a:bodyPr/>
                    <a:lstStyle/>
                    <a:p>
                      <a:pPr algn="l" fontAlgn="b"/>
                      <a:r>
                        <a:rPr lang="es-NI" sz="1400" u="none" strike="noStrike" dirty="0">
                          <a:effectLst/>
                        </a:rPr>
                        <a:t>Efectivo </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$ 6,000.00</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dirty="0">
                          <a:effectLst/>
                        </a:rPr>
                        <a:t>Cuentas por pagar</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$ 7,000.00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31082772"/>
                  </a:ext>
                </a:extLst>
              </a:tr>
              <a:tr h="270500">
                <a:tc>
                  <a:txBody>
                    <a:bodyPr/>
                    <a:lstStyle/>
                    <a:p>
                      <a:pPr algn="l" fontAlgn="b"/>
                      <a:r>
                        <a:rPr lang="es-NI" sz="1400" u="none" strike="noStrike">
                          <a:effectLst/>
                        </a:rPr>
                        <a:t>Valores negociables</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$ 4,000.00</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a:effectLst/>
                        </a:rPr>
                        <a:t>Impuestos por pagar</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$ 300.00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63696445"/>
                  </a:ext>
                </a:extLst>
              </a:tr>
              <a:tr h="270500">
                <a:tc>
                  <a:txBody>
                    <a:bodyPr/>
                    <a:lstStyle/>
                    <a:p>
                      <a:pPr algn="l" fontAlgn="b"/>
                      <a:r>
                        <a:rPr lang="es-NI" sz="1400" u="none" strike="noStrike">
                          <a:effectLst/>
                        </a:rPr>
                        <a:t>Cuentas por cobrar</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$ 13,000.00</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dirty="0">
                          <a:effectLst/>
                        </a:rPr>
                        <a:t>Documentos por pagar</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$ 8,300.00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58741631"/>
                  </a:ext>
                </a:extLst>
              </a:tr>
              <a:tr h="270500">
                <a:tc>
                  <a:txBody>
                    <a:bodyPr/>
                    <a:lstStyle/>
                    <a:p>
                      <a:pPr algn="l" fontAlgn="b"/>
                      <a:r>
                        <a:rPr lang="es-NI" sz="1400" u="none" strike="noStrike" dirty="0">
                          <a:effectLst/>
                        </a:rPr>
                        <a:t>Inventarios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$ 16,000.00</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a:effectLst/>
                        </a:rPr>
                        <a:t>Otros pasivos corrientes</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$ 3,400.00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87390058"/>
                  </a:ext>
                </a:extLst>
              </a:tr>
              <a:tr h="270500">
                <a:tc>
                  <a:txBody>
                    <a:bodyPr/>
                    <a:lstStyle/>
                    <a:p>
                      <a:pPr algn="l" fontAlgn="b"/>
                      <a:r>
                        <a:rPr lang="es-NI" sz="1400" b="1" u="none" strike="noStrike" dirty="0">
                          <a:effectLst/>
                        </a:rPr>
                        <a:t>Total de activos corrientes </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$ 39,000.00</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b="1" u="none" strike="noStrike" dirty="0">
                          <a:effectLst/>
                        </a:rPr>
                        <a:t>Total de pasivos corrientes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$ 19,000.00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35234337"/>
                  </a:ext>
                </a:extLst>
              </a:tr>
              <a:tr h="270500">
                <a:tc>
                  <a:txBody>
                    <a:bodyPr/>
                    <a:lstStyle/>
                    <a:p>
                      <a:pPr algn="l" fontAlgn="b"/>
                      <a:r>
                        <a:rPr lang="es-NI" sz="1400" u="none" strike="noStrike">
                          <a:effectLst/>
                        </a:rPr>
                        <a:t>Activos fijos netos</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sng" strike="noStrike" dirty="0">
                          <a:effectLst/>
                        </a:rPr>
                        <a:t>$ 51,000.00</a:t>
                      </a:r>
                      <a:endParaRPr lang="es-NI" sz="1400" b="0" i="0" u="sng"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82232995"/>
                  </a:ext>
                </a:extLst>
              </a:tr>
              <a:tr h="270500">
                <a:tc>
                  <a:txBody>
                    <a:bodyPr/>
                    <a:lstStyle/>
                    <a:p>
                      <a:pPr algn="l" fontAlgn="b"/>
                      <a:r>
                        <a:rPr lang="es-NI" sz="1400" b="1" u="none" strike="noStrike" dirty="0">
                          <a:effectLst/>
                        </a:rPr>
                        <a:t>Total de activos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$ 90,000.00</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dirty="0">
                          <a:effectLst/>
                        </a:rPr>
                        <a:t>Deuda a largo plazo</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$ 18,000.00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73562727"/>
                  </a:ext>
                </a:extLst>
              </a:tr>
              <a:tr h="270500">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b="1" u="none" strike="noStrike" dirty="0">
                          <a:effectLst/>
                        </a:rPr>
                        <a:t>Total de pasivos</a:t>
                      </a:r>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$ 37,000.00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11136547"/>
                  </a:ext>
                </a:extLst>
              </a:tr>
              <a:tr h="270500">
                <a:tc>
                  <a:txBody>
                    <a:bodyPr/>
                    <a:lstStyle/>
                    <a:p>
                      <a:pPr algn="l" fontAlgn="b"/>
                      <a:endParaRPr lang="es-NI"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77960135"/>
                  </a:ext>
                </a:extLst>
              </a:tr>
              <a:tr h="270500">
                <a:tc>
                  <a:txBody>
                    <a:bodyPr/>
                    <a:lstStyle/>
                    <a:p>
                      <a:pPr algn="l" fontAlgn="b"/>
                      <a:endParaRPr lang="es-NI"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dirty="0">
                          <a:effectLst/>
                        </a:rPr>
                        <a:t>Acciones comunes</a:t>
                      </a:r>
                      <a:endParaRPr lang="es-NI"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a:effectLst/>
                        </a:rPr>
                        <a:t>$ 30,000.00</a:t>
                      </a:r>
                      <a:endParaRPr lang="es-NI" sz="14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77963102"/>
                  </a:ext>
                </a:extLst>
              </a:tr>
              <a:tr h="270500">
                <a:tc>
                  <a:txBody>
                    <a:bodyPr/>
                    <a:lstStyle/>
                    <a:p>
                      <a:pPr algn="l" fontAlgn="b"/>
                      <a:endParaRPr lang="es-NI"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NI" sz="1400" u="none" strike="noStrike">
                          <a:effectLst/>
                        </a:rPr>
                        <a:t>Ganancias retenidas</a:t>
                      </a:r>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NI" sz="1400" u="none" strike="noStrike" dirty="0">
                          <a:effectLst/>
                        </a:rPr>
                        <a:t>$ 23,000.00</a:t>
                      </a:r>
                      <a:endParaRPr lang="es-NI" sz="14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19685038"/>
                  </a:ext>
                </a:extLst>
              </a:tr>
              <a:tr h="270500">
                <a:tc>
                  <a:txBody>
                    <a:bodyPr/>
                    <a:lstStyle/>
                    <a:p>
                      <a:pPr algn="l" fontAlgn="b"/>
                      <a:endParaRPr lang="es-NI" sz="11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1"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s-ES" sz="1400" b="1" u="none" strike="noStrike" dirty="0">
                          <a:effectLst/>
                        </a:rPr>
                        <a:t>Total pasivos y patrimonio de los accionistas</a:t>
                      </a:r>
                      <a:endParaRPr lang="es-E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NI" sz="1400" b="1" u="none" strike="noStrike" dirty="0">
                          <a:effectLst/>
                        </a:rPr>
                        <a:t>$ 90,000.00</a:t>
                      </a:r>
                      <a:endParaRPr lang="es-NI" sz="14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57881897"/>
                  </a:ext>
                </a:extLst>
              </a:tr>
            </a:tbl>
          </a:graphicData>
        </a:graphic>
      </p:graphicFrame>
    </p:spTree>
    <p:extLst>
      <p:ext uri="{BB962C8B-B14F-4D97-AF65-F5344CB8AC3E}">
        <p14:creationId xmlns:p14="http://schemas.microsoft.com/office/powerpoint/2010/main" val="3535779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p:cNvSpPr txBox="1"/>
          <p:nvPr/>
        </p:nvSpPr>
        <p:spPr>
          <a:xfrm>
            <a:off x="1339403" y="14978"/>
            <a:ext cx="10852597" cy="707886"/>
          </a:xfrm>
          <a:prstGeom prst="rect">
            <a:avLst/>
          </a:prstGeom>
          <a:solidFill>
            <a:srgbClr val="002060"/>
          </a:solidFill>
        </p:spPr>
        <p:txBody>
          <a:bodyPr wrap="square" rtlCol="0">
            <a:spAutoFit/>
          </a:bodyPr>
          <a:lstStyle/>
          <a:p>
            <a:pPr algn="r"/>
            <a:endParaRPr lang="es-NI" sz="4000" b="1" dirty="0">
              <a:solidFill>
                <a:schemeClr val="bg1"/>
              </a:solidFill>
            </a:endParaRPr>
          </a:p>
        </p:txBody>
      </p:sp>
      <p:sp>
        <p:nvSpPr>
          <p:cNvPr id="9" name="CuadroTexto 8">
            <a:extLst>
              <a:ext uri="{FF2B5EF4-FFF2-40B4-BE49-F238E27FC236}">
                <a16:creationId xmlns:a16="http://schemas.microsoft.com/office/drawing/2014/main" id="{EE247067-4E48-4B3E-A7E3-F0E15B0D38EC}"/>
              </a:ext>
            </a:extLst>
          </p:cNvPr>
          <p:cNvSpPr txBox="1"/>
          <p:nvPr/>
        </p:nvSpPr>
        <p:spPr>
          <a:xfrm>
            <a:off x="1775791" y="5669465"/>
            <a:ext cx="9771218" cy="923330"/>
          </a:xfrm>
          <a:prstGeom prst="rect">
            <a:avLst/>
          </a:prstGeom>
          <a:noFill/>
        </p:spPr>
        <p:txBody>
          <a:bodyPr wrap="square">
            <a:spAutoFit/>
          </a:bodyPr>
          <a:lstStyle/>
          <a:p>
            <a:r>
              <a:rPr lang="es-ES" dirty="0"/>
              <a:t>Se requiere una cifra de “ajuste”, denominada financiamiento externo requerido, de $8,293 para equilibrar el estado financiero. Esto significa que la empresa deberá obtener alrededor de $8,300 de financiamiento externo adicional para apoyar el aumento del nivel de ventas de $135,000 para 2013.</a:t>
            </a:r>
            <a:endParaRPr lang="es-NI" dirty="0"/>
          </a:p>
        </p:txBody>
      </p:sp>
      <p:graphicFrame>
        <p:nvGraphicFramePr>
          <p:cNvPr id="3" name="Tabla 2">
            <a:extLst>
              <a:ext uri="{FF2B5EF4-FFF2-40B4-BE49-F238E27FC236}">
                <a16:creationId xmlns:a16="http://schemas.microsoft.com/office/drawing/2014/main" id="{A11D3B5A-F061-4D8D-BCF2-8BB05A735700}"/>
              </a:ext>
            </a:extLst>
          </p:cNvPr>
          <p:cNvGraphicFramePr>
            <a:graphicFrameLocks noGrp="1"/>
          </p:cNvGraphicFramePr>
          <p:nvPr>
            <p:extLst>
              <p:ext uri="{D42A27DB-BD31-4B8C-83A1-F6EECF244321}">
                <p14:modId xmlns:p14="http://schemas.microsoft.com/office/powerpoint/2010/main" val="1733054522"/>
              </p:ext>
            </p:extLst>
          </p:nvPr>
        </p:nvGraphicFramePr>
        <p:xfrm>
          <a:off x="1775791" y="1188535"/>
          <a:ext cx="9594573" cy="4337627"/>
        </p:xfrm>
        <a:graphic>
          <a:graphicData uri="http://schemas.openxmlformats.org/drawingml/2006/table">
            <a:tbl>
              <a:tblPr>
                <a:tableStyleId>{5C22544A-7EE6-4342-B048-85BDC9FD1C3A}</a:tableStyleId>
              </a:tblPr>
              <a:tblGrid>
                <a:gridCol w="2497996">
                  <a:extLst>
                    <a:ext uri="{9D8B030D-6E8A-4147-A177-3AD203B41FA5}">
                      <a16:colId xmlns:a16="http://schemas.microsoft.com/office/drawing/2014/main" val="1030713261"/>
                    </a:ext>
                  </a:extLst>
                </a:gridCol>
                <a:gridCol w="1319963">
                  <a:extLst>
                    <a:ext uri="{9D8B030D-6E8A-4147-A177-3AD203B41FA5}">
                      <a16:colId xmlns:a16="http://schemas.microsoft.com/office/drawing/2014/main" val="942008454"/>
                    </a:ext>
                  </a:extLst>
                </a:gridCol>
                <a:gridCol w="482567">
                  <a:extLst>
                    <a:ext uri="{9D8B030D-6E8A-4147-A177-3AD203B41FA5}">
                      <a16:colId xmlns:a16="http://schemas.microsoft.com/office/drawing/2014/main" val="986537560"/>
                    </a:ext>
                  </a:extLst>
                </a:gridCol>
                <a:gridCol w="4045049">
                  <a:extLst>
                    <a:ext uri="{9D8B030D-6E8A-4147-A177-3AD203B41FA5}">
                      <a16:colId xmlns:a16="http://schemas.microsoft.com/office/drawing/2014/main" val="3607828795"/>
                    </a:ext>
                  </a:extLst>
                </a:gridCol>
                <a:gridCol w="1248998">
                  <a:extLst>
                    <a:ext uri="{9D8B030D-6E8A-4147-A177-3AD203B41FA5}">
                      <a16:colId xmlns:a16="http://schemas.microsoft.com/office/drawing/2014/main" val="3711943829"/>
                    </a:ext>
                  </a:extLst>
                </a:gridCol>
              </a:tblGrid>
              <a:tr h="224168">
                <a:tc gridSpan="5">
                  <a:txBody>
                    <a:bodyPr/>
                    <a:lstStyle/>
                    <a:p>
                      <a:pPr algn="ctr" fontAlgn="b"/>
                      <a:r>
                        <a:rPr lang="es-NI" sz="1400" u="none" strike="noStrike" dirty="0" err="1">
                          <a:effectLst/>
                        </a:rPr>
                        <a:t>Vectra</a:t>
                      </a:r>
                      <a:r>
                        <a:rPr lang="es-NI" sz="1400" u="none" strike="noStrike" dirty="0">
                          <a:effectLst/>
                        </a:rPr>
                        <a:t> </a:t>
                      </a:r>
                      <a:r>
                        <a:rPr lang="es-NI" sz="1400" u="none" strike="noStrike" dirty="0" err="1">
                          <a:effectLst/>
                        </a:rPr>
                        <a:t>Manufacturing</a:t>
                      </a:r>
                      <a:r>
                        <a:rPr lang="es-NI" sz="1400" u="none" strike="noStrike" dirty="0">
                          <a:effectLst/>
                        </a:rPr>
                        <a:t> </a:t>
                      </a:r>
                      <a:endParaRPr lang="es-NI" sz="1400" b="1" i="0" u="none" strike="noStrike" dirty="0">
                        <a:solidFill>
                          <a:srgbClr val="000000"/>
                        </a:solidFill>
                        <a:effectLst/>
                        <a:latin typeface="Calibri" panose="020F0502020204030204" pitchFamily="34" charset="0"/>
                      </a:endParaRPr>
                    </a:p>
                  </a:txBody>
                  <a:tcPr marL="0" marR="0" marT="0" marB="0" anchor="b"/>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3672536336"/>
                  </a:ext>
                </a:extLst>
              </a:tr>
              <a:tr h="224168">
                <a:tc gridSpan="5">
                  <a:txBody>
                    <a:bodyPr/>
                    <a:lstStyle/>
                    <a:p>
                      <a:pPr algn="ctr" fontAlgn="b"/>
                      <a:r>
                        <a:rPr lang="es-ES" sz="1400" u="none" strike="noStrike" dirty="0">
                          <a:effectLst/>
                        </a:rPr>
                        <a:t>Balance general al 31 de diciembre 2013</a:t>
                      </a:r>
                      <a:endParaRPr lang="es-ES" sz="1400" b="1" i="0" u="none" strike="noStrike" dirty="0">
                        <a:solidFill>
                          <a:srgbClr val="000000"/>
                        </a:solidFill>
                        <a:effectLst/>
                        <a:latin typeface="Calibri" panose="020F0502020204030204" pitchFamily="34" charset="0"/>
                      </a:endParaRPr>
                    </a:p>
                  </a:txBody>
                  <a:tcPr marL="0" marR="0" marT="0" marB="0" anchor="b"/>
                </a:tc>
                <a:tc hMerge="1">
                  <a:txBody>
                    <a:bodyPr/>
                    <a:lstStyle/>
                    <a:p>
                      <a:endParaRPr lang="es-NI"/>
                    </a:p>
                  </a:txBody>
                  <a:tcPr/>
                </a:tc>
                <a:tc hMerge="1">
                  <a:txBody>
                    <a:bodyPr/>
                    <a:lstStyle/>
                    <a:p>
                      <a:endParaRPr lang="es-NI"/>
                    </a:p>
                  </a:txBody>
                  <a:tcPr/>
                </a:tc>
                <a:tc hMerge="1">
                  <a:txBody>
                    <a:bodyPr/>
                    <a:lstStyle/>
                    <a:p>
                      <a:endParaRPr lang="es-NI"/>
                    </a:p>
                  </a:txBody>
                  <a:tcPr/>
                </a:tc>
                <a:tc hMerge="1">
                  <a:txBody>
                    <a:bodyPr/>
                    <a:lstStyle/>
                    <a:p>
                      <a:endParaRPr lang="es-NI"/>
                    </a:p>
                  </a:txBody>
                  <a:tcPr/>
                </a:tc>
                <a:extLst>
                  <a:ext uri="{0D108BD9-81ED-4DB2-BD59-A6C34878D82A}">
                    <a16:rowId xmlns:a16="http://schemas.microsoft.com/office/drawing/2014/main" val="3718082362"/>
                  </a:ext>
                </a:extLst>
              </a:tr>
              <a:tr h="224168">
                <a:tc>
                  <a:txBody>
                    <a:bodyPr/>
                    <a:lstStyle/>
                    <a:p>
                      <a:pPr algn="l" fontAlgn="b"/>
                      <a:endParaRPr lang="es-NI"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999755602"/>
                  </a:ext>
                </a:extLst>
              </a:tr>
              <a:tr h="267795">
                <a:tc>
                  <a:txBody>
                    <a:bodyPr/>
                    <a:lstStyle/>
                    <a:p>
                      <a:pPr algn="ctr" fontAlgn="b"/>
                      <a:r>
                        <a:rPr lang="es-NI" sz="1400" b="1" u="none" strike="noStrike" dirty="0">
                          <a:effectLst/>
                        </a:rPr>
                        <a:t>Activos</a:t>
                      </a:r>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ES" sz="1400" b="1" u="none" strike="noStrike" dirty="0">
                          <a:effectLst/>
                        </a:rPr>
                        <a:t>Pasivos y patrimonio de los accionistas</a:t>
                      </a:r>
                      <a:endParaRPr lang="es-ES" sz="1400" b="1"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59446872"/>
                  </a:ext>
                </a:extLst>
              </a:tr>
              <a:tr h="224168">
                <a:tc>
                  <a:txBody>
                    <a:bodyPr/>
                    <a:lstStyle/>
                    <a:p>
                      <a:pPr algn="ctr" fontAlgn="b"/>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23458579"/>
                  </a:ext>
                </a:extLst>
              </a:tr>
              <a:tr h="224168">
                <a:tc>
                  <a:txBody>
                    <a:bodyPr/>
                    <a:lstStyle/>
                    <a:p>
                      <a:pPr algn="l" fontAlgn="b"/>
                      <a:r>
                        <a:rPr lang="es-NI" sz="1400" u="none" strike="noStrike" dirty="0">
                          <a:effectLst/>
                        </a:rPr>
                        <a:t>Efectivo </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a:effectLst/>
                        </a:rPr>
                        <a:t>$ 6,000.00</a:t>
                      </a:r>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u="none" strike="noStrike" dirty="0">
                          <a:effectLst/>
                        </a:rPr>
                        <a:t>Cuentas por pagar</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a:effectLst/>
                        </a:rPr>
                        <a:t>$ 8,100.00</a:t>
                      </a:r>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842461713"/>
                  </a:ext>
                </a:extLst>
              </a:tr>
              <a:tr h="224168">
                <a:tc>
                  <a:txBody>
                    <a:bodyPr/>
                    <a:lstStyle/>
                    <a:p>
                      <a:pPr algn="l" fontAlgn="b"/>
                      <a:r>
                        <a:rPr lang="es-NI" sz="1400" u="none" strike="noStrike">
                          <a:effectLst/>
                        </a:rPr>
                        <a:t>Valores negociables</a:t>
                      </a:r>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a:effectLst/>
                        </a:rPr>
                        <a:t>$ 4,000.00</a:t>
                      </a:r>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u="none" strike="noStrike" dirty="0">
                          <a:effectLst/>
                        </a:rPr>
                        <a:t>Impuestos por pagar</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a:effectLst/>
                        </a:rPr>
                        <a:t>$ 455.00</a:t>
                      </a:r>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281046430"/>
                  </a:ext>
                </a:extLst>
              </a:tr>
              <a:tr h="224168">
                <a:tc>
                  <a:txBody>
                    <a:bodyPr/>
                    <a:lstStyle/>
                    <a:p>
                      <a:pPr algn="l" fontAlgn="b"/>
                      <a:r>
                        <a:rPr lang="es-NI" sz="1400" u="none" strike="noStrike">
                          <a:effectLst/>
                        </a:rPr>
                        <a:t>Cuentas por cobrar</a:t>
                      </a:r>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dirty="0">
                          <a:effectLst/>
                        </a:rPr>
                        <a:t>$ 16,875.00</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u="none" strike="noStrike" dirty="0">
                          <a:effectLst/>
                        </a:rPr>
                        <a:t>Documentos por pagar</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a:effectLst/>
                        </a:rPr>
                        <a:t>$ 8,300.00</a:t>
                      </a:r>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655363916"/>
                  </a:ext>
                </a:extLst>
              </a:tr>
              <a:tr h="258976">
                <a:tc>
                  <a:txBody>
                    <a:bodyPr/>
                    <a:lstStyle/>
                    <a:p>
                      <a:pPr algn="l" fontAlgn="b"/>
                      <a:r>
                        <a:rPr lang="es-NI" sz="1400" u="none" strike="noStrike">
                          <a:effectLst/>
                        </a:rPr>
                        <a:t>Inventarios</a:t>
                      </a:r>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dirty="0">
                          <a:effectLst/>
                        </a:rPr>
                        <a:t>$ 16,000.00</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u="none" strike="noStrike" dirty="0">
                          <a:effectLst/>
                        </a:rPr>
                        <a:t>Otros pasivos corrientes</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a:effectLst/>
                        </a:rPr>
                        <a:t>$ 3,400.00</a:t>
                      </a:r>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659155925"/>
                  </a:ext>
                </a:extLst>
              </a:tr>
              <a:tr h="224168">
                <a:tc>
                  <a:txBody>
                    <a:bodyPr/>
                    <a:lstStyle/>
                    <a:p>
                      <a:pPr algn="l" fontAlgn="b"/>
                      <a:r>
                        <a:rPr lang="es-NI" sz="1400" b="1" u="none" strike="noStrike" dirty="0">
                          <a:effectLst/>
                        </a:rPr>
                        <a:t>Total de activos corrientes </a:t>
                      </a:r>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b="1" u="none" strike="noStrike" dirty="0">
                          <a:effectLst/>
                        </a:rPr>
                        <a:t>$ 42,875.00</a:t>
                      </a:r>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b="1" u="none" strike="noStrike" dirty="0">
                          <a:effectLst/>
                        </a:rPr>
                        <a:t>Total de pasivos corrientes</a:t>
                      </a:r>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b="1" u="none" strike="noStrike" dirty="0">
                          <a:effectLst/>
                        </a:rPr>
                        <a:t>$ 20,255.00</a:t>
                      </a:r>
                      <a:endParaRPr lang="es-NI" sz="14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59170731"/>
                  </a:ext>
                </a:extLst>
              </a:tr>
              <a:tr h="224168">
                <a:tc>
                  <a:txBody>
                    <a:bodyPr/>
                    <a:lstStyle/>
                    <a:p>
                      <a:pPr algn="l" fontAlgn="b"/>
                      <a:r>
                        <a:rPr lang="es-NI" sz="1400" u="none" strike="noStrike">
                          <a:effectLst/>
                        </a:rPr>
                        <a:t>Activos fijos netos</a:t>
                      </a:r>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dirty="0">
                          <a:effectLst/>
                        </a:rPr>
                        <a:t>$ 63,000.00</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21359830"/>
                  </a:ext>
                </a:extLst>
              </a:tr>
              <a:tr h="224168">
                <a:tc>
                  <a:txBody>
                    <a:bodyPr/>
                    <a:lstStyle/>
                    <a:p>
                      <a:pPr algn="l" fontAlgn="b"/>
                      <a:r>
                        <a:rPr lang="es-NI" sz="1400" b="1" u="none" strike="noStrike" dirty="0">
                          <a:effectLst/>
                        </a:rPr>
                        <a:t>Total de activos</a:t>
                      </a:r>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b="1" u="none" strike="noStrike" dirty="0">
                          <a:effectLst/>
                        </a:rPr>
                        <a:t>$ 105,875.00</a:t>
                      </a:r>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u="none" strike="noStrike" dirty="0">
                          <a:effectLst/>
                        </a:rPr>
                        <a:t>Deuda a largo plazo</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a:effectLst/>
                        </a:rPr>
                        <a:t>$ 18,000.00</a:t>
                      </a:r>
                      <a:endParaRPr lang="es-NI"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99909079"/>
                  </a:ext>
                </a:extLst>
              </a:tr>
              <a:tr h="224168">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b="1" u="none" strike="noStrike" dirty="0">
                          <a:effectLst/>
                        </a:rPr>
                        <a:t>Total de pasivos</a:t>
                      </a:r>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dirty="0">
                          <a:effectLst/>
                        </a:rPr>
                        <a:t>$ 38,255.00</a:t>
                      </a:r>
                      <a:endParaRPr lang="es-NI" sz="14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514400291"/>
                  </a:ext>
                </a:extLst>
              </a:tr>
              <a:tr h="224168">
                <a:tc>
                  <a:txBody>
                    <a:bodyPr/>
                    <a:lstStyle/>
                    <a:p>
                      <a:pPr algn="l" fontAlgn="b"/>
                      <a:endParaRPr lang="es-NI" sz="11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1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119268906"/>
                  </a:ext>
                </a:extLst>
              </a:tr>
              <a:tr h="224168">
                <a:tc>
                  <a:txBody>
                    <a:bodyPr/>
                    <a:lstStyle/>
                    <a:p>
                      <a:pPr algn="l" fontAlgn="b"/>
                      <a:endParaRPr lang="es-NI" sz="11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1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u="none" strike="noStrike">
                          <a:effectLst/>
                        </a:rPr>
                        <a:t>Acciones comunes</a:t>
                      </a:r>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dirty="0">
                          <a:effectLst/>
                        </a:rPr>
                        <a:t>$ 30,000.00</a:t>
                      </a:r>
                      <a:endParaRPr lang="es-NI"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4180913088"/>
                  </a:ext>
                </a:extLst>
              </a:tr>
              <a:tr h="224168">
                <a:tc>
                  <a:txBody>
                    <a:bodyPr/>
                    <a:lstStyle/>
                    <a:p>
                      <a:pPr algn="l" fontAlgn="b"/>
                      <a:endParaRPr lang="es-NI"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u="none" strike="noStrike" dirty="0">
                          <a:effectLst/>
                        </a:rPr>
                        <a:t>Ganancias retenidas</a:t>
                      </a:r>
                      <a:endParaRPr lang="es-NI" sz="1400" b="0"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dirty="0">
                          <a:effectLst/>
                        </a:rPr>
                        <a:t>$ 29,327.00</a:t>
                      </a:r>
                      <a:endParaRPr lang="es-NI"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58417653"/>
                  </a:ext>
                </a:extLst>
              </a:tr>
              <a:tr h="224168">
                <a:tc>
                  <a:txBody>
                    <a:bodyPr/>
                    <a:lstStyle/>
                    <a:p>
                      <a:pPr algn="l" fontAlgn="b"/>
                      <a:endParaRPr lang="es-NI" sz="11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1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b="1" u="none" strike="noStrike" dirty="0">
                          <a:effectLst/>
                        </a:rPr>
                        <a:t>Total</a:t>
                      </a:r>
                      <a:endParaRPr lang="es-NI" sz="1400" b="1" i="0" u="none" strike="noStrike" dirty="0">
                        <a:solidFill>
                          <a:srgbClr val="000000"/>
                        </a:solidFill>
                        <a:effectLst/>
                        <a:latin typeface="Calibri" panose="020F0502020204030204" pitchFamily="34" charset="0"/>
                      </a:endParaRPr>
                    </a:p>
                  </a:txBody>
                  <a:tcPr marL="0" marR="0" marT="0" marB="0" anchor="b"/>
                </a:tc>
                <a:tc>
                  <a:txBody>
                    <a:bodyPr/>
                    <a:lstStyle/>
                    <a:p>
                      <a:pPr algn="r" fontAlgn="b"/>
                      <a:r>
                        <a:rPr lang="es-NI" sz="1400" b="1" u="none" strike="noStrike" dirty="0">
                          <a:effectLst/>
                        </a:rPr>
                        <a:t>$ 97,582.00</a:t>
                      </a:r>
                      <a:endParaRPr lang="es-NI" sz="14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444616054"/>
                  </a:ext>
                </a:extLst>
              </a:tr>
              <a:tr h="224168">
                <a:tc>
                  <a:txBody>
                    <a:bodyPr/>
                    <a:lstStyle/>
                    <a:p>
                      <a:pPr algn="l" fontAlgn="b"/>
                      <a:endParaRPr lang="es-NI"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100" b="0"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NI" sz="1400" u="none" strike="noStrike">
                          <a:effectLst/>
                        </a:rPr>
                        <a:t>Finaciamiento externo requerido</a:t>
                      </a:r>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s-NI" sz="1400" u="none" strike="noStrike" dirty="0">
                          <a:effectLst/>
                        </a:rPr>
                        <a:t>8293</a:t>
                      </a:r>
                      <a:endParaRPr lang="es-NI"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064007403"/>
                  </a:ext>
                </a:extLst>
              </a:tr>
              <a:tr h="224168">
                <a:tc>
                  <a:txBody>
                    <a:bodyPr/>
                    <a:lstStyle/>
                    <a:p>
                      <a:pPr algn="l" fontAlgn="b"/>
                      <a:endParaRPr lang="es-NI" sz="11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100" b="1" i="0" u="none" strike="noStrike">
                        <a:solidFill>
                          <a:srgbClr val="000000"/>
                        </a:solidFill>
                        <a:effectLst/>
                        <a:latin typeface="Calibri" panose="020F0502020204030204" pitchFamily="34" charset="0"/>
                      </a:endParaRPr>
                    </a:p>
                  </a:txBody>
                  <a:tcPr marL="0" marR="0" marT="0" marB="0" anchor="b"/>
                </a:tc>
                <a:tc>
                  <a:txBody>
                    <a:bodyPr/>
                    <a:lstStyle/>
                    <a:p>
                      <a:pPr algn="l" fontAlgn="b"/>
                      <a:endParaRPr lang="es-NI"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s-ES" sz="1400" u="none" strike="noStrike">
                          <a:effectLst/>
                        </a:rPr>
                        <a:t>Total pasivos y patrimonio de los accionistas</a:t>
                      </a:r>
                      <a:endParaRPr lang="es-ES" sz="1400" b="1" i="0" u="none" strike="noStrike">
                        <a:solidFill>
                          <a:srgbClr val="000000"/>
                        </a:solidFill>
                        <a:effectLst/>
                        <a:latin typeface="Calibri" panose="020F0502020204030204" pitchFamily="34" charset="0"/>
                      </a:endParaRPr>
                    </a:p>
                  </a:txBody>
                  <a:tcPr marL="0" marR="0" marT="0" marB="0" anchor="b"/>
                </a:tc>
                <a:tc>
                  <a:txBody>
                    <a:bodyPr/>
                    <a:lstStyle/>
                    <a:p>
                      <a:pPr algn="r" fontAlgn="b"/>
                      <a:r>
                        <a:rPr lang="es-NI" sz="1400" b="1" u="none" strike="noStrike" dirty="0">
                          <a:effectLst/>
                        </a:rPr>
                        <a:t>$ 105,875.00</a:t>
                      </a:r>
                      <a:endParaRPr lang="es-NI" sz="1400" b="1"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23867916"/>
                  </a:ext>
                </a:extLst>
              </a:tr>
            </a:tbl>
          </a:graphicData>
        </a:graphic>
      </p:graphicFrame>
    </p:spTree>
    <p:extLst>
      <p:ext uri="{BB962C8B-B14F-4D97-AF65-F5344CB8AC3E}">
        <p14:creationId xmlns:p14="http://schemas.microsoft.com/office/powerpoint/2010/main" val="2515092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Rectangle 853"/>
          <p:cNvSpPr/>
          <p:nvPr/>
        </p:nvSpPr>
        <p:spPr>
          <a:xfrm>
            <a:off x="0" y="2099"/>
            <a:ext cx="1429555" cy="6858000"/>
          </a:xfrm>
          <a:prstGeom prst="rect">
            <a:avLst/>
          </a:prstGeom>
          <a:solidFill>
            <a:srgbClr val="002060"/>
          </a:solidFill>
          <a:ln>
            <a:solidFill>
              <a:srgbClr val="0080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5" name="Rectangle 854"/>
          <p:cNvSpPr/>
          <p:nvPr/>
        </p:nvSpPr>
        <p:spPr>
          <a:xfrm>
            <a:off x="-478637" y="2148399"/>
            <a:ext cx="3771266" cy="256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uadroTexto 2"/>
          <p:cNvSpPr txBox="1"/>
          <p:nvPr/>
        </p:nvSpPr>
        <p:spPr>
          <a:xfrm>
            <a:off x="1339403" y="14978"/>
            <a:ext cx="10852597" cy="646331"/>
          </a:xfrm>
          <a:prstGeom prst="rect">
            <a:avLst/>
          </a:prstGeom>
          <a:solidFill>
            <a:srgbClr val="002060"/>
          </a:solidFill>
        </p:spPr>
        <p:txBody>
          <a:bodyPr wrap="square" rtlCol="0">
            <a:spAutoFit/>
          </a:bodyPr>
          <a:lstStyle/>
          <a:p>
            <a:pPr algn="r"/>
            <a:endParaRPr lang="es-NI" sz="3600" b="1" dirty="0">
              <a:solidFill>
                <a:schemeClr val="bg1"/>
              </a:solidFill>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0881" y="1601102"/>
            <a:ext cx="6809790" cy="4466636"/>
          </a:xfrm>
          <a:prstGeom prst="rect">
            <a:avLst/>
          </a:prstGeom>
        </p:spPr>
      </p:pic>
    </p:spTree>
    <p:extLst>
      <p:ext uri="{BB962C8B-B14F-4D97-AF65-F5344CB8AC3E}">
        <p14:creationId xmlns:p14="http://schemas.microsoft.com/office/powerpoint/2010/main" val="91482965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1190</TotalTime>
  <Words>2240</Words>
  <Application>Microsoft Office PowerPoint</Application>
  <PresentationFormat>Panorámica</PresentationFormat>
  <Paragraphs>354</Paragraphs>
  <Slides>20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Arial</vt:lpstr>
      <vt:lpstr>Calibri</vt:lpstr>
      <vt:lpstr>Calibri Light</vt:lpstr>
      <vt:lpstr>Franklin Gothic Heavy</vt:lpstr>
      <vt:lpstr>Tema de Office</vt:lpstr>
      <vt:lpstr>Presentación de PowerPoint</vt:lpstr>
      <vt:lpstr>PLANEACIÓN DE LAS UTILIDADES</vt:lpstr>
      <vt:lpstr>PLANEACIÓN DE LAS UTILIDADES</vt:lpstr>
      <vt:lpstr>PLANEACIÓN DE LAS UTILIDADES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Método crítico (premisas)</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Hazely</dc:creator>
  <cp:lastModifiedBy>Allan Francisco Obando Delgadillo</cp:lastModifiedBy>
  <cp:revision>128</cp:revision>
  <dcterms:created xsi:type="dcterms:W3CDTF">2018-03-15T00:14:55Z</dcterms:created>
  <dcterms:modified xsi:type="dcterms:W3CDTF">2025-11-10T03:12:18Z</dcterms:modified>
</cp:coreProperties>
</file>