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61" r:id="rId4"/>
    <p:sldId id="302" r:id="rId5"/>
    <p:sldId id="258" r:id="rId6"/>
    <p:sldId id="300" r:id="rId7"/>
    <p:sldId id="306" r:id="rId8"/>
    <p:sldId id="285" r:id="rId9"/>
    <p:sldId id="303" r:id="rId10"/>
    <p:sldId id="305" r:id="rId11"/>
    <p:sldId id="294" r:id="rId12"/>
  </p:sldIdLst>
  <p:sldSz cx="12193588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F839D-4182-4FDE-8656-F65D6B400FF2}" type="datetimeFigureOut">
              <a:rPr lang="es-NI" smtClean="0"/>
              <a:t>7/10/2024</a:t>
            </a:fld>
            <a:endParaRPr lang="es-NI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NI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7FE7E-C0E5-479C-9304-964A3A3A9B1D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2234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998"/>
              </a:spcBef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5131440" cy="43513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560" y="1825200"/>
            <a:ext cx="5131440" cy="43513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998"/>
              </a:spcBef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560" y="1825200"/>
            <a:ext cx="5131440" cy="43513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44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5131440" cy="43513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44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60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1051560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60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44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44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en-US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338580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200"/>
            <a:ext cx="338580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200"/>
            <a:ext cx="338580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228600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685800" lvl="1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143000" lvl="2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600200" lvl="3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057400" lvl="4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057400" lvl="5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057400" lvl="6" indent="-228600">
              <a:spcBef>
                <a:spcPts val="998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es-CO" sz="1200" b="0" strike="noStrike" spc="-1">
                <a:solidFill>
                  <a:srgbClr val="898989"/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 algn="r"/>
            <a:fld id="{9C34F2E2-1BDE-4EEC-9C99-6B0C0498DF94}" type="slidenum">
              <a:rPr lang="es-CO" sz="1200" b="0" strike="noStrike" spc="-1">
                <a:solidFill>
                  <a:srgbClr val="898989"/>
                </a:solidFill>
                <a:latin typeface="Calibri"/>
              </a:rPr>
              <a:t>‹Nº›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or qué las finanzas son importantes en 2020">
            <a:extLst>
              <a:ext uri="{FF2B5EF4-FFF2-40B4-BE49-F238E27FC236}">
                <a16:creationId xmlns:a16="http://schemas.microsoft.com/office/drawing/2014/main" id="{42AD8DB0-2316-4A9B-A85E-BB28A7775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2" y="198361"/>
            <a:ext cx="8319905" cy="646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ustomShape 1"/>
          <p:cNvSpPr/>
          <p:nvPr/>
        </p:nvSpPr>
        <p:spPr>
          <a:xfrm>
            <a:off x="7732800" y="2862360"/>
            <a:ext cx="4459320" cy="3797280"/>
          </a:xfrm>
          <a:custGeom>
            <a:avLst/>
            <a:gdLst/>
            <a:ahLst/>
            <a:cxnLst/>
            <a:rect l="l" t="t" r="r" b="b"/>
            <a:pathLst>
              <a:path w="4459357" h="3796747">
                <a:moveTo>
                  <a:pt x="0" y="0"/>
                </a:moveTo>
                <a:lnTo>
                  <a:pt x="4459357" y="0"/>
                </a:lnTo>
                <a:lnTo>
                  <a:pt x="4459357" y="2482269"/>
                </a:lnTo>
                <a:lnTo>
                  <a:pt x="4432853" y="2464904"/>
                </a:lnTo>
                <a:lnTo>
                  <a:pt x="636105" y="3796747"/>
                </a:lnTo>
                <a:lnTo>
                  <a:pt x="0" y="1926986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" name="CustomShape 2"/>
          <p:cNvSpPr/>
          <p:nvPr/>
        </p:nvSpPr>
        <p:spPr>
          <a:xfrm>
            <a:off x="3094200" y="0"/>
            <a:ext cx="9097920" cy="6513480"/>
          </a:xfrm>
          <a:custGeom>
            <a:avLst/>
            <a:gdLst/>
            <a:ahLst/>
            <a:cxnLst/>
            <a:rect l="l" t="t" r="r" b="b"/>
            <a:pathLst>
              <a:path w="9097730" h="6513286">
                <a:moveTo>
                  <a:pt x="0" y="0"/>
                </a:moveTo>
                <a:lnTo>
                  <a:pt x="9097730" y="0"/>
                </a:lnTo>
                <a:lnTo>
                  <a:pt x="9097730" y="4694064"/>
                </a:lnTo>
                <a:lnTo>
                  <a:pt x="2571034" y="6513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3"/>
          <p:cNvSpPr/>
          <p:nvPr/>
        </p:nvSpPr>
        <p:spPr>
          <a:xfrm>
            <a:off x="0" y="0"/>
            <a:ext cx="4770360" cy="1662120"/>
          </a:xfrm>
          <a:custGeom>
            <a:avLst/>
            <a:gdLst/>
            <a:ahLst/>
            <a:cxnLst/>
            <a:rect l="l" t="t" r="r" b="b"/>
            <a:pathLst>
              <a:path w="4770783" h="1662716">
                <a:moveTo>
                  <a:pt x="0" y="0"/>
                </a:moveTo>
                <a:lnTo>
                  <a:pt x="4770783" y="0"/>
                </a:lnTo>
                <a:lnTo>
                  <a:pt x="4770783" y="62095"/>
                </a:lnTo>
                <a:lnTo>
                  <a:pt x="0" y="1662716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CustomShape 4"/>
          <p:cNvSpPr/>
          <p:nvPr/>
        </p:nvSpPr>
        <p:spPr>
          <a:xfrm>
            <a:off x="3395548" y="-149400"/>
            <a:ext cx="8798040" cy="6492960"/>
          </a:xfrm>
          <a:custGeom>
            <a:avLst/>
            <a:gdLst/>
            <a:ahLst/>
            <a:cxnLst/>
            <a:rect l="l" t="t" r="r" b="b"/>
            <a:pathLst>
              <a:path w="8797989" h="6493408">
                <a:moveTo>
                  <a:pt x="0" y="0"/>
                </a:moveTo>
                <a:lnTo>
                  <a:pt x="8797989" y="0"/>
                </a:lnTo>
                <a:lnTo>
                  <a:pt x="8797989" y="4254418"/>
                </a:lnTo>
                <a:lnTo>
                  <a:pt x="2231537" y="6493408"/>
                </a:lnTo>
                <a:lnTo>
                  <a:pt x="0" y="0"/>
                </a:lnTo>
                <a:close/>
              </a:path>
            </a:pathLst>
          </a:custGeom>
          <a:solidFill>
            <a:srgbClr val="0C112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CustomShape 7"/>
          <p:cNvSpPr/>
          <p:nvPr/>
        </p:nvSpPr>
        <p:spPr>
          <a:xfrm>
            <a:off x="0" y="-12600"/>
            <a:ext cx="1828800" cy="1044360"/>
          </a:xfrm>
          <a:custGeom>
            <a:avLst/>
            <a:gdLst/>
            <a:ahLst/>
            <a:cxnLst/>
            <a:rect l="l" t="t" r="r" b="b"/>
            <a:pathLst>
              <a:path w="1828800" h="1045148">
                <a:moveTo>
                  <a:pt x="0" y="0"/>
                </a:moveTo>
                <a:lnTo>
                  <a:pt x="1666150" y="0"/>
                </a:lnTo>
                <a:lnTo>
                  <a:pt x="1828800" y="450417"/>
                </a:lnTo>
                <a:lnTo>
                  <a:pt x="0" y="1045148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" name="CustomShape 8"/>
          <p:cNvSpPr/>
          <p:nvPr/>
        </p:nvSpPr>
        <p:spPr>
          <a:xfrm>
            <a:off x="4343678" y="2170747"/>
            <a:ext cx="7848442" cy="9255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ctr">
            <a:spAutoFit/>
          </a:bodyPr>
          <a:lstStyle/>
          <a:p>
            <a:pPr marL="107640" algn="ctr">
              <a:spcBef>
                <a:spcPts val="2398"/>
              </a:spcBef>
            </a:pPr>
            <a:r>
              <a:rPr lang="es-NI" sz="5400" b="1" spc="-1" dirty="0">
                <a:solidFill>
                  <a:schemeClr val="bg1"/>
                </a:solidFill>
                <a:latin typeface="Kozuka Gothic Pr6N H"/>
              </a:rPr>
              <a:t>Análisis Dupont</a:t>
            </a:r>
            <a:endParaRPr lang="en-US" sz="5400" b="1" spc="-1" dirty="0">
              <a:solidFill>
                <a:schemeClr val="bg1"/>
              </a:solidFill>
              <a:latin typeface="Kozuka Gothic Pr6N 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9435960" y="0"/>
            <a:ext cx="1536840" cy="1106640"/>
          </a:xfrm>
          <a:custGeom>
            <a:avLst/>
            <a:gdLst/>
            <a:ahLst/>
            <a:cxnLst/>
            <a:rect l="l" t="t" r="r" b="b"/>
            <a:pathLst>
              <a:path w="1537091" h="1106692">
                <a:moveTo>
                  <a:pt x="0" y="0"/>
                </a:moveTo>
                <a:lnTo>
                  <a:pt x="1537091" y="0"/>
                </a:lnTo>
                <a:lnTo>
                  <a:pt x="1537091" y="707681"/>
                </a:lnTo>
                <a:lnTo>
                  <a:pt x="317891" y="1106692"/>
                </a:lnTo>
                <a:lnTo>
                  <a:pt x="241691" y="1106692"/>
                </a:lnTo>
                <a:lnTo>
                  <a:pt x="0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CustomShape 2"/>
          <p:cNvSpPr/>
          <p:nvPr/>
        </p:nvSpPr>
        <p:spPr>
          <a:xfrm>
            <a:off x="0" y="0"/>
            <a:ext cx="3827520" cy="1106640"/>
          </a:xfrm>
          <a:custGeom>
            <a:avLst/>
            <a:gdLst/>
            <a:ahLst/>
            <a:cxnLst/>
            <a:rect l="l" t="t" r="r" b="b"/>
            <a:pathLst>
              <a:path w="3826831" h="1106714">
                <a:moveTo>
                  <a:pt x="0" y="0"/>
                </a:moveTo>
                <a:lnTo>
                  <a:pt x="3826831" y="0"/>
                </a:lnTo>
                <a:lnTo>
                  <a:pt x="0" y="1106714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3" name="CustomShape 5"/>
          <p:cNvSpPr/>
          <p:nvPr/>
        </p:nvSpPr>
        <p:spPr>
          <a:xfrm>
            <a:off x="10572840" y="0"/>
            <a:ext cx="1619280" cy="1486080"/>
          </a:xfrm>
          <a:custGeom>
            <a:avLst/>
            <a:gdLst/>
            <a:ahLst/>
            <a:cxnLst/>
            <a:rect l="l" t="t" r="r" b="b"/>
            <a:pathLst>
              <a:path w="1619907" h="1485900">
                <a:moveTo>
                  <a:pt x="0" y="0"/>
                </a:moveTo>
                <a:lnTo>
                  <a:pt x="1619907" y="0"/>
                </a:lnTo>
                <a:lnTo>
                  <a:pt x="1619907" y="1086889"/>
                </a:lnTo>
                <a:lnTo>
                  <a:pt x="400707" y="1485900"/>
                </a:lnTo>
                <a:lnTo>
                  <a:pt x="324507" y="14859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6"/>
          <p:cNvSpPr/>
          <p:nvPr/>
        </p:nvSpPr>
        <p:spPr>
          <a:xfrm>
            <a:off x="0" y="0"/>
            <a:ext cx="2146320" cy="655560"/>
          </a:xfrm>
          <a:custGeom>
            <a:avLst/>
            <a:gdLst/>
            <a:ahLst/>
            <a:cxnLst/>
            <a:rect l="l" t="t" r="r" b="b"/>
            <a:pathLst>
              <a:path w="2145798" h="655661">
                <a:moveTo>
                  <a:pt x="0" y="0"/>
                </a:moveTo>
                <a:lnTo>
                  <a:pt x="2145798" y="0"/>
                </a:lnTo>
                <a:lnTo>
                  <a:pt x="0" y="6556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7"/>
          <p:cNvSpPr/>
          <p:nvPr/>
        </p:nvSpPr>
        <p:spPr>
          <a:xfrm>
            <a:off x="436680" y="-11160"/>
            <a:ext cx="2527200" cy="666720"/>
          </a:xfrm>
          <a:custGeom>
            <a:avLst/>
            <a:gdLst/>
            <a:ahLst/>
            <a:cxnLst/>
            <a:rect l="l" t="t" r="r" b="b"/>
            <a:pathLst>
              <a:path w="2528094" h="666750">
                <a:moveTo>
                  <a:pt x="0" y="0"/>
                </a:moveTo>
                <a:lnTo>
                  <a:pt x="2528094" y="0"/>
                </a:lnTo>
                <a:lnTo>
                  <a:pt x="208359" y="666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8"/>
          <p:cNvSpPr/>
          <p:nvPr/>
        </p:nvSpPr>
        <p:spPr>
          <a:xfrm>
            <a:off x="10147320" y="6165720"/>
            <a:ext cx="2044800" cy="692280"/>
          </a:xfrm>
          <a:custGeom>
            <a:avLst/>
            <a:gdLst/>
            <a:ahLst/>
            <a:cxnLst/>
            <a:rect l="l" t="t" r="r" b="b"/>
            <a:pathLst>
              <a:path w="2045058" h="691424">
                <a:moveTo>
                  <a:pt x="2045058" y="0"/>
                </a:moveTo>
                <a:lnTo>
                  <a:pt x="2045058" y="691424"/>
                </a:lnTo>
                <a:lnTo>
                  <a:pt x="0" y="691424"/>
                </a:lnTo>
                <a:lnTo>
                  <a:pt x="2045058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9"/>
          <p:cNvSpPr/>
          <p:nvPr/>
        </p:nvSpPr>
        <p:spPr>
          <a:xfrm>
            <a:off x="9255240" y="6305400"/>
            <a:ext cx="2012760" cy="552600"/>
          </a:xfrm>
          <a:custGeom>
            <a:avLst/>
            <a:gdLst/>
            <a:ahLst/>
            <a:cxnLst/>
            <a:rect l="l" t="t" r="r" b="b"/>
            <a:pathLst>
              <a:path w="2012515" h="552450">
                <a:moveTo>
                  <a:pt x="1774536" y="0"/>
                </a:moveTo>
                <a:lnTo>
                  <a:pt x="2012515" y="552450"/>
                </a:lnTo>
                <a:lnTo>
                  <a:pt x="0" y="552450"/>
                </a:lnTo>
                <a:lnTo>
                  <a:pt x="1774536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CustomShape 10"/>
          <p:cNvSpPr/>
          <p:nvPr/>
        </p:nvSpPr>
        <p:spPr>
          <a:xfrm>
            <a:off x="1700280" y="6381720"/>
            <a:ext cx="4057560" cy="476280"/>
          </a:xfrm>
          <a:custGeom>
            <a:avLst/>
            <a:gdLst/>
            <a:ahLst/>
            <a:cxnLst/>
            <a:rect l="l" t="t" r="r" b="b"/>
            <a:pathLst>
              <a:path w="4057619" h="476250">
                <a:moveTo>
                  <a:pt x="3938556" y="0"/>
                </a:moveTo>
                <a:lnTo>
                  <a:pt x="4057619" y="476250"/>
                </a:lnTo>
                <a:lnTo>
                  <a:pt x="21523" y="476250"/>
                </a:lnTo>
                <a:lnTo>
                  <a:pt x="0" y="465544"/>
                </a:lnTo>
                <a:lnTo>
                  <a:pt x="0" y="409895"/>
                </a:lnTo>
                <a:lnTo>
                  <a:pt x="3938556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9" name="CustomShape 11"/>
          <p:cNvSpPr/>
          <p:nvPr/>
        </p:nvSpPr>
        <p:spPr>
          <a:xfrm>
            <a:off x="-27000" y="6205680"/>
            <a:ext cx="2643120" cy="652320"/>
          </a:xfrm>
          <a:custGeom>
            <a:avLst/>
            <a:gdLst/>
            <a:ahLst/>
            <a:cxnLst/>
            <a:rect l="l" t="t" r="r" b="b"/>
            <a:pathLst>
              <a:path w="2642459" h="652849">
                <a:moveTo>
                  <a:pt x="2533651" y="0"/>
                </a:moveTo>
                <a:lnTo>
                  <a:pt x="2642459" y="652849"/>
                </a:lnTo>
                <a:lnTo>
                  <a:pt x="0" y="652849"/>
                </a:lnTo>
                <a:lnTo>
                  <a:pt x="0" y="436837"/>
                </a:lnTo>
                <a:lnTo>
                  <a:pt x="2533651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050" name="Picture 2" descr="PENSAR LO QUE PENSAMOS - Código">
            <a:extLst>
              <a:ext uri="{FF2B5EF4-FFF2-40B4-BE49-F238E27FC236}">
                <a16:creationId xmlns:a16="http://schemas.microsoft.com/office/drawing/2014/main" id="{D609AC8B-F6AD-49BB-A731-E055955D0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059" y="337061"/>
            <a:ext cx="4057561" cy="3041511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stomShape 8">
            <a:extLst>
              <a:ext uri="{FF2B5EF4-FFF2-40B4-BE49-F238E27FC236}">
                <a16:creationId xmlns:a16="http://schemas.microsoft.com/office/drawing/2014/main" id="{9C13FCB6-0359-434B-94FC-F15DB7BBE13B}"/>
              </a:ext>
            </a:extLst>
          </p:cNvPr>
          <p:cNvSpPr/>
          <p:nvPr/>
        </p:nvSpPr>
        <p:spPr>
          <a:xfrm>
            <a:off x="925588" y="3479429"/>
            <a:ext cx="9953722" cy="32646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s-NI" sz="4400" b="1" spc="-1" dirty="0">
                <a:solidFill>
                  <a:srgbClr val="002060"/>
                </a:solidFill>
                <a:latin typeface="Kozuka Gothic Pr6N H"/>
              </a:rPr>
              <a:t>Modelo de Análisis Dupont</a:t>
            </a:r>
          </a:p>
          <a:p>
            <a:pPr algn="ctr"/>
            <a:r>
              <a:rPr lang="es-NI" sz="4400" b="1" spc="-1" dirty="0">
                <a:solidFill>
                  <a:srgbClr val="002060"/>
                </a:solidFill>
                <a:latin typeface="Kozuka Gothic Pr6N H"/>
              </a:rPr>
              <a:t>¿Qué es el sistema Dupont y para qué sirve?</a:t>
            </a:r>
          </a:p>
          <a:p>
            <a:pPr marL="107640">
              <a:spcBef>
                <a:spcPts val="2398"/>
              </a:spcBef>
            </a:pPr>
            <a:endParaRPr lang="en-US" sz="5400" b="1" spc="-1" dirty="0">
              <a:solidFill>
                <a:srgbClr val="92D050"/>
              </a:solidFill>
              <a:latin typeface="Kozuka Gothic Pr6N 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-1440" y="6620040"/>
            <a:ext cx="12191760" cy="2570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CustomShape 2"/>
          <p:cNvSpPr/>
          <p:nvPr/>
        </p:nvSpPr>
        <p:spPr>
          <a:xfrm flipH="1">
            <a:off x="291420" y="3841740"/>
            <a:ext cx="4379760" cy="2314440"/>
          </a:xfrm>
          <a:custGeom>
            <a:avLst/>
            <a:gdLst/>
            <a:ahLst/>
            <a:cxnLst/>
            <a:rect l="l" t="t" r="r" b="b"/>
            <a:pathLst>
              <a:path w="5266337" h="2044227">
                <a:moveTo>
                  <a:pt x="0" y="0"/>
                </a:moveTo>
                <a:lnTo>
                  <a:pt x="1732155" y="0"/>
                </a:lnTo>
                <a:lnTo>
                  <a:pt x="2783456" y="0"/>
                </a:lnTo>
                <a:lnTo>
                  <a:pt x="4989442" y="0"/>
                </a:lnTo>
                <a:lnTo>
                  <a:pt x="4989442" y="15907"/>
                </a:lnTo>
                <a:lnTo>
                  <a:pt x="5007414" y="6"/>
                </a:lnTo>
                <a:lnTo>
                  <a:pt x="5266337" y="229087"/>
                </a:lnTo>
                <a:lnTo>
                  <a:pt x="5266337" y="1815148"/>
                </a:lnTo>
                <a:lnTo>
                  <a:pt x="5007414" y="2044227"/>
                </a:lnTo>
                <a:lnTo>
                  <a:pt x="4989442" y="2028326"/>
                </a:lnTo>
                <a:lnTo>
                  <a:pt x="4989442" y="2044221"/>
                </a:lnTo>
                <a:lnTo>
                  <a:pt x="2783456" y="2044221"/>
                </a:lnTo>
                <a:lnTo>
                  <a:pt x="2783456" y="2044226"/>
                </a:lnTo>
                <a:lnTo>
                  <a:pt x="0" y="2044226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3"/>
          <p:cNvSpPr/>
          <p:nvPr/>
        </p:nvSpPr>
        <p:spPr>
          <a:xfrm>
            <a:off x="6893862" y="1685339"/>
            <a:ext cx="4862520" cy="2363760"/>
          </a:xfrm>
          <a:custGeom>
            <a:avLst/>
            <a:gdLst/>
            <a:ahLst/>
            <a:cxnLst/>
            <a:rect l="l" t="t" r="r" b="b"/>
            <a:pathLst>
              <a:path w="5266337" h="2044227">
                <a:moveTo>
                  <a:pt x="0" y="0"/>
                </a:moveTo>
                <a:lnTo>
                  <a:pt x="1732155" y="0"/>
                </a:lnTo>
                <a:lnTo>
                  <a:pt x="2783456" y="0"/>
                </a:lnTo>
                <a:lnTo>
                  <a:pt x="4989442" y="0"/>
                </a:lnTo>
                <a:lnTo>
                  <a:pt x="4989442" y="15907"/>
                </a:lnTo>
                <a:lnTo>
                  <a:pt x="5007414" y="6"/>
                </a:lnTo>
                <a:lnTo>
                  <a:pt x="5266337" y="229087"/>
                </a:lnTo>
                <a:lnTo>
                  <a:pt x="5266337" y="1815148"/>
                </a:lnTo>
                <a:lnTo>
                  <a:pt x="5007414" y="2044227"/>
                </a:lnTo>
                <a:lnTo>
                  <a:pt x="4989442" y="2028326"/>
                </a:lnTo>
                <a:lnTo>
                  <a:pt x="4989442" y="2044221"/>
                </a:lnTo>
                <a:lnTo>
                  <a:pt x="2783456" y="2044221"/>
                </a:lnTo>
                <a:lnTo>
                  <a:pt x="2783456" y="2044226"/>
                </a:lnTo>
                <a:lnTo>
                  <a:pt x="0" y="2044226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6" name="CustomShape 4"/>
          <p:cNvSpPr/>
          <p:nvPr/>
        </p:nvSpPr>
        <p:spPr>
          <a:xfrm>
            <a:off x="6230880" y="2416320"/>
            <a:ext cx="1531800" cy="520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 marL="107640" algn="ctr">
              <a:lnSpc>
                <a:spcPct val="100000"/>
              </a:lnSpc>
            </a:pPr>
            <a:r>
              <a:rPr lang="es-CO" sz="2800" b="1" strike="noStrike" spc="-1">
                <a:solidFill>
                  <a:srgbClr val="FFFFFF"/>
                </a:solidFill>
                <a:latin typeface="Futura Md BT"/>
              </a:rPr>
              <a:t>IDEA 1 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CustomShape 5"/>
          <p:cNvSpPr/>
          <p:nvPr/>
        </p:nvSpPr>
        <p:spPr>
          <a:xfrm rot="16200000">
            <a:off x="5680980" y="1746720"/>
            <a:ext cx="2822400" cy="2430360"/>
          </a:xfrm>
          <a:custGeom>
            <a:avLst/>
            <a:gdLst/>
            <a:ahLst/>
            <a:cxnLst/>
            <a:rect l="0" t="0" r="r" b="b"/>
            <a:pathLst>
              <a:path w="7842" h="6753">
                <a:moveTo>
                  <a:pt x="1908" y="0"/>
                </a:moveTo>
                <a:lnTo>
                  <a:pt x="5932" y="0"/>
                </a:lnTo>
                <a:lnTo>
                  <a:pt x="7841" y="3376"/>
                </a:lnTo>
                <a:lnTo>
                  <a:pt x="5932" y="6752"/>
                </a:lnTo>
                <a:lnTo>
                  <a:pt x="1908" y="6752"/>
                </a:lnTo>
                <a:lnTo>
                  <a:pt x="0" y="3376"/>
                </a:lnTo>
                <a:lnTo>
                  <a:pt x="1908" y="0"/>
                </a:lnTo>
              </a:path>
            </a:pathLst>
          </a:custGeom>
          <a:solidFill>
            <a:srgbClr val="0C112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8" name="CustomShape 6"/>
          <p:cNvSpPr/>
          <p:nvPr/>
        </p:nvSpPr>
        <p:spPr>
          <a:xfrm rot="16200000">
            <a:off x="5815800" y="1862280"/>
            <a:ext cx="2546280" cy="2192400"/>
          </a:xfrm>
          <a:custGeom>
            <a:avLst/>
            <a:gdLst/>
            <a:ahLst/>
            <a:cxnLst/>
            <a:rect l="0" t="0" r="r" b="b"/>
            <a:pathLst>
              <a:path w="7075" h="6092">
                <a:moveTo>
                  <a:pt x="1721" y="0"/>
                </a:moveTo>
                <a:lnTo>
                  <a:pt x="5352" y="0"/>
                </a:lnTo>
                <a:lnTo>
                  <a:pt x="7074" y="3045"/>
                </a:lnTo>
                <a:lnTo>
                  <a:pt x="5352" y="6091"/>
                </a:lnTo>
                <a:lnTo>
                  <a:pt x="1721" y="6091"/>
                </a:lnTo>
                <a:lnTo>
                  <a:pt x="0" y="3045"/>
                </a:lnTo>
                <a:lnTo>
                  <a:pt x="1721" y="0"/>
                </a:lnTo>
              </a:path>
            </a:pathLst>
          </a:custGeom>
          <a:solidFill>
            <a:srgbClr val="F2F2F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2" name="CustomShape 9"/>
          <p:cNvSpPr/>
          <p:nvPr/>
        </p:nvSpPr>
        <p:spPr>
          <a:xfrm>
            <a:off x="8198794" y="1743508"/>
            <a:ext cx="3573651" cy="231050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>
            <a:spAutoFit/>
          </a:bodyPr>
          <a:lstStyle/>
          <a:p>
            <a:pPr algn="ctr"/>
            <a:r>
              <a:rPr lang="es-NI" sz="2400" dirty="0"/>
              <a:t>Definido como un </a:t>
            </a:r>
            <a:r>
              <a:rPr lang="es-NI" sz="2400" b="1" dirty="0"/>
              <a:t>indicador financiero</a:t>
            </a:r>
            <a:r>
              <a:rPr lang="es-NI" sz="2400" dirty="0"/>
              <a:t> en el análisis del desempeño económico y laboral de una empresa</a:t>
            </a:r>
            <a:endParaRPr lang="en-US" sz="3200" b="0" strike="noStrike" spc="-1" dirty="0">
              <a:solidFill>
                <a:schemeClr val="bg1"/>
              </a:solidFill>
              <a:latin typeface="Calibri"/>
            </a:endParaRPr>
          </a:p>
        </p:txBody>
      </p:sp>
      <p:grpSp>
        <p:nvGrpSpPr>
          <p:cNvPr id="135" name="Group 12"/>
          <p:cNvGrpSpPr/>
          <p:nvPr/>
        </p:nvGrpSpPr>
        <p:grpSpPr>
          <a:xfrm>
            <a:off x="2355286" y="949139"/>
            <a:ext cx="7510154" cy="57710"/>
            <a:chOff x="1305000" y="1695600"/>
            <a:chExt cx="3243240" cy="88920"/>
          </a:xfrm>
        </p:grpSpPr>
        <p:sp>
          <p:nvSpPr>
            <p:cNvPr id="136" name="CustomShape 13"/>
            <p:cNvSpPr/>
            <p:nvPr/>
          </p:nvSpPr>
          <p:spPr>
            <a:xfrm>
              <a:off x="1305000" y="1695600"/>
              <a:ext cx="1684440" cy="88920"/>
            </a:xfrm>
            <a:custGeom>
              <a:avLst/>
              <a:gdLst/>
              <a:ahLst/>
              <a:cxnLst/>
              <a:rect l="l" t="t" r="r" b="b"/>
              <a:pathLst>
                <a:path w="10308339" h="91395">
                  <a:moveTo>
                    <a:pt x="0" y="0"/>
                  </a:moveTo>
                  <a:lnTo>
                    <a:pt x="10308339" y="0"/>
                  </a:lnTo>
                  <a:lnTo>
                    <a:pt x="10308339" y="91395"/>
                  </a:lnTo>
                  <a:lnTo>
                    <a:pt x="2320773" y="91395"/>
                  </a:lnTo>
                  <a:lnTo>
                    <a:pt x="0" y="25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" name="CustomShape 14"/>
            <p:cNvSpPr/>
            <p:nvPr/>
          </p:nvSpPr>
          <p:spPr>
            <a:xfrm flipH="1">
              <a:off x="2943360" y="1695600"/>
              <a:ext cx="1604880" cy="88920"/>
            </a:xfrm>
            <a:custGeom>
              <a:avLst/>
              <a:gdLst/>
              <a:ahLst/>
              <a:cxnLst/>
              <a:rect l="l" t="t" r="r" b="b"/>
              <a:pathLst>
                <a:path w="10308339" h="91395">
                  <a:moveTo>
                    <a:pt x="0" y="0"/>
                  </a:moveTo>
                  <a:lnTo>
                    <a:pt x="10308339" y="0"/>
                  </a:lnTo>
                  <a:lnTo>
                    <a:pt x="10308339" y="91395"/>
                  </a:lnTo>
                  <a:lnTo>
                    <a:pt x="2320773" y="91395"/>
                  </a:lnTo>
                  <a:lnTo>
                    <a:pt x="0" y="25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38" name="CustomShape 15"/>
          <p:cNvSpPr/>
          <p:nvPr/>
        </p:nvSpPr>
        <p:spPr>
          <a:xfrm>
            <a:off x="4389480" y="4478400"/>
            <a:ext cx="1531800" cy="520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 marL="107640" algn="ctr">
              <a:lnSpc>
                <a:spcPct val="100000"/>
              </a:lnSpc>
            </a:pPr>
            <a:r>
              <a:rPr lang="es-CO" sz="2800" b="1" strike="noStrike" spc="-1">
                <a:solidFill>
                  <a:srgbClr val="FFFFFF"/>
                </a:solidFill>
                <a:latin typeface="Futura Md BT"/>
              </a:rPr>
              <a:t>IDEA 1 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CustomShape 16"/>
          <p:cNvSpPr/>
          <p:nvPr/>
        </p:nvSpPr>
        <p:spPr>
          <a:xfrm rot="16200000">
            <a:off x="4164660" y="3838287"/>
            <a:ext cx="2822400" cy="2430360"/>
          </a:xfrm>
          <a:custGeom>
            <a:avLst/>
            <a:gdLst/>
            <a:ahLst/>
            <a:cxnLst/>
            <a:rect l="0" t="0" r="r" b="b"/>
            <a:pathLst>
              <a:path w="7842" h="6753">
                <a:moveTo>
                  <a:pt x="1908" y="0"/>
                </a:moveTo>
                <a:lnTo>
                  <a:pt x="5932" y="0"/>
                </a:lnTo>
                <a:lnTo>
                  <a:pt x="7841" y="3376"/>
                </a:lnTo>
                <a:lnTo>
                  <a:pt x="5932" y="6752"/>
                </a:lnTo>
                <a:lnTo>
                  <a:pt x="1908" y="6752"/>
                </a:lnTo>
                <a:lnTo>
                  <a:pt x="0" y="3376"/>
                </a:lnTo>
                <a:lnTo>
                  <a:pt x="1908" y="0"/>
                </a:lnTo>
              </a:path>
            </a:pathLst>
          </a:custGeom>
          <a:solidFill>
            <a:srgbClr val="0C112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" name="CustomShape 17"/>
          <p:cNvSpPr/>
          <p:nvPr/>
        </p:nvSpPr>
        <p:spPr>
          <a:xfrm rot="16200000">
            <a:off x="4309920" y="3969698"/>
            <a:ext cx="2546640" cy="2192400"/>
          </a:xfrm>
          <a:custGeom>
            <a:avLst/>
            <a:gdLst/>
            <a:ahLst/>
            <a:cxnLst/>
            <a:rect l="0" t="0" r="r" b="b"/>
            <a:pathLst>
              <a:path w="7076" h="6092">
                <a:moveTo>
                  <a:pt x="1722" y="0"/>
                </a:moveTo>
                <a:lnTo>
                  <a:pt x="5352" y="0"/>
                </a:lnTo>
                <a:lnTo>
                  <a:pt x="7075" y="3045"/>
                </a:lnTo>
                <a:lnTo>
                  <a:pt x="5352" y="6091"/>
                </a:lnTo>
                <a:lnTo>
                  <a:pt x="1722" y="6091"/>
                </a:lnTo>
                <a:lnTo>
                  <a:pt x="0" y="3045"/>
                </a:lnTo>
                <a:lnTo>
                  <a:pt x="1722" y="0"/>
                </a:lnTo>
              </a:path>
            </a:pathLst>
          </a:custGeom>
          <a:solidFill>
            <a:srgbClr val="F2F2F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21"/>
          <p:cNvSpPr/>
          <p:nvPr/>
        </p:nvSpPr>
        <p:spPr>
          <a:xfrm>
            <a:off x="358920" y="2031299"/>
            <a:ext cx="5568840" cy="1464661"/>
          </a:xfrm>
          <a:custGeom>
            <a:avLst/>
            <a:gdLst/>
            <a:ahLst/>
            <a:cxnLst/>
            <a:rect l="l" t="t" r="r" b="b"/>
            <a:pathLst>
              <a:path w="4391972" h="899848">
                <a:moveTo>
                  <a:pt x="3856783" y="0"/>
                </a:moveTo>
                <a:lnTo>
                  <a:pt x="3860250" y="7962"/>
                </a:lnTo>
                <a:lnTo>
                  <a:pt x="3864248" y="7962"/>
                </a:lnTo>
                <a:lnTo>
                  <a:pt x="3864248" y="17142"/>
                </a:lnTo>
                <a:lnTo>
                  <a:pt x="3864249" y="17143"/>
                </a:lnTo>
                <a:lnTo>
                  <a:pt x="3864249" y="7961"/>
                </a:lnTo>
                <a:lnTo>
                  <a:pt x="4391972" y="453905"/>
                </a:lnTo>
                <a:lnTo>
                  <a:pt x="3864249" y="899848"/>
                </a:lnTo>
                <a:lnTo>
                  <a:pt x="3864249" y="883061"/>
                </a:lnTo>
                <a:lnTo>
                  <a:pt x="3864248" y="883062"/>
                </a:lnTo>
                <a:lnTo>
                  <a:pt x="3864248" y="899848"/>
                </a:lnTo>
                <a:lnTo>
                  <a:pt x="0" y="899848"/>
                </a:lnTo>
                <a:lnTo>
                  <a:pt x="0" y="7962"/>
                </a:lnTo>
                <a:lnTo>
                  <a:pt x="3846757" y="7962"/>
                </a:lnTo>
                <a:lnTo>
                  <a:pt x="3856783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CustomShape 22"/>
          <p:cNvSpPr/>
          <p:nvPr/>
        </p:nvSpPr>
        <p:spPr>
          <a:xfrm flipH="1">
            <a:off x="6161040" y="4565520"/>
            <a:ext cx="5811056" cy="1078200"/>
          </a:xfrm>
          <a:custGeom>
            <a:avLst/>
            <a:gdLst/>
            <a:ahLst/>
            <a:cxnLst/>
            <a:rect l="l" t="t" r="r" b="b"/>
            <a:pathLst>
              <a:path w="4391972" h="899848">
                <a:moveTo>
                  <a:pt x="3856783" y="0"/>
                </a:moveTo>
                <a:lnTo>
                  <a:pt x="3860250" y="7962"/>
                </a:lnTo>
                <a:lnTo>
                  <a:pt x="3864248" y="7962"/>
                </a:lnTo>
                <a:lnTo>
                  <a:pt x="3864248" y="17142"/>
                </a:lnTo>
                <a:lnTo>
                  <a:pt x="3864249" y="17143"/>
                </a:lnTo>
                <a:lnTo>
                  <a:pt x="3864249" y="7961"/>
                </a:lnTo>
                <a:lnTo>
                  <a:pt x="4391972" y="453905"/>
                </a:lnTo>
                <a:lnTo>
                  <a:pt x="3864249" y="899848"/>
                </a:lnTo>
                <a:lnTo>
                  <a:pt x="3864249" y="883061"/>
                </a:lnTo>
                <a:lnTo>
                  <a:pt x="3864248" y="883062"/>
                </a:lnTo>
                <a:lnTo>
                  <a:pt x="3864248" y="899848"/>
                </a:lnTo>
                <a:lnTo>
                  <a:pt x="0" y="899848"/>
                </a:lnTo>
                <a:lnTo>
                  <a:pt x="0" y="7962"/>
                </a:lnTo>
                <a:lnTo>
                  <a:pt x="3846757" y="7962"/>
                </a:lnTo>
                <a:lnTo>
                  <a:pt x="3856783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7" name="CustomShape 23"/>
          <p:cNvSpPr/>
          <p:nvPr/>
        </p:nvSpPr>
        <p:spPr>
          <a:xfrm>
            <a:off x="453074" y="2241781"/>
            <a:ext cx="5077330" cy="10793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 algn="ctr"/>
            <a:r>
              <a:rPr lang="es-NI" sz="3200" b="1" dirty="0">
                <a:solidFill>
                  <a:schemeClr val="bg1"/>
                </a:solidFill>
              </a:rPr>
              <a:t>Combinar los principales</a:t>
            </a:r>
          </a:p>
          <a:p>
            <a:pPr algn="ctr"/>
            <a:r>
              <a:rPr lang="es-NI" sz="3200" b="1" dirty="0">
                <a:solidFill>
                  <a:schemeClr val="bg1"/>
                </a:solidFill>
              </a:rPr>
              <a:t> indicativos financieros </a:t>
            </a:r>
            <a:endParaRPr lang="en-US" sz="3600" b="1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48" name="CustomShape 24"/>
          <p:cNvSpPr/>
          <p:nvPr/>
        </p:nvSpPr>
        <p:spPr>
          <a:xfrm>
            <a:off x="6496325" y="4611857"/>
            <a:ext cx="5365035" cy="7716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 marL="107640" algn="ctr">
              <a:lnSpc>
                <a:spcPct val="100000"/>
              </a:lnSpc>
            </a:pPr>
            <a:r>
              <a:rPr lang="es-NI" sz="220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 creado por el ingeniero </a:t>
            </a:r>
          </a:p>
          <a:p>
            <a:pPr marL="107640" algn="ctr">
              <a:lnSpc>
                <a:spcPct val="100000"/>
              </a:lnSpc>
            </a:pPr>
            <a:r>
              <a:rPr lang="es-NI" sz="220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eléctrico F. Donaldson Brown en 1914</a:t>
            </a:r>
            <a:endParaRPr lang="en-US" sz="2200" b="0" strike="noStrike" spc="-1" dirty="0">
              <a:solidFill>
                <a:schemeClr val="bg1"/>
              </a:solidFill>
              <a:latin typeface="Calibri"/>
            </a:endParaRPr>
          </a:p>
        </p:txBody>
      </p:sp>
      <p:grpSp>
        <p:nvGrpSpPr>
          <p:cNvPr id="149" name="Group 25"/>
          <p:cNvGrpSpPr/>
          <p:nvPr/>
        </p:nvGrpSpPr>
        <p:grpSpPr>
          <a:xfrm>
            <a:off x="3287340" y="1102770"/>
            <a:ext cx="5284620" cy="48780"/>
            <a:chOff x="1647720" y="1876320"/>
            <a:chExt cx="2592000" cy="103320"/>
          </a:xfrm>
        </p:grpSpPr>
        <p:sp>
          <p:nvSpPr>
            <p:cNvPr id="150" name="CustomShape 26"/>
            <p:cNvSpPr/>
            <p:nvPr/>
          </p:nvSpPr>
          <p:spPr>
            <a:xfrm>
              <a:off x="1647720" y="1876320"/>
              <a:ext cx="1346040" cy="103320"/>
            </a:xfrm>
            <a:custGeom>
              <a:avLst/>
              <a:gdLst/>
              <a:ahLst/>
              <a:cxnLst/>
              <a:rect l="l" t="t" r="r" b="b"/>
              <a:pathLst>
                <a:path w="10308339" h="91395">
                  <a:moveTo>
                    <a:pt x="0" y="0"/>
                  </a:moveTo>
                  <a:lnTo>
                    <a:pt x="10308339" y="0"/>
                  </a:lnTo>
                  <a:lnTo>
                    <a:pt x="10308339" y="91395"/>
                  </a:lnTo>
                  <a:lnTo>
                    <a:pt x="2320773" y="91395"/>
                  </a:lnTo>
                  <a:lnTo>
                    <a:pt x="0" y="25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1" name="CustomShape 27"/>
            <p:cNvSpPr/>
            <p:nvPr/>
          </p:nvSpPr>
          <p:spPr>
            <a:xfrm flipH="1">
              <a:off x="2956680" y="1876320"/>
              <a:ext cx="1282680" cy="103320"/>
            </a:xfrm>
            <a:custGeom>
              <a:avLst/>
              <a:gdLst/>
              <a:ahLst/>
              <a:cxnLst/>
              <a:rect l="l" t="t" r="r" b="b"/>
              <a:pathLst>
                <a:path w="10308339" h="91395">
                  <a:moveTo>
                    <a:pt x="0" y="0"/>
                  </a:moveTo>
                  <a:lnTo>
                    <a:pt x="10308339" y="0"/>
                  </a:lnTo>
                  <a:lnTo>
                    <a:pt x="10308339" y="91395"/>
                  </a:lnTo>
                  <a:lnTo>
                    <a:pt x="2320773" y="91395"/>
                  </a:lnTo>
                  <a:lnTo>
                    <a:pt x="0" y="25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52" name="CustomShape 28"/>
          <p:cNvSpPr/>
          <p:nvPr/>
        </p:nvSpPr>
        <p:spPr>
          <a:xfrm>
            <a:off x="-1440" y="9360"/>
            <a:ext cx="12191760" cy="257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3" name="CustomShape 29"/>
          <p:cNvSpPr/>
          <p:nvPr/>
        </p:nvSpPr>
        <p:spPr>
          <a:xfrm flipH="1" flipV="1">
            <a:off x="7771680" y="6215760"/>
            <a:ext cx="4419720" cy="660600"/>
          </a:xfrm>
          <a:custGeom>
            <a:avLst/>
            <a:gdLst/>
            <a:ahLst/>
            <a:cxnLst/>
            <a:rect l="l" t="t" r="r" b="b"/>
            <a:pathLst>
              <a:path w="1166738" h="1312333">
                <a:moveTo>
                  <a:pt x="0" y="0"/>
                </a:moveTo>
                <a:lnTo>
                  <a:pt x="1166738" y="0"/>
                </a:lnTo>
                <a:lnTo>
                  <a:pt x="762000" y="1312333"/>
                </a:lnTo>
                <a:lnTo>
                  <a:pt x="0" y="106271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4" name="CustomShape 30"/>
          <p:cNvSpPr/>
          <p:nvPr/>
        </p:nvSpPr>
        <p:spPr>
          <a:xfrm flipH="1" flipV="1">
            <a:off x="8534520" y="6329520"/>
            <a:ext cx="3698640" cy="552240"/>
          </a:xfrm>
          <a:custGeom>
            <a:avLst/>
            <a:gdLst/>
            <a:ahLst/>
            <a:cxnLst/>
            <a:rect l="l" t="t" r="r" b="b"/>
            <a:pathLst>
              <a:path w="1166738" h="1312333">
                <a:moveTo>
                  <a:pt x="0" y="0"/>
                </a:moveTo>
                <a:lnTo>
                  <a:pt x="1166738" y="0"/>
                </a:lnTo>
                <a:lnTo>
                  <a:pt x="762000" y="1312333"/>
                </a:lnTo>
                <a:lnTo>
                  <a:pt x="0" y="1062712"/>
                </a:lnTo>
                <a:lnTo>
                  <a:pt x="0" y="0"/>
                </a:lnTo>
                <a:close/>
              </a:path>
            </a:pathLst>
          </a:custGeom>
          <a:solidFill>
            <a:srgbClr val="393D4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23">
            <a:extLst>
              <a:ext uri="{FF2B5EF4-FFF2-40B4-BE49-F238E27FC236}">
                <a16:creationId xmlns:a16="http://schemas.microsoft.com/office/drawing/2014/main" id="{1F0F84C0-4D7E-47A9-A76E-8DEF669B3FE0}"/>
              </a:ext>
            </a:extLst>
          </p:cNvPr>
          <p:cNvSpPr/>
          <p:nvPr/>
        </p:nvSpPr>
        <p:spPr>
          <a:xfrm>
            <a:off x="291420" y="749862"/>
            <a:ext cx="11035219" cy="71006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ctr">
            <a:spAutoFit/>
          </a:bodyPr>
          <a:lstStyle/>
          <a:p>
            <a:pPr marL="107640" algn="ctr">
              <a:lnSpc>
                <a:spcPct val="100000"/>
              </a:lnSpc>
            </a:pPr>
            <a:r>
              <a:rPr lang="es-CO" sz="4000" b="1" spc="-1" dirty="0">
                <a:solidFill>
                  <a:srgbClr val="163856"/>
                </a:solidFill>
                <a:latin typeface="Kozuka Gothic Pr6N H"/>
              </a:rPr>
              <a:t>Sistema Dupont</a:t>
            </a:r>
            <a:endParaRPr lang="en-US" sz="4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CustomShape 20">
            <a:extLst>
              <a:ext uri="{FF2B5EF4-FFF2-40B4-BE49-F238E27FC236}">
                <a16:creationId xmlns:a16="http://schemas.microsoft.com/office/drawing/2014/main" id="{D2239684-5B1D-42BD-A06E-E2471967A2C2}"/>
              </a:ext>
            </a:extLst>
          </p:cNvPr>
          <p:cNvSpPr/>
          <p:nvPr/>
        </p:nvSpPr>
        <p:spPr>
          <a:xfrm>
            <a:off x="676743" y="3979677"/>
            <a:ext cx="3417211" cy="225016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NI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Técnica utilizada para analizar la rentabilidad de una compañía.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NI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-Utiliza las herramientas tradicionales de gestión del desempeño, tanto económico como operativo.</a:t>
            </a:r>
          </a:p>
        </p:txBody>
      </p:sp>
      <p:pic>
        <p:nvPicPr>
          <p:cNvPr id="3076" name="Picture 4" descr="Sistema de Análisis Dupont by Maria González">
            <a:extLst>
              <a:ext uri="{FF2B5EF4-FFF2-40B4-BE49-F238E27FC236}">
                <a16:creationId xmlns:a16="http://schemas.microsoft.com/office/drawing/2014/main" id="{3E6FE883-841D-451E-AB5B-194901D44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499" y="1998955"/>
            <a:ext cx="2624882" cy="1931571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DCE174A-F7BC-4158-BD85-CAB42B89BD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383" t="12048" r="30033" b="8674"/>
          <a:stretch/>
        </p:blipFill>
        <p:spPr>
          <a:xfrm>
            <a:off x="4413634" y="3828629"/>
            <a:ext cx="2377406" cy="249971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9435960" y="0"/>
            <a:ext cx="1536840" cy="1106640"/>
          </a:xfrm>
          <a:custGeom>
            <a:avLst/>
            <a:gdLst/>
            <a:ahLst/>
            <a:cxnLst/>
            <a:rect l="l" t="t" r="r" b="b"/>
            <a:pathLst>
              <a:path w="1537091" h="1106692">
                <a:moveTo>
                  <a:pt x="0" y="0"/>
                </a:moveTo>
                <a:lnTo>
                  <a:pt x="1537091" y="0"/>
                </a:lnTo>
                <a:lnTo>
                  <a:pt x="1537091" y="707681"/>
                </a:lnTo>
                <a:lnTo>
                  <a:pt x="317891" y="1106692"/>
                </a:lnTo>
                <a:lnTo>
                  <a:pt x="241691" y="1106692"/>
                </a:lnTo>
                <a:lnTo>
                  <a:pt x="0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CustomShape 2"/>
          <p:cNvSpPr/>
          <p:nvPr/>
        </p:nvSpPr>
        <p:spPr>
          <a:xfrm>
            <a:off x="0" y="0"/>
            <a:ext cx="3827520" cy="1106640"/>
          </a:xfrm>
          <a:custGeom>
            <a:avLst/>
            <a:gdLst/>
            <a:ahLst/>
            <a:cxnLst/>
            <a:rect l="l" t="t" r="r" b="b"/>
            <a:pathLst>
              <a:path w="3826831" h="1106714">
                <a:moveTo>
                  <a:pt x="0" y="0"/>
                </a:moveTo>
                <a:lnTo>
                  <a:pt x="3826831" y="0"/>
                </a:lnTo>
                <a:lnTo>
                  <a:pt x="0" y="1106714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3" name="CustomShape 5"/>
          <p:cNvSpPr/>
          <p:nvPr/>
        </p:nvSpPr>
        <p:spPr>
          <a:xfrm>
            <a:off x="10572840" y="0"/>
            <a:ext cx="1619280" cy="1486080"/>
          </a:xfrm>
          <a:custGeom>
            <a:avLst/>
            <a:gdLst/>
            <a:ahLst/>
            <a:cxnLst/>
            <a:rect l="l" t="t" r="r" b="b"/>
            <a:pathLst>
              <a:path w="1619907" h="1485900">
                <a:moveTo>
                  <a:pt x="0" y="0"/>
                </a:moveTo>
                <a:lnTo>
                  <a:pt x="1619907" y="0"/>
                </a:lnTo>
                <a:lnTo>
                  <a:pt x="1619907" y="1086889"/>
                </a:lnTo>
                <a:lnTo>
                  <a:pt x="400707" y="1485900"/>
                </a:lnTo>
                <a:lnTo>
                  <a:pt x="324507" y="14859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6"/>
          <p:cNvSpPr/>
          <p:nvPr/>
        </p:nvSpPr>
        <p:spPr>
          <a:xfrm>
            <a:off x="0" y="0"/>
            <a:ext cx="2146320" cy="655560"/>
          </a:xfrm>
          <a:custGeom>
            <a:avLst/>
            <a:gdLst/>
            <a:ahLst/>
            <a:cxnLst/>
            <a:rect l="l" t="t" r="r" b="b"/>
            <a:pathLst>
              <a:path w="2145798" h="655661">
                <a:moveTo>
                  <a:pt x="0" y="0"/>
                </a:moveTo>
                <a:lnTo>
                  <a:pt x="2145798" y="0"/>
                </a:lnTo>
                <a:lnTo>
                  <a:pt x="0" y="6556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7"/>
          <p:cNvSpPr/>
          <p:nvPr/>
        </p:nvSpPr>
        <p:spPr>
          <a:xfrm>
            <a:off x="436680" y="-11160"/>
            <a:ext cx="2527200" cy="666720"/>
          </a:xfrm>
          <a:custGeom>
            <a:avLst/>
            <a:gdLst/>
            <a:ahLst/>
            <a:cxnLst/>
            <a:rect l="l" t="t" r="r" b="b"/>
            <a:pathLst>
              <a:path w="2528094" h="666750">
                <a:moveTo>
                  <a:pt x="0" y="0"/>
                </a:moveTo>
                <a:lnTo>
                  <a:pt x="2528094" y="0"/>
                </a:lnTo>
                <a:lnTo>
                  <a:pt x="208359" y="666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8"/>
          <p:cNvSpPr/>
          <p:nvPr/>
        </p:nvSpPr>
        <p:spPr>
          <a:xfrm>
            <a:off x="10147320" y="6165720"/>
            <a:ext cx="2044800" cy="692280"/>
          </a:xfrm>
          <a:custGeom>
            <a:avLst/>
            <a:gdLst/>
            <a:ahLst/>
            <a:cxnLst/>
            <a:rect l="l" t="t" r="r" b="b"/>
            <a:pathLst>
              <a:path w="2045058" h="691424">
                <a:moveTo>
                  <a:pt x="2045058" y="0"/>
                </a:moveTo>
                <a:lnTo>
                  <a:pt x="2045058" y="691424"/>
                </a:lnTo>
                <a:lnTo>
                  <a:pt x="0" y="691424"/>
                </a:lnTo>
                <a:lnTo>
                  <a:pt x="2045058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9"/>
          <p:cNvSpPr/>
          <p:nvPr/>
        </p:nvSpPr>
        <p:spPr>
          <a:xfrm>
            <a:off x="9255240" y="6305400"/>
            <a:ext cx="2012760" cy="552600"/>
          </a:xfrm>
          <a:custGeom>
            <a:avLst/>
            <a:gdLst/>
            <a:ahLst/>
            <a:cxnLst/>
            <a:rect l="l" t="t" r="r" b="b"/>
            <a:pathLst>
              <a:path w="2012515" h="552450">
                <a:moveTo>
                  <a:pt x="1774536" y="0"/>
                </a:moveTo>
                <a:lnTo>
                  <a:pt x="2012515" y="552450"/>
                </a:lnTo>
                <a:lnTo>
                  <a:pt x="0" y="552450"/>
                </a:lnTo>
                <a:lnTo>
                  <a:pt x="1774536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CustomShape 10"/>
          <p:cNvSpPr/>
          <p:nvPr/>
        </p:nvSpPr>
        <p:spPr>
          <a:xfrm>
            <a:off x="1700280" y="6381720"/>
            <a:ext cx="4057560" cy="476280"/>
          </a:xfrm>
          <a:custGeom>
            <a:avLst/>
            <a:gdLst/>
            <a:ahLst/>
            <a:cxnLst/>
            <a:rect l="l" t="t" r="r" b="b"/>
            <a:pathLst>
              <a:path w="4057619" h="476250">
                <a:moveTo>
                  <a:pt x="3938556" y="0"/>
                </a:moveTo>
                <a:lnTo>
                  <a:pt x="4057619" y="476250"/>
                </a:lnTo>
                <a:lnTo>
                  <a:pt x="21523" y="476250"/>
                </a:lnTo>
                <a:lnTo>
                  <a:pt x="0" y="465544"/>
                </a:lnTo>
                <a:lnTo>
                  <a:pt x="0" y="409895"/>
                </a:lnTo>
                <a:lnTo>
                  <a:pt x="3938556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9" name="CustomShape 11"/>
          <p:cNvSpPr/>
          <p:nvPr/>
        </p:nvSpPr>
        <p:spPr>
          <a:xfrm>
            <a:off x="-27000" y="6205680"/>
            <a:ext cx="2643120" cy="652320"/>
          </a:xfrm>
          <a:custGeom>
            <a:avLst/>
            <a:gdLst/>
            <a:ahLst/>
            <a:cxnLst/>
            <a:rect l="l" t="t" r="r" b="b"/>
            <a:pathLst>
              <a:path w="2642459" h="652849">
                <a:moveTo>
                  <a:pt x="2533651" y="0"/>
                </a:moveTo>
                <a:lnTo>
                  <a:pt x="2642459" y="652849"/>
                </a:lnTo>
                <a:lnTo>
                  <a:pt x="0" y="652849"/>
                </a:lnTo>
                <a:lnTo>
                  <a:pt x="0" y="436837"/>
                </a:lnTo>
                <a:lnTo>
                  <a:pt x="2533651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AD21C2-96D6-458D-BF86-A5EF6AE54888}"/>
              </a:ext>
            </a:extLst>
          </p:cNvPr>
          <p:cNvSpPr/>
          <p:nvPr/>
        </p:nvSpPr>
        <p:spPr>
          <a:xfrm>
            <a:off x="760236" y="1246320"/>
            <a:ext cx="7159875" cy="841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NI" sz="2400" b="1" dirty="0">
              <a:solidFill>
                <a:srgbClr val="002060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NI" sz="16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UNIDAD III 6 SISTEMA DUPONT - YouTube">
            <a:extLst>
              <a:ext uri="{FF2B5EF4-FFF2-40B4-BE49-F238E27FC236}">
                <a16:creationId xmlns:a16="http://schemas.microsoft.com/office/drawing/2014/main" id="{4732EC1E-BF0B-487C-A1F8-25DA56720F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1" r="7718"/>
          <a:stretch/>
        </p:blipFill>
        <p:spPr bwMode="auto">
          <a:xfrm>
            <a:off x="1762394" y="903486"/>
            <a:ext cx="8242006" cy="556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459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ustomShape 1"/>
          <p:cNvSpPr/>
          <p:nvPr/>
        </p:nvSpPr>
        <p:spPr>
          <a:xfrm>
            <a:off x="7734268" y="2917163"/>
            <a:ext cx="4459320" cy="3797280"/>
          </a:xfrm>
          <a:custGeom>
            <a:avLst/>
            <a:gdLst/>
            <a:ahLst/>
            <a:cxnLst/>
            <a:rect l="l" t="t" r="r" b="b"/>
            <a:pathLst>
              <a:path w="4459357" h="3796747">
                <a:moveTo>
                  <a:pt x="0" y="0"/>
                </a:moveTo>
                <a:lnTo>
                  <a:pt x="4459357" y="0"/>
                </a:lnTo>
                <a:lnTo>
                  <a:pt x="4459357" y="2482269"/>
                </a:lnTo>
                <a:lnTo>
                  <a:pt x="4432853" y="2464904"/>
                </a:lnTo>
                <a:lnTo>
                  <a:pt x="636105" y="3796747"/>
                </a:lnTo>
                <a:lnTo>
                  <a:pt x="0" y="1926986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" name="CustomShape 2"/>
          <p:cNvSpPr/>
          <p:nvPr/>
        </p:nvSpPr>
        <p:spPr>
          <a:xfrm>
            <a:off x="3094200" y="0"/>
            <a:ext cx="9097920" cy="6513480"/>
          </a:xfrm>
          <a:custGeom>
            <a:avLst/>
            <a:gdLst/>
            <a:ahLst/>
            <a:cxnLst/>
            <a:rect l="l" t="t" r="r" b="b"/>
            <a:pathLst>
              <a:path w="9097730" h="6513286">
                <a:moveTo>
                  <a:pt x="0" y="0"/>
                </a:moveTo>
                <a:lnTo>
                  <a:pt x="9097730" y="0"/>
                </a:lnTo>
                <a:lnTo>
                  <a:pt x="9097730" y="4694064"/>
                </a:lnTo>
                <a:lnTo>
                  <a:pt x="2571034" y="6513286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" name="CustomShape 3"/>
          <p:cNvSpPr/>
          <p:nvPr/>
        </p:nvSpPr>
        <p:spPr>
          <a:xfrm>
            <a:off x="0" y="0"/>
            <a:ext cx="4770360" cy="1662120"/>
          </a:xfrm>
          <a:custGeom>
            <a:avLst/>
            <a:gdLst/>
            <a:ahLst/>
            <a:cxnLst/>
            <a:rect l="l" t="t" r="r" b="b"/>
            <a:pathLst>
              <a:path w="4770783" h="1662716">
                <a:moveTo>
                  <a:pt x="0" y="0"/>
                </a:moveTo>
                <a:lnTo>
                  <a:pt x="4770783" y="0"/>
                </a:lnTo>
                <a:lnTo>
                  <a:pt x="4770783" y="62095"/>
                </a:lnTo>
                <a:lnTo>
                  <a:pt x="0" y="1662716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" name="CustomShape 4"/>
          <p:cNvSpPr/>
          <p:nvPr/>
        </p:nvSpPr>
        <p:spPr>
          <a:xfrm>
            <a:off x="2322637" y="-35100"/>
            <a:ext cx="9870951" cy="6492960"/>
          </a:xfrm>
          <a:custGeom>
            <a:avLst/>
            <a:gdLst/>
            <a:ahLst/>
            <a:cxnLst/>
            <a:rect l="l" t="t" r="r" b="b"/>
            <a:pathLst>
              <a:path w="8797989" h="6493408">
                <a:moveTo>
                  <a:pt x="0" y="0"/>
                </a:moveTo>
                <a:lnTo>
                  <a:pt x="8797989" y="0"/>
                </a:lnTo>
                <a:lnTo>
                  <a:pt x="8797989" y="4254418"/>
                </a:lnTo>
                <a:lnTo>
                  <a:pt x="2231537" y="6493408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73" name="Group 5"/>
          <p:cNvGrpSpPr/>
          <p:nvPr/>
        </p:nvGrpSpPr>
        <p:grpSpPr>
          <a:xfrm>
            <a:off x="208080" y="993600"/>
            <a:ext cx="4924440" cy="5669280"/>
            <a:chOff x="208080" y="993600"/>
            <a:chExt cx="4924440" cy="5669280"/>
          </a:xfrm>
        </p:grpSpPr>
        <p:pic>
          <p:nvPicPr>
            <p:cNvPr id="74" name="Forma libre 38"/>
            <p:cNvPicPr/>
            <p:nvPr/>
          </p:nvPicPr>
          <p:blipFill>
            <a:blip r:embed="rId2"/>
            <a:stretch/>
          </p:blipFill>
          <p:spPr>
            <a:xfrm>
              <a:off x="209520" y="993600"/>
              <a:ext cx="4919760" cy="5666400"/>
            </a:xfrm>
            <a:prstGeom prst="rect">
              <a:avLst/>
            </a:prstGeom>
            <a:ln>
              <a:noFill/>
            </a:ln>
          </p:spPr>
        </p:pic>
        <p:sp>
          <p:nvSpPr>
            <p:cNvPr id="75" name="CustomShape 6"/>
            <p:cNvSpPr/>
            <p:nvPr/>
          </p:nvSpPr>
          <p:spPr>
            <a:xfrm>
              <a:off x="208080" y="993600"/>
              <a:ext cx="4924440" cy="5669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76" name="CustomShape 7"/>
          <p:cNvSpPr/>
          <p:nvPr/>
        </p:nvSpPr>
        <p:spPr>
          <a:xfrm>
            <a:off x="0" y="-12600"/>
            <a:ext cx="1828800" cy="1044360"/>
          </a:xfrm>
          <a:custGeom>
            <a:avLst/>
            <a:gdLst/>
            <a:ahLst/>
            <a:cxnLst/>
            <a:rect l="l" t="t" r="r" b="b"/>
            <a:pathLst>
              <a:path w="1828800" h="1045148">
                <a:moveTo>
                  <a:pt x="0" y="0"/>
                </a:moveTo>
                <a:lnTo>
                  <a:pt x="1666150" y="0"/>
                </a:lnTo>
                <a:lnTo>
                  <a:pt x="1828800" y="450417"/>
                </a:lnTo>
                <a:lnTo>
                  <a:pt x="0" y="1045148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" name="CustomShape 9"/>
          <p:cNvSpPr/>
          <p:nvPr/>
        </p:nvSpPr>
        <p:spPr>
          <a:xfrm>
            <a:off x="4237670" y="1031760"/>
            <a:ext cx="7552579" cy="397249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>
            <a:spAutoFit/>
          </a:bodyPr>
          <a:lstStyle/>
          <a:p>
            <a:pPr algn="ctr"/>
            <a:r>
              <a:rPr lang="es-NI" sz="2800" b="1" dirty="0">
                <a:solidFill>
                  <a:schemeClr val="bg1"/>
                </a:solidFill>
              </a:rPr>
              <a:t>Este sistema combina el Estado de Resultados y el Balance de la empresa en dos medidas de rentabilidad</a:t>
            </a:r>
          </a:p>
          <a:p>
            <a:endParaRPr lang="es-NI" sz="2800" b="1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s-NI" sz="2800" b="1" dirty="0">
                <a:solidFill>
                  <a:schemeClr val="bg1"/>
                </a:solidFill>
              </a:rPr>
              <a:t> Rendimiento sobre los Activos (ROA) </a:t>
            </a:r>
            <a:r>
              <a:rPr lang="es-ES" dirty="0">
                <a:solidFill>
                  <a:schemeClr val="bg1"/>
                </a:solidFill>
              </a:rPr>
              <a:t>(</a:t>
            </a:r>
            <a:r>
              <a:rPr lang="es-ES" dirty="0" err="1">
                <a:solidFill>
                  <a:schemeClr val="bg1"/>
                </a:solidFill>
              </a:rPr>
              <a:t>Return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Assets</a:t>
            </a:r>
            <a:r>
              <a:rPr lang="es-ES" dirty="0">
                <a:solidFill>
                  <a:schemeClr val="bg1"/>
                </a:solidFill>
              </a:rPr>
              <a:t>)  </a:t>
            </a:r>
            <a:r>
              <a:rPr lang="es-ES" b="1" dirty="0">
                <a:solidFill>
                  <a:schemeClr val="bg1"/>
                </a:solidFill>
              </a:rPr>
              <a:t>para poder valorar una empresa como “rentable”, el ROA debe superar el 5%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  <a:p>
            <a:endParaRPr lang="es-NI" sz="2800" b="1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s-NI" sz="2800" b="1" dirty="0">
                <a:solidFill>
                  <a:schemeClr val="bg1"/>
                </a:solidFill>
              </a:rPr>
              <a:t>Rendimiento sobre el Patrimonio (ROE). </a:t>
            </a:r>
          </a:p>
          <a:p>
            <a:pPr algn="ctr"/>
            <a:r>
              <a:rPr lang="es-MX" sz="2000" i="1" spc="-1" dirty="0">
                <a:solidFill>
                  <a:schemeClr val="bg1"/>
                </a:solidFill>
                <a:latin typeface="Arial" panose="020B0604020202020204" pitchFamily="34" charset="0"/>
              </a:rPr>
              <a:t>                           </a:t>
            </a:r>
            <a:endParaRPr lang="en-US" sz="3200" i="1" strike="noStrike" spc="-1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9435960" y="0"/>
            <a:ext cx="1536840" cy="1106640"/>
          </a:xfrm>
          <a:custGeom>
            <a:avLst/>
            <a:gdLst/>
            <a:ahLst/>
            <a:cxnLst/>
            <a:rect l="l" t="t" r="r" b="b"/>
            <a:pathLst>
              <a:path w="1537091" h="1106692">
                <a:moveTo>
                  <a:pt x="0" y="0"/>
                </a:moveTo>
                <a:lnTo>
                  <a:pt x="1537091" y="0"/>
                </a:lnTo>
                <a:lnTo>
                  <a:pt x="1537091" y="707681"/>
                </a:lnTo>
                <a:lnTo>
                  <a:pt x="317891" y="1106692"/>
                </a:lnTo>
                <a:lnTo>
                  <a:pt x="241691" y="1106692"/>
                </a:lnTo>
                <a:lnTo>
                  <a:pt x="0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CustomShape 2"/>
          <p:cNvSpPr/>
          <p:nvPr/>
        </p:nvSpPr>
        <p:spPr>
          <a:xfrm>
            <a:off x="0" y="0"/>
            <a:ext cx="3827520" cy="1106640"/>
          </a:xfrm>
          <a:custGeom>
            <a:avLst/>
            <a:gdLst/>
            <a:ahLst/>
            <a:cxnLst/>
            <a:rect l="l" t="t" r="r" b="b"/>
            <a:pathLst>
              <a:path w="3826831" h="1106714">
                <a:moveTo>
                  <a:pt x="0" y="0"/>
                </a:moveTo>
                <a:lnTo>
                  <a:pt x="3826831" y="0"/>
                </a:lnTo>
                <a:lnTo>
                  <a:pt x="0" y="1106714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3" name="CustomShape 5"/>
          <p:cNvSpPr/>
          <p:nvPr/>
        </p:nvSpPr>
        <p:spPr>
          <a:xfrm>
            <a:off x="10572840" y="0"/>
            <a:ext cx="1619280" cy="1486080"/>
          </a:xfrm>
          <a:custGeom>
            <a:avLst/>
            <a:gdLst/>
            <a:ahLst/>
            <a:cxnLst/>
            <a:rect l="l" t="t" r="r" b="b"/>
            <a:pathLst>
              <a:path w="1619907" h="1485900">
                <a:moveTo>
                  <a:pt x="0" y="0"/>
                </a:moveTo>
                <a:lnTo>
                  <a:pt x="1619907" y="0"/>
                </a:lnTo>
                <a:lnTo>
                  <a:pt x="1619907" y="1086889"/>
                </a:lnTo>
                <a:lnTo>
                  <a:pt x="400707" y="1485900"/>
                </a:lnTo>
                <a:lnTo>
                  <a:pt x="324507" y="14859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6"/>
          <p:cNvSpPr/>
          <p:nvPr/>
        </p:nvSpPr>
        <p:spPr>
          <a:xfrm>
            <a:off x="0" y="0"/>
            <a:ext cx="2146320" cy="655560"/>
          </a:xfrm>
          <a:custGeom>
            <a:avLst/>
            <a:gdLst/>
            <a:ahLst/>
            <a:cxnLst/>
            <a:rect l="l" t="t" r="r" b="b"/>
            <a:pathLst>
              <a:path w="2145798" h="655661">
                <a:moveTo>
                  <a:pt x="0" y="0"/>
                </a:moveTo>
                <a:lnTo>
                  <a:pt x="2145798" y="0"/>
                </a:lnTo>
                <a:lnTo>
                  <a:pt x="0" y="6556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7"/>
          <p:cNvSpPr/>
          <p:nvPr/>
        </p:nvSpPr>
        <p:spPr>
          <a:xfrm>
            <a:off x="436680" y="-11160"/>
            <a:ext cx="2527200" cy="666720"/>
          </a:xfrm>
          <a:custGeom>
            <a:avLst/>
            <a:gdLst/>
            <a:ahLst/>
            <a:cxnLst/>
            <a:rect l="l" t="t" r="r" b="b"/>
            <a:pathLst>
              <a:path w="2528094" h="666750">
                <a:moveTo>
                  <a:pt x="0" y="0"/>
                </a:moveTo>
                <a:lnTo>
                  <a:pt x="2528094" y="0"/>
                </a:lnTo>
                <a:lnTo>
                  <a:pt x="208359" y="666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8"/>
          <p:cNvSpPr/>
          <p:nvPr/>
        </p:nvSpPr>
        <p:spPr>
          <a:xfrm>
            <a:off x="10147320" y="6165720"/>
            <a:ext cx="2044800" cy="692280"/>
          </a:xfrm>
          <a:custGeom>
            <a:avLst/>
            <a:gdLst/>
            <a:ahLst/>
            <a:cxnLst/>
            <a:rect l="l" t="t" r="r" b="b"/>
            <a:pathLst>
              <a:path w="2045058" h="691424">
                <a:moveTo>
                  <a:pt x="2045058" y="0"/>
                </a:moveTo>
                <a:lnTo>
                  <a:pt x="2045058" y="691424"/>
                </a:lnTo>
                <a:lnTo>
                  <a:pt x="0" y="691424"/>
                </a:lnTo>
                <a:lnTo>
                  <a:pt x="2045058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9"/>
          <p:cNvSpPr/>
          <p:nvPr/>
        </p:nvSpPr>
        <p:spPr>
          <a:xfrm>
            <a:off x="9255240" y="6305400"/>
            <a:ext cx="2012760" cy="552600"/>
          </a:xfrm>
          <a:custGeom>
            <a:avLst/>
            <a:gdLst/>
            <a:ahLst/>
            <a:cxnLst/>
            <a:rect l="l" t="t" r="r" b="b"/>
            <a:pathLst>
              <a:path w="2012515" h="552450">
                <a:moveTo>
                  <a:pt x="1774536" y="0"/>
                </a:moveTo>
                <a:lnTo>
                  <a:pt x="2012515" y="552450"/>
                </a:lnTo>
                <a:lnTo>
                  <a:pt x="0" y="552450"/>
                </a:lnTo>
                <a:lnTo>
                  <a:pt x="1774536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CustomShape 10"/>
          <p:cNvSpPr/>
          <p:nvPr/>
        </p:nvSpPr>
        <p:spPr>
          <a:xfrm>
            <a:off x="1700280" y="6381720"/>
            <a:ext cx="4057560" cy="476280"/>
          </a:xfrm>
          <a:custGeom>
            <a:avLst/>
            <a:gdLst/>
            <a:ahLst/>
            <a:cxnLst/>
            <a:rect l="l" t="t" r="r" b="b"/>
            <a:pathLst>
              <a:path w="4057619" h="476250">
                <a:moveTo>
                  <a:pt x="3938556" y="0"/>
                </a:moveTo>
                <a:lnTo>
                  <a:pt x="4057619" y="476250"/>
                </a:lnTo>
                <a:lnTo>
                  <a:pt x="21523" y="476250"/>
                </a:lnTo>
                <a:lnTo>
                  <a:pt x="0" y="465544"/>
                </a:lnTo>
                <a:lnTo>
                  <a:pt x="0" y="409895"/>
                </a:lnTo>
                <a:lnTo>
                  <a:pt x="3938556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9" name="CustomShape 11"/>
          <p:cNvSpPr/>
          <p:nvPr/>
        </p:nvSpPr>
        <p:spPr>
          <a:xfrm>
            <a:off x="-27000" y="6205680"/>
            <a:ext cx="2643120" cy="652320"/>
          </a:xfrm>
          <a:custGeom>
            <a:avLst/>
            <a:gdLst/>
            <a:ahLst/>
            <a:cxnLst/>
            <a:rect l="l" t="t" r="r" b="b"/>
            <a:pathLst>
              <a:path w="2642459" h="652849">
                <a:moveTo>
                  <a:pt x="2533651" y="0"/>
                </a:moveTo>
                <a:lnTo>
                  <a:pt x="2642459" y="652849"/>
                </a:lnTo>
                <a:lnTo>
                  <a:pt x="0" y="652849"/>
                </a:lnTo>
                <a:lnTo>
                  <a:pt x="0" y="436837"/>
                </a:lnTo>
                <a:lnTo>
                  <a:pt x="2533651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FAB0DB-1ABA-4B1A-80F0-882E9834AEA1}"/>
              </a:ext>
            </a:extLst>
          </p:cNvPr>
          <p:cNvSpPr/>
          <p:nvPr/>
        </p:nvSpPr>
        <p:spPr>
          <a:xfrm>
            <a:off x="518954" y="1045662"/>
            <a:ext cx="11155680" cy="4271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s-ES" sz="2400" b="1" cap="all" dirty="0"/>
              <a:t>DEFINICIONES:</a:t>
            </a:r>
          </a:p>
          <a:p>
            <a:pPr fontAlgn="base">
              <a:lnSpc>
                <a:spcPct val="150000"/>
              </a:lnSpc>
            </a:pPr>
            <a:endParaRPr lang="es-ES" sz="2400" b="1" cap="all" dirty="0"/>
          </a:p>
          <a:p>
            <a:pPr fontAlgn="base">
              <a:lnSpc>
                <a:spcPct val="150000"/>
              </a:lnSpc>
            </a:pPr>
            <a:r>
              <a:rPr lang="es-ES" sz="2400" b="1" dirty="0"/>
              <a:t>Margen de utilidad</a:t>
            </a:r>
            <a:r>
              <a:rPr lang="es-ES" sz="2400" dirty="0"/>
              <a:t> = Utilidad Neta / Ventas</a:t>
            </a:r>
          </a:p>
          <a:p>
            <a:pPr fontAlgn="base">
              <a:lnSpc>
                <a:spcPct val="150000"/>
              </a:lnSpc>
            </a:pPr>
            <a:r>
              <a:rPr lang="es-ES" sz="2400" b="1" dirty="0"/>
              <a:t>ROA</a:t>
            </a:r>
            <a:r>
              <a:rPr lang="es-ES" sz="2400" dirty="0"/>
              <a:t> (</a:t>
            </a:r>
            <a:r>
              <a:rPr lang="es-ES" sz="2400" dirty="0" err="1"/>
              <a:t>Return</a:t>
            </a:r>
            <a:r>
              <a:rPr lang="es-ES" sz="2400" dirty="0"/>
              <a:t> </a:t>
            </a:r>
            <a:r>
              <a:rPr lang="es-ES" sz="2400" dirty="0" err="1"/>
              <a:t>on</a:t>
            </a:r>
            <a:r>
              <a:rPr lang="es-ES" sz="2400" dirty="0"/>
              <a:t> </a:t>
            </a:r>
            <a:r>
              <a:rPr lang="es-ES" sz="2400" dirty="0" err="1"/>
              <a:t>Assets</a:t>
            </a:r>
            <a:r>
              <a:rPr lang="es-ES" sz="2400" dirty="0"/>
              <a:t>) o Retorno sobre los activos = Utilidad Neta / Activo Total</a:t>
            </a:r>
          </a:p>
          <a:p>
            <a:pPr fontAlgn="base">
              <a:lnSpc>
                <a:spcPct val="150000"/>
              </a:lnSpc>
            </a:pPr>
            <a:r>
              <a:rPr lang="es-ES" sz="2400" b="1" dirty="0"/>
              <a:t>ROE</a:t>
            </a:r>
            <a:r>
              <a:rPr lang="es-ES" sz="2400" dirty="0"/>
              <a:t> (</a:t>
            </a:r>
            <a:r>
              <a:rPr lang="es-ES" sz="2400" dirty="0" err="1"/>
              <a:t>Return</a:t>
            </a:r>
            <a:r>
              <a:rPr lang="es-ES" sz="2400" dirty="0"/>
              <a:t> </a:t>
            </a:r>
            <a:r>
              <a:rPr lang="es-ES" sz="2400" dirty="0" err="1"/>
              <a:t>on</a:t>
            </a:r>
            <a:r>
              <a:rPr lang="es-ES" sz="2400" dirty="0"/>
              <a:t> </a:t>
            </a:r>
            <a:r>
              <a:rPr lang="es-ES" sz="2400" dirty="0" err="1"/>
              <a:t>Equity</a:t>
            </a:r>
            <a:r>
              <a:rPr lang="es-ES" sz="2400" dirty="0"/>
              <a:t>) o retorno sobre el Capital Propio se define como: ROE = Utilidad Neta / Patrimonio Total</a:t>
            </a:r>
          </a:p>
          <a:p>
            <a:pPr fontAlgn="base">
              <a:lnSpc>
                <a:spcPct val="150000"/>
              </a:lnSpc>
            </a:pPr>
            <a:r>
              <a:rPr lang="es-ES" sz="2400" b="1" dirty="0"/>
              <a:t>Rotación del Activo</a:t>
            </a:r>
            <a:r>
              <a:rPr lang="es-ES" sz="2400" dirty="0"/>
              <a:t> = Ventas / Activo Total</a:t>
            </a:r>
          </a:p>
          <a:p>
            <a:pPr fontAlgn="base">
              <a:lnSpc>
                <a:spcPct val="150000"/>
              </a:lnSpc>
            </a:pPr>
            <a:r>
              <a:rPr lang="es-ES" sz="2400" b="1" dirty="0"/>
              <a:t>Multiplicador de Apalancamiento</a:t>
            </a:r>
            <a:r>
              <a:rPr lang="es-ES" sz="2400" dirty="0"/>
              <a:t> = Activo Total / Patrimonio Total</a:t>
            </a:r>
          </a:p>
        </p:txBody>
      </p:sp>
    </p:spTree>
    <p:extLst>
      <p:ext uri="{BB962C8B-B14F-4D97-AF65-F5344CB8AC3E}">
        <p14:creationId xmlns:p14="http://schemas.microsoft.com/office/powerpoint/2010/main" val="3602787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9435960" y="0"/>
            <a:ext cx="1536840" cy="1106640"/>
          </a:xfrm>
          <a:custGeom>
            <a:avLst/>
            <a:gdLst/>
            <a:ahLst/>
            <a:cxnLst/>
            <a:rect l="l" t="t" r="r" b="b"/>
            <a:pathLst>
              <a:path w="1537091" h="1106692">
                <a:moveTo>
                  <a:pt x="0" y="0"/>
                </a:moveTo>
                <a:lnTo>
                  <a:pt x="1537091" y="0"/>
                </a:lnTo>
                <a:lnTo>
                  <a:pt x="1537091" y="707681"/>
                </a:lnTo>
                <a:lnTo>
                  <a:pt x="317891" y="1106692"/>
                </a:lnTo>
                <a:lnTo>
                  <a:pt x="241691" y="1106692"/>
                </a:lnTo>
                <a:lnTo>
                  <a:pt x="0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CustomShape 2"/>
          <p:cNvSpPr/>
          <p:nvPr/>
        </p:nvSpPr>
        <p:spPr>
          <a:xfrm>
            <a:off x="0" y="0"/>
            <a:ext cx="3827520" cy="1106640"/>
          </a:xfrm>
          <a:custGeom>
            <a:avLst/>
            <a:gdLst/>
            <a:ahLst/>
            <a:cxnLst/>
            <a:rect l="l" t="t" r="r" b="b"/>
            <a:pathLst>
              <a:path w="3826831" h="1106714">
                <a:moveTo>
                  <a:pt x="0" y="0"/>
                </a:moveTo>
                <a:lnTo>
                  <a:pt x="3826831" y="0"/>
                </a:lnTo>
                <a:lnTo>
                  <a:pt x="0" y="1106714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3" name="CustomShape 5"/>
          <p:cNvSpPr/>
          <p:nvPr/>
        </p:nvSpPr>
        <p:spPr>
          <a:xfrm>
            <a:off x="10572840" y="0"/>
            <a:ext cx="1619280" cy="1486080"/>
          </a:xfrm>
          <a:custGeom>
            <a:avLst/>
            <a:gdLst/>
            <a:ahLst/>
            <a:cxnLst/>
            <a:rect l="l" t="t" r="r" b="b"/>
            <a:pathLst>
              <a:path w="1619907" h="1485900">
                <a:moveTo>
                  <a:pt x="0" y="0"/>
                </a:moveTo>
                <a:lnTo>
                  <a:pt x="1619907" y="0"/>
                </a:lnTo>
                <a:lnTo>
                  <a:pt x="1619907" y="1086889"/>
                </a:lnTo>
                <a:lnTo>
                  <a:pt x="400707" y="1485900"/>
                </a:lnTo>
                <a:lnTo>
                  <a:pt x="324507" y="14859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6"/>
          <p:cNvSpPr/>
          <p:nvPr/>
        </p:nvSpPr>
        <p:spPr>
          <a:xfrm>
            <a:off x="0" y="0"/>
            <a:ext cx="2146320" cy="655560"/>
          </a:xfrm>
          <a:custGeom>
            <a:avLst/>
            <a:gdLst/>
            <a:ahLst/>
            <a:cxnLst/>
            <a:rect l="l" t="t" r="r" b="b"/>
            <a:pathLst>
              <a:path w="2145798" h="655661">
                <a:moveTo>
                  <a:pt x="0" y="0"/>
                </a:moveTo>
                <a:lnTo>
                  <a:pt x="2145798" y="0"/>
                </a:lnTo>
                <a:lnTo>
                  <a:pt x="0" y="6556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7"/>
          <p:cNvSpPr/>
          <p:nvPr/>
        </p:nvSpPr>
        <p:spPr>
          <a:xfrm>
            <a:off x="436680" y="-11160"/>
            <a:ext cx="2527200" cy="666720"/>
          </a:xfrm>
          <a:custGeom>
            <a:avLst/>
            <a:gdLst/>
            <a:ahLst/>
            <a:cxnLst/>
            <a:rect l="l" t="t" r="r" b="b"/>
            <a:pathLst>
              <a:path w="2528094" h="666750">
                <a:moveTo>
                  <a:pt x="0" y="0"/>
                </a:moveTo>
                <a:lnTo>
                  <a:pt x="2528094" y="0"/>
                </a:lnTo>
                <a:lnTo>
                  <a:pt x="208359" y="666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8"/>
          <p:cNvSpPr/>
          <p:nvPr/>
        </p:nvSpPr>
        <p:spPr>
          <a:xfrm>
            <a:off x="10147320" y="6165720"/>
            <a:ext cx="2044800" cy="692280"/>
          </a:xfrm>
          <a:custGeom>
            <a:avLst/>
            <a:gdLst/>
            <a:ahLst/>
            <a:cxnLst/>
            <a:rect l="l" t="t" r="r" b="b"/>
            <a:pathLst>
              <a:path w="2045058" h="691424">
                <a:moveTo>
                  <a:pt x="2045058" y="0"/>
                </a:moveTo>
                <a:lnTo>
                  <a:pt x="2045058" y="691424"/>
                </a:lnTo>
                <a:lnTo>
                  <a:pt x="0" y="691424"/>
                </a:lnTo>
                <a:lnTo>
                  <a:pt x="2045058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9"/>
          <p:cNvSpPr/>
          <p:nvPr/>
        </p:nvSpPr>
        <p:spPr>
          <a:xfrm>
            <a:off x="9255240" y="6305400"/>
            <a:ext cx="2012760" cy="552600"/>
          </a:xfrm>
          <a:custGeom>
            <a:avLst/>
            <a:gdLst/>
            <a:ahLst/>
            <a:cxnLst/>
            <a:rect l="l" t="t" r="r" b="b"/>
            <a:pathLst>
              <a:path w="2012515" h="552450">
                <a:moveTo>
                  <a:pt x="1774536" y="0"/>
                </a:moveTo>
                <a:lnTo>
                  <a:pt x="2012515" y="552450"/>
                </a:lnTo>
                <a:lnTo>
                  <a:pt x="0" y="552450"/>
                </a:lnTo>
                <a:lnTo>
                  <a:pt x="1774536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CustomShape 10"/>
          <p:cNvSpPr/>
          <p:nvPr/>
        </p:nvSpPr>
        <p:spPr>
          <a:xfrm>
            <a:off x="1700280" y="6381720"/>
            <a:ext cx="4057560" cy="476280"/>
          </a:xfrm>
          <a:custGeom>
            <a:avLst/>
            <a:gdLst/>
            <a:ahLst/>
            <a:cxnLst/>
            <a:rect l="l" t="t" r="r" b="b"/>
            <a:pathLst>
              <a:path w="4057619" h="476250">
                <a:moveTo>
                  <a:pt x="3938556" y="0"/>
                </a:moveTo>
                <a:lnTo>
                  <a:pt x="4057619" y="476250"/>
                </a:lnTo>
                <a:lnTo>
                  <a:pt x="21523" y="476250"/>
                </a:lnTo>
                <a:lnTo>
                  <a:pt x="0" y="465544"/>
                </a:lnTo>
                <a:lnTo>
                  <a:pt x="0" y="409895"/>
                </a:lnTo>
                <a:lnTo>
                  <a:pt x="3938556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9" name="CustomShape 11"/>
          <p:cNvSpPr/>
          <p:nvPr/>
        </p:nvSpPr>
        <p:spPr>
          <a:xfrm>
            <a:off x="-27000" y="6205680"/>
            <a:ext cx="2643120" cy="652320"/>
          </a:xfrm>
          <a:custGeom>
            <a:avLst/>
            <a:gdLst/>
            <a:ahLst/>
            <a:cxnLst/>
            <a:rect l="l" t="t" r="r" b="b"/>
            <a:pathLst>
              <a:path w="2642459" h="652849">
                <a:moveTo>
                  <a:pt x="2533651" y="0"/>
                </a:moveTo>
                <a:lnTo>
                  <a:pt x="2642459" y="652849"/>
                </a:lnTo>
                <a:lnTo>
                  <a:pt x="0" y="652849"/>
                </a:lnTo>
                <a:lnTo>
                  <a:pt x="0" y="436837"/>
                </a:lnTo>
                <a:lnTo>
                  <a:pt x="2533651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FAB0DB-1ABA-4B1A-80F0-882E9834AEA1}"/>
              </a:ext>
            </a:extLst>
          </p:cNvPr>
          <p:cNvSpPr/>
          <p:nvPr/>
        </p:nvSpPr>
        <p:spPr>
          <a:xfrm>
            <a:off x="1294559" y="1215608"/>
            <a:ext cx="953756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rgbClr val="002060"/>
                </a:solidFill>
              </a:rPr>
              <a:t>Ventajas del sistema Dupont</a:t>
            </a:r>
          </a:p>
          <a:p>
            <a:endParaRPr lang="es-ES" sz="2400" b="1" dirty="0"/>
          </a:p>
          <a:p>
            <a:pPr algn="just"/>
            <a:r>
              <a:rPr lang="es-ES" sz="2400" b="1" dirty="0">
                <a:solidFill>
                  <a:srgbClr val="002060"/>
                </a:solidFill>
              </a:rPr>
              <a:t>La principal ventaja del sistema Dupont es que permite a la empresa dividir su rendimiento sobre el capital en diferentes componentes, de forma que los propietarios pueden analizar el rendimiento total de la empresa desde diversas dimensiones.</a:t>
            </a:r>
          </a:p>
          <a:p>
            <a:pPr algn="just"/>
            <a:endParaRPr lang="es-ES" sz="2400" b="1" dirty="0">
              <a:solidFill>
                <a:srgbClr val="002060"/>
              </a:solidFill>
            </a:endParaRPr>
          </a:p>
          <a:p>
            <a:pPr algn="just"/>
            <a:r>
              <a:rPr lang="es-ES" sz="2400" b="1" dirty="0">
                <a:solidFill>
                  <a:srgbClr val="002060"/>
                </a:solidFill>
              </a:rPr>
              <a:t>De esta manera, y comparando con la media o con otras empresas del sector, se puede encontrar dónde la empresa tiene problemas</a:t>
            </a:r>
            <a:r>
              <a:rPr lang="es-ES" b="1" dirty="0">
                <a:solidFill>
                  <a:srgbClr val="00206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12047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1"/>
          <p:cNvGrpSpPr/>
          <p:nvPr/>
        </p:nvGrpSpPr>
        <p:grpSpPr>
          <a:xfrm>
            <a:off x="-59443" y="-12780"/>
            <a:ext cx="12097441" cy="6893100"/>
            <a:chOff x="93959" y="-33300"/>
            <a:chExt cx="12097441" cy="6893100"/>
          </a:xfrm>
        </p:grpSpPr>
        <p:sp>
          <p:nvSpPr>
            <p:cNvPr id="52" name="CustomShape 2"/>
            <p:cNvSpPr/>
            <p:nvPr/>
          </p:nvSpPr>
          <p:spPr>
            <a:xfrm flipH="1">
              <a:off x="94878" y="2889720"/>
              <a:ext cx="4459320" cy="3836520"/>
            </a:xfrm>
            <a:custGeom>
              <a:avLst/>
              <a:gdLst/>
              <a:ahLst/>
              <a:cxnLst/>
              <a:rect l="l" t="t" r="r" b="b"/>
              <a:pathLst>
                <a:path w="4459357" h="3796747">
                  <a:moveTo>
                    <a:pt x="0" y="0"/>
                  </a:moveTo>
                  <a:lnTo>
                    <a:pt x="4459357" y="0"/>
                  </a:lnTo>
                  <a:lnTo>
                    <a:pt x="4459357" y="2482269"/>
                  </a:lnTo>
                  <a:lnTo>
                    <a:pt x="4432853" y="2464904"/>
                  </a:lnTo>
                  <a:lnTo>
                    <a:pt x="636105" y="3796747"/>
                  </a:lnTo>
                  <a:lnTo>
                    <a:pt x="0" y="19269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" name="CustomShape 3"/>
            <p:cNvSpPr/>
            <p:nvPr/>
          </p:nvSpPr>
          <p:spPr>
            <a:xfrm flipH="1">
              <a:off x="1887063" y="277200"/>
              <a:ext cx="9098280" cy="6582600"/>
            </a:xfrm>
            <a:custGeom>
              <a:avLst/>
              <a:gdLst/>
              <a:ahLst/>
              <a:cxnLst/>
              <a:rect l="l" t="t" r="r" b="b"/>
              <a:pathLst>
                <a:path w="9097730" h="6513286">
                  <a:moveTo>
                    <a:pt x="0" y="0"/>
                  </a:moveTo>
                  <a:lnTo>
                    <a:pt x="9097730" y="0"/>
                  </a:lnTo>
                  <a:lnTo>
                    <a:pt x="9097730" y="4694064"/>
                  </a:lnTo>
                  <a:lnTo>
                    <a:pt x="2571034" y="65132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" name="CustomShape 4"/>
            <p:cNvSpPr/>
            <p:nvPr/>
          </p:nvSpPr>
          <p:spPr>
            <a:xfrm flipH="1">
              <a:off x="7421040" y="-7560"/>
              <a:ext cx="4770360" cy="1680120"/>
            </a:xfrm>
            <a:custGeom>
              <a:avLst/>
              <a:gdLst/>
              <a:ahLst/>
              <a:cxnLst/>
              <a:rect l="l" t="t" r="r" b="b"/>
              <a:pathLst>
                <a:path w="4770783" h="1662716">
                  <a:moveTo>
                    <a:pt x="0" y="0"/>
                  </a:moveTo>
                  <a:lnTo>
                    <a:pt x="4770783" y="0"/>
                  </a:lnTo>
                  <a:lnTo>
                    <a:pt x="4770783" y="62095"/>
                  </a:lnTo>
                  <a:lnTo>
                    <a:pt x="0" y="1662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" name="CustomShape 5"/>
            <p:cNvSpPr/>
            <p:nvPr/>
          </p:nvSpPr>
          <p:spPr>
            <a:xfrm flipH="1">
              <a:off x="93959" y="-20520"/>
              <a:ext cx="10686217" cy="6561720"/>
            </a:xfrm>
            <a:custGeom>
              <a:avLst/>
              <a:gdLst/>
              <a:ahLst/>
              <a:cxnLst/>
              <a:rect l="l" t="t" r="r" b="b"/>
              <a:pathLst>
                <a:path w="8797989" h="6493408">
                  <a:moveTo>
                    <a:pt x="0" y="0"/>
                  </a:moveTo>
                  <a:lnTo>
                    <a:pt x="8797989" y="0"/>
                  </a:lnTo>
                  <a:lnTo>
                    <a:pt x="8797989" y="4254418"/>
                  </a:lnTo>
                  <a:lnTo>
                    <a:pt x="2231537" y="64934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12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8" name="CustomShape 7"/>
            <p:cNvSpPr/>
            <p:nvPr/>
          </p:nvSpPr>
          <p:spPr>
            <a:xfrm>
              <a:off x="7059240" y="996840"/>
              <a:ext cx="4925520" cy="57294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" name="CustomShape 8"/>
            <p:cNvSpPr/>
            <p:nvPr/>
          </p:nvSpPr>
          <p:spPr>
            <a:xfrm flipH="1">
              <a:off x="10600494" y="-33300"/>
              <a:ext cx="1590906" cy="1055880"/>
            </a:xfrm>
            <a:custGeom>
              <a:avLst/>
              <a:gdLst/>
              <a:ahLst/>
              <a:cxnLst/>
              <a:rect l="l" t="t" r="r" b="b"/>
              <a:pathLst>
                <a:path w="1828800" h="1045148">
                  <a:moveTo>
                    <a:pt x="0" y="0"/>
                  </a:moveTo>
                  <a:lnTo>
                    <a:pt x="1666150" y="0"/>
                  </a:lnTo>
                  <a:lnTo>
                    <a:pt x="1828800" y="450417"/>
                  </a:lnTo>
                  <a:lnTo>
                    <a:pt x="0" y="1045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12" name="Imagen 11" descr="Elementos sistema dupont formula">
            <a:extLst>
              <a:ext uri="{FF2B5EF4-FFF2-40B4-BE49-F238E27FC236}">
                <a16:creationId xmlns:a16="http://schemas.microsoft.com/office/drawing/2014/main" id="{9AD759BF-50B9-467F-B485-1345C98252A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689" y="615060"/>
            <a:ext cx="7483092" cy="1680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4" descr="Sistema de Análisis Dupont by Maria González">
            <a:extLst>
              <a:ext uri="{FF2B5EF4-FFF2-40B4-BE49-F238E27FC236}">
                <a16:creationId xmlns:a16="http://schemas.microsoft.com/office/drawing/2014/main" id="{CA05A6E2-033E-4C1F-8D6F-93184F7D4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8598" y="2156176"/>
            <a:ext cx="2952732" cy="1931571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3FDC89E-FE35-4F59-8B40-C244B58B6F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383" t="12048" r="30033" b="8674"/>
          <a:stretch/>
        </p:blipFill>
        <p:spPr>
          <a:xfrm>
            <a:off x="9240856" y="4128787"/>
            <a:ext cx="2952732" cy="249971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C853EC5-E9C3-42F6-90F7-0E45E1A8E9C8}"/>
              </a:ext>
            </a:extLst>
          </p:cNvPr>
          <p:cNvSpPr/>
          <p:nvPr/>
        </p:nvSpPr>
        <p:spPr>
          <a:xfrm>
            <a:off x="965861" y="2697480"/>
            <a:ext cx="78563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solidFill>
                  <a:schemeClr val="bg1"/>
                </a:solidFill>
              </a:rPr>
              <a:t>Como se puede observar, el primer factor (Utilidad neta/Ventas) corresponde a la primera variable, el margen neto de utilidad; el segundo, a la rotación de los activos totales; y el tercer factor corresponde al apalancamiento financiero.</a:t>
            </a:r>
            <a:endParaRPr lang="es-NI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160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9435960" y="0"/>
            <a:ext cx="1536840" cy="1106640"/>
          </a:xfrm>
          <a:custGeom>
            <a:avLst/>
            <a:gdLst/>
            <a:ahLst/>
            <a:cxnLst/>
            <a:rect l="l" t="t" r="r" b="b"/>
            <a:pathLst>
              <a:path w="1537091" h="1106692">
                <a:moveTo>
                  <a:pt x="0" y="0"/>
                </a:moveTo>
                <a:lnTo>
                  <a:pt x="1537091" y="0"/>
                </a:lnTo>
                <a:lnTo>
                  <a:pt x="1537091" y="707681"/>
                </a:lnTo>
                <a:lnTo>
                  <a:pt x="317891" y="1106692"/>
                </a:lnTo>
                <a:lnTo>
                  <a:pt x="241691" y="1106692"/>
                </a:lnTo>
                <a:lnTo>
                  <a:pt x="0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CustomShape 2"/>
          <p:cNvSpPr/>
          <p:nvPr/>
        </p:nvSpPr>
        <p:spPr>
          <a:xfrm>
            <a:off x="0" y="0"/>
            <a:ext cx="3827520" cy="1106640"/>
          </a:xfrm>
          <a:custGeom>
            <a:avLst/>
            <a:gdLst/>
            <a:ahLst/>
            <a:cxnLst/>
            <a:rect l="l" t="t" r="r" b="b"/>
            <a:pathLst>
              <a:path w="3826831" h="1106714">
                <a:moveTo>
                  <a:pt x="0" y="0"/>
                </a:moveTo>
                <a:lnTo>
                  <a:pt x="3826831" y="0"/>
                </a:lnTo>
                <a:lnTo>
                  <a:pt x="0" y="1106714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3" name="CustomShape 5"/>
          <p:cNvSpPr/>
          <p:nvPr/>
        </p:nvSpPr>
        <p:spPr>
          <a:xfrm>
            <a:off x="10572840" y="0"/>
            <a:ext cx="1619280" cy="1486080"/>
          </a:xfrm>
          <a:custGeom>
            <a:avLst/>
            <a:gdLst/>
            <a:ahLst/>
            <a:cxnLst/>
            <a:rect l="l" t="t" r="r" b="b"/>
            <a:pathLst>
              <a:path w="1619907" h="1485900">
                <a:moveTo>
                  <a:pt x="0" y="0"/>
                </a:moveTo>
                <a:lnTo>
                  <a:pt x="1619907" y="0"/>
                </a:lnTo>
                <a:lnTo>
                  <a:pt x="1619907" y="1086889"/>
                </a:lnTo>
                <a:lnTo>
                  <a:pt x="400707" y="1485900"/>
                </a:lnTo>
                <a:lnTo>
                  <a:pt x="324507" y="14859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6"/>
          <p:cNvSpPr/>
          <p:nvPr/>
        </p:nvSpPr>
        <p:spPr>
          <a:xfrm>
            <a:off x="0" y="0"/>
            <a:ext cx="2146320" cy="655560"/>
          </a:xfrm>
          <a:custGeom>
            <a:avLst/>
            <a:gdLst/>
            <a:ahLst/>
            <a:cxnLst/>
            <a:rect l="l" t="t" r="r" b="b"/>
            <a:pathLst>
              <a:path w="2145798" h="655661">
                <a:moveTo>
                  <a:pt x="0" y="0"/>
                </a:moveTo>
                <a:lnTo>
                  <a:pt x="2145798" y="0"/>
                </a:lnTo>
                <a:lnTo>
                  <a:pt x="0" y="6556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7"/>
          <p:cNvSpPr/>
          <p:nvPr/>
        </p:nvSpPr>
        <p:spPr>
          <a:xfrm>
            <a:off x="436680" y="-11160"/>
            <a:ext cx="2527200" cy="666720"/>
          </a:xfrm>
          <a:custGeom>
            <a:avLst/>
            <a:gdLst/>
            <a:ahLst/>
            <a:cxnLst/>
            <a:rect l="l" t="t" r="r" b="b"/>
            <a:pathLst>
              <a:path w="2528094" h="666750">
                <a:moveTo>
                  <a:pt x="0" y="0"/>
                </a:moveTo>
                <a:lnTo>
                  <a:pt x="2528094" y="0"/>
                </a:lnTo>
                <a:lnTo>
                  <a:pt x="208359" y="666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8"/>
          <p:cNvSpPr/>
          <p:nvPr/>
        </p:nvSpPr>
        <p:spPr>
          <a:xfrm>
            <a:off x="10147320" y="6165720"/>
            <a:ext cx="2044800" cy="692280"/>
          </a:xfrm>
          <a:custGeom>
            <a:avLst/>
            <a:gdLst/>
            <a:ahLst/>
            <a:cxnLst/>
            <a:rect l="l" t="t" r="r" b="b"/>
            <a:pathLst>
              <a:path w="2045058" h="691424">
                <a:moveTo>
                  <a:pt x="2045058" y="0"/>
                </a:moveTo>
                <a:lnTo>
                  <a:pt x="2045058" y="691424"/>
                </a:lnTo>
                <a:lnTo>
                  <a:pt x="0" y="691424"/>
                </a:lnTo>
                <a:lnTo>
                  <a:pt x="2045058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9"/>
          <p:cNvSpPr/>
          <p:nvPr/>
        </p:nvSpPr>
        <p:spPr>
          <a:xfrm>
            <a:off x="9255240" y="6305400"/>
            <a:ext cx="2012760" cy="552600"/>
          </a:xfrm>
          <a:custGeom>
            <a:avLst/>
            <a:gdLst/>
            <a:ahLst/>
            <a:cxnLst/>
            <a:rect l="l" t="t" r="r" b="b"/>
            <a:pathLst>
              <a:path w="2012515" h="552450">
                <a:moveTo>
                  <a:pt x="1774536" y="0"/>
                </a:moveTo>
                <a:lnTo>
                  <a:pt x="2012515" y="552450"/>
                </a:lnTo>
                <a:lnTo>
                  <a:pt x="0" y="552450"/>
                </a:lnTo>
                <a:lnTo>
                  <a:pt x="1774536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CustomShape 10"/>
          <p:cNvSpPr/>
          <p:nvPr/>
        </p:nvSpPr>
        <p:spPr>
          <a:xfrm>
            <a:off x="1700280" y="6381720"/>
            <a:ext cx="4057560" cy="476280"/>
          </a:xfrm>
          <a:custGeom>
            <a:avLst/>
            <a:gdLst/>
            <a:ahLst/>
            <a:cxnLst/>
            <a:rect l="l" t="t" r="r" b="b"/>
            <a:pathLst>
              <a:path w="4057619" h="476250">
                <a:moveTo>
                  <a:pt x="3938556" y="0"/>
                </a:moveTo>
                <a:lnTo>
                  <a:pt x="4057619" y="476250"/>
                </a:lnTo>
                <a:lnTo>
                  <a:pt x="21523" y="476250"/>
                </a:lnTo>
                <a:lnTo>
                  <a:pt x="0" y="465544"/>
                </a:lnTo>
                <a:lnTo>
                  <a:pt x="0" y="409895"/>
                </a:lnTo>
                <a:lnTo>
                  <a:pt x="3938556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9" name="CustomShape 11"/>
          <p:cNvSpPr/>
          <p:nvPr/>
        </p:nvSpPr>
        <p:spPr>
          <a:xfrm>
            <a:off x="-27000" y="6205680"/>
            <a:ext cx="2643120" cy="652320"/>
          </a:xfrm>
          <a:custGeom>
            <a:avLst/>
            <a:gdLst/>
            <a:ahLst/>
            <a:cxnLst/>
            <a:rect l="l" t="t" r="r" b="b"/>
            <a:pathLst>
              <a:path w="2642459" h="652849">
                <a:moveTo>
                  <a:pt x="2533651" y="0"/>
                </a:moveTo>
                <a:lnTo>
                  <a:pt x="2642459" y="652849"/>
                </a:lnTo>
                <a:lnTo>
                  <a:pt x="0" y="652849"/>
                </a:lnTo>
                <a:lnTo>
                  <a:pt x="0" y="436837"/>
                </a:lnTo>
                <a:lnTo>
                  <a:pt x="2533651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2" name="Imagen 11" descr="Elementos del sistema dupont">
            <a:extLst>
              <a:ext uri="{FF2B5EF4-FFF2-40B4-BE49-F238E27FC236}">
                <a16:creationId xmlns:a16="http://schemas.microsoft.com/office/drawing/2014/main" id="{08789CC0-F4B0-4B0E-9E56-D68502E9460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93" y="775102"/>
            <a:ext cx="9801175" cy="56631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6900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9435960" y="0"/>
            <a:ext cx="1536840" cy="1106640"/>
          </a:xfrm>
          <a:custGeom>
            <a:avLst/>
            <a:gdLst/>
            <a:ahLst/>
            <a:cxnLst/>
            <a:rect l="l" t="t" r="r" b="b"/>
            <a:pathLst>
              <a:path w="1537091" h="1106692">
                <a:moveTo>
                  <a:pt x="0" y="0"/>
                </a:moveTo>
                <a:lnTo>
                  <a:pt x="1537091" y="0"/>
                </a:lnTo>
                <a:lnTo>
                  <a:pt x="1537091" y="707681"/>
                </a:lnTo>
                <a:lnTo>
                  <a:pt x="317891" y="1106692"/>
                </a:lnTo>
                <a:lnTo>
                  <a:pt x="241691" y="1106692"/>
                </a:lnTo>
                <a:lnTo>
                  <a:pt x="0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CustomShape 2"/>
          <p:cNvSpPr/>
          <p:nvPr/>
        </p:nvSpPr>
        <p:spPr>
          <a:xfrm>
            <a:off x="0" y="0"/>
            <a:ext cx="3827520" cy="1106640"/>
          </a:xfrm>
          <a:custGeom>
            <a:avLst/>
            <a:gdLst/>
            <a:ahLst/>
            <a:cxnLst/>
            <a:rect l="l" t="t" r="r" b="b"/>
            <a:pathLst>
              <a:path w="3826831" h="1106714">
                <a:moveTo>
                  <a:pt x="0" y="0"/>
                </a:moveTo>
                <a:lnTo>
                  <a:pt x="3826831" y="0"/>
                </a:lnTo>
                <a:lnTo>
                  <a:pt x="0" y="1106714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3" name="CustomShape 5"/>
          <p:cNvSpPr/>
          <p:nvPr/>
        </p:nvSpPr>
        <p:spPr>
          <a:xfrm>
            <a:off x="10572840" y="0"/>
            <a:ext cx="1619280" cy="1486080"/>
          </a:xfrm>
          <a:custGeom>
            <a:avLst/>
            <a:gdLst/>
            <a:ahLst/>
            <a:cxnLst/>
            <a:rect l="l" t="t" r="r" b="b"/>
            <a:pathLst>
              <a:path w="1619907" h="1485900">
                <a:moveTo>
                  <a:pt x="0" y="0"/>
                </a:moveTo>
                <a:lnTo>
                  <a:pt x="1619907" y="0"/>
                </a:lnTo>
                <a:lnTo>
                  <a:pt x="1619907" y="1086889"/>
                </a:lnTo>
                <a:lnTo>
                  <a:pt x="400707" y="1485900"/>
                </a:lnTo>
                <a:lnTo>
                  <a:pt x="324507" y="14859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6"/>
          <p:cNvSpPr/>
          <p:nvPr/>
        </p:nvSpPr>
        <p:spPr>
          <a:xfrm>
            <a:off x="0" y="0"/>
            <a:ext cx="2146320" cy="655560"/>
          </a:xfrm>
          <a:custGeom>
            <a:avLst/>
            <a:gdLst/>
            <a:ahLst/>
            <a:cxnLst/>
            <a:rect l="l" t="t" r="r" b="b"/>
            <a:pathLst>
              <a:path w="2145798" h="655661">
                <a:moveTo>
                  <a:pt x="0" y="0"/>
                </a:moveTo>
                <a:lnTo>
                  <a:pt x="2145798" y="0"/>
                </a:lnTo>
                <a:lnTo>
                  <a:pt x="0" y="6556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7"/>
          <p:cNvSpPr/>
          <p:nvPr/>
        </p:nvSpPr>
        <p:spPr>
          <a:xfrm>
            <a:off x="436680" y="-11160"/>
            <a:ext cx="2527200" cy="666720"/>
          </a:xfrm>
          <a:custGeom>
            <a:avLst/>
            <a:gdLst/>
            <a:ahLst/>
            <a:cxnLst/>
            <a:rect l="l" t="t" r="r" b="b"/>
            <a:pathLst>
              <a:path w="2528094" h="666750">
                <a:moveTo>
                  <a:pt x="0" y="0"/>
                </a:moveTo>
                <a:lnTo>
                  <a:pt x="2528094" y="0"/>
                </a:lnTo>
                <a:lnTo>
                  <a:pt x="208359" y="6667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8"/>
          <p:cNvSpPr/>
          <p:nvPr/>
        </p:nvSpPr>
        <p:spPr>
          <a:xfrm>
            <a:off x="10147320" y="6165720"/>
            <a:ext cx="2044800" cy="692280"/>
          </a:xfrm>
          <a:custGeom>
            <a:avLst/>
            <a:gdLst/>
            <a:ahLst/>
            <a:cxnLst/>
            <a:rect l="l" t="t" r="r" b="b"/>
            <a:pathLst>
              <a:path w="2045058" h="691424">
                <a:moveTo>
                  <a:pt x="2045058" y="0"/>
                </a:moveTo>
                <a:lnTo>
                  <a:pt x="2045058" y="691424"/>
                </a:lnTo>
                <a:lnTo>
                  <a:pt x="0" y="691424"/>
                </a:lnTo>
                <a:lnTo>
                  <a:pt x="2045058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9"/>
          <p:cNvSpPr/>
          <p:nvPr/>
        </p:nvSpPr>
        <p:spPr>
          <a:xfrm>
            <a:off x="9255240" y="6305400"/>
            <a:ext cx="2012760" cy="552600"/>
          </a:xfrm>
          <a:custGeom>
            <a:avLst/>
            <a:gdLst/>
            <a:ahLst/>
            <a:cxnLst/>
            <a:rect l="l" t="t" r="r" b="b"/>
            <a:pathLst>
              <a:path w="2012515" h="552450">
                <a:moveTo>
                  <a:pt x="1774536" y="0"/>
                </a:moveTo>
                <a:lnTo>
                  <a:pt x="2012515" y="552450"/>
                </a:lnTo>
                <a:lnTo>
                  <a:pt x="0" y="552450"/>
                </a:lnTo>
                <a:lnTo>
                  <a:pt x="1774536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CustomShape 10"/>
          <p:cNvSpPr/>
          <p:nvPr/>
        </p:nvSpPr>
        <p:spPr>
          <a:xfrm>
            <a:off x="1700280" y="6381720"/>
            <a:ext cx="4057560" cy="476280"/>
          </a:xfrm>
          <a:custGeom>
            <a:avLst/>
            <a:gdLst/>
            <a:ahLst/>
            <a:cxnLst/>
            <a:rect l="l" t="t" r="r" b="b"/>
            <a:pathLst>
              <a:path w="4057619" h="476250">
                <a:moveTo>
                  <a:pt x="3938556" y="0"/>
                </a:moveTo>
                <a:lnTo>
                  <a:pt x="4057619" y="476250"/>
                </a:lnTo>
                <a:lnTo>
                  <a:pt x="21523" y="476250"/>
                </a:lnTo>
                <a:lnTo>
                  <a:pt x="0" y="465544"/>
                </a:lnTo>
                <a:lnTo>
                  <a:pt x="0" y="409895"/>
                </a:lnTo>
                <a:lnTo>
                  <a:pt x="3938556" y="0"/>
                </a:lnTo>
                <a:close/>
              </a:path>
            </a:pathLst>
          </a:custGeom>
          <a:solidFill>
            <a:srgbClr val="16385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9" name="CustomShape 11"/>
          <p:cNvSpPr/>
          <p:nvPr/>
        </p:nvSpPr>
        <p:spPr>
          <a:xfrm>
            <a:off x="-27000" y="6205680"/>
            <a:ext cx="2643120" cy="652320"/>
          </a:xfrm>
          <a:custGeom>
            <a:avLst/>
            <a:gdLst/>
            <a:ahLst/>
            <a:cxnLst/>
            <a:rect l="l" t="t" r="r" b="b"/>
            <a:pathLst>
              <a:path w="2642459" h="652849">
                <a:moveTo>
                  <a:pt x="2533651" y="0"/>
                </a:moveTo>
                <a:lnTo>
                  <a:pt x="2642459" y="652849"/>
                </a:lnTo>
                <a:lnTo>
                  <a:pt x="0" y="652849"/>
                </a:lnTo>
                <a:lnTo>
                  <a:pt x="0" y="436837"/>
                </a:lnTo>
                <a:lnTo>
                  <a:pt x="2533651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7B25CCF-D9CD-4444-8F39-BED9F9B2783D}"/>
              </a:ext>
            </a:extLst>
          </p:cNvPr>
          <p:cNvSpPr/>
          <p:nvPr/>
        </p:nvSpPr>
        <p:spPr>
          <a:xfrm>
            <a:off x="614288" y="749439"/>
            <a:ext cx="10077157" cy="6155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NI" sz="2000" dirty="0">
                <a:solidFill>
                  <a:srgbClr val="54525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Ejemplo del sistema Dupont</a:t>
            </a:r>
            <a:endParaRPr lang="es-NI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NI" sz="2000" dirty="0">
                <a:solidFill>
                  <a:srgbClr val="54525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Supongamos que una empresa dispone de la siguiente información financiera: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NI" sz="2000" dirty="0">
                <a:solidFill>
                  <a:srgbClr val="54525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Activos $100,000 Pasivos $28,000, Patrimonio: $30,000, Ventas $250,000, Costos de ventas $50,000, Gastos $25,000, Utilidad $150,000</a:t>
            </a:r>
          </a:p>
          <a:p>
            <a:r>
              <a:rPr lang="es-NI" dirty="0"/>
              <a:t>Si aplicamos la fórmula anterior obtenemos:</a:t>
            </a:r>
          </a:p>
          <a:p>
            <a:endParaRPr lang="es-NI" dirty="0"/>
          </a:p>
          <a:p>
            <a:r>
              <a:rPr lang="es-NI" dirty="0"/>
              <a:t>1. </a:t>
            </a:r>
            <a:r>
              <a:rPr lang="es-NI" b="1" dirty="0"/>
              <a:t>Margen neto de utilidad:  </a:t>
            </a:r>
            <a:r>
              <a:rPr lang="es-NI" dirty="0"/>
              <a:t>Utilidad neta/Ventas= 150,000/250,000 = 0.6</a:t>
            </a:r>
          </a:p>
          <a:p>
            <a:r>
              <a:rPr lang="es-NI" dirty="0"/>
              <a:t>2. </a:t>
            </a:r>
            <a:r>
              <a:rPr lang="es-NI" b="1" dirty="0"/>
              <a:t>Rotación de activos totales: </a:t>
            </a:r>
            <a:r>
              <a:rPr lang="es-NI" dirty="0"/>
              <a:t>Ventas / Activo fijo total = 250,000/ 100,000 = 2.5</a:t>
            </a:r>
          </a:p>
          <a:p>
            <a:r>
              <a:rPr lang="es-NI" dirty="0"/>
              <a:t>3. </a:t>
            </a:r>
            <a:r>
              <a:rPr lang="es-NI" b="1" dirty="0"/>
              <a:t>Apalancamiento financiero: </a:t>
            </a:r>
            <a:r>
              <a:rPr lang="es-NI" dirty="0"/>
              <a:t>Activos / Patrimonio = 100,000/ 30,000 = 3.33</a:t>
            </a:r>
          </a:p>
          <a:p>
            <a:pPr algn="ctr"/>
            <a:endParaRPr lang="es-NI" dirty="0"/>
          </a:p>
          <a:p>
            <a:pPr algn="ctr"/>
            <a:r>
              <a:rPr lang="es-NI" b="1" dirty="0"/>
              <a:t>Sistema Dupont</a:t>
            </a:r>
            <a:r>
              <a:rPr lang="es-NI" dirty="0"/>
              <a:t> = 0.6 x 2.5 x 3.33 = 4.99</a:t>
            </a:r>
          </a:p>
          <a:p>
            <a:pPr algn="ctr"/>
            <a:endParaRPr lang="es-ES" dirty="0"/>
          </a:p>
          <a:p>
            <a:r>
              <a:rPr lang="es-ES" dirty="0"/>
              <a:t>Positivo: cuando el ROE es superior al ROA. Es decir, que parte del activo se ha financiado con deuda y, de esta forma, ha crecido la rentabilidad financiera.</a:t>
            </a:r>
          </a:p>
          <a:p>
            <a:r>
              <a:rPr lang="es-ES" dirty="0"/>
              <a:t>Nulo: cuando las dos ratios coinciden. Es el estado ideal, ya que no existe deuda en la empresa; todos los activos se financian con fondos propios.</a:t>
            </a:r>
          </a:p>
          <a:p>
            <a:r>
              <a:rPr lang="es-ES" dirty="0"/>
              <a:t>Negativo: cuando el ROE es inferior al ROA. Esto indica que, el coste medio de la deuda es superior a la rentabilidad económica.</a:t>
            </a:r>
          </a:p>
          <a:p>
            <a:pPr algn="ctr"/>
            <a:endParaRPr lang="es-NI" dirty="0"/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NI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640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roup 1"/>
          <p:cNvGrpSpPr/>
          <p:nvPr/>
        </p:nvGrpSpPr>
        <p:grpSpPr>
          <a:xfrm>
            <a:off x="-360" y="-20520"/>
            <a:ext cx="12192120" cy="6746760"/>
            <a:chOff x="-360" y="-20520"/>
            <a:chExt cx="12192120" cy="6746760"/>
          </a:xfrm>
        </p:grpSpPr>
        <p:sp>
          <p:nvSpPr>
            <p:cNvPr id="232" name="CustomShape 2"/>
            <p:cNvSpPr/>
            <p:nvPr/>
          </p:nvSpPr>
          <p:spPr>
            <a:xfrm flipH="1">
              <a:off x="-720" y="2885400"/>
              <a:ext cx="4459320" cy="3836520"/>
            </a:xfrm>
            <a:custGeom>
              <a:avLst/>
              <a:gdLst/>
              <a:ahLst/>
              <a:cxnLst/>
              <a:rect l="l" t="t" r="r" b="b"/>
              <a:pathLst>
                <a:path w="4459357" h="3796747">
                  <a:moveTo>
                    <a:pt x="0" y="0"/>
                  </a:moveTo>
                  <a:lnTo>
                    <a:pt x="4459357" y="0"/>
                  </a:lnTo>
                  <a:lnTo>
                    <a:pt x="4459357" y="2482269"/>
                  </a:lnTo>
                  <a:lnTo>
                    <a:pt x="4432853" y="2464904"/>
                  </a:lnTo>
                  <a:lnTo>
                    <a:pt x="636105" y="3796747"/>
                  </a:lnTo>
                  <a:lnTo>
                    <a:pt x="0" y="19269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33" name="CustomShape 3"/>
            <p:cNvSpPr/>
            <p:nvPr/>
          </p:nvSpPr>
          <p:spPr>
            <a:xfrm flipH="1">
              <a:off x="-720" y="-7560"/>
              <a:ext cx="9098280" cy="6582600"/>
            </a:xfrm>
            <a:custGeom>
              <a:avLst/>
              <a:gdLst/>
              <a:ahLst/>
              <a:cxnLst/>
              <a:rect l="l" t="t" r="r" b="b"/>
              <a:pathLst>
                <a:path w="9097730" h="6513286">
                  <a:moveTo>
                    <a:pt x="0" y="0"/>
                  </a:moveTo>
                  <a:lnTo>
                    <a:pt x="9097730" y="0"/>
                  </a:lnTo>
                  <a:lnTo>
                    <a:pt x="9097730" y="4694064"/>
                  </a:lnTo>
                  <a:lnTo>
                    <a:pt x="2571034" y="65132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34" name="CustomShape 4"/>
            <p:cNvSpPr/>
            <p:nvPr/>
          </p:nvSpPr>
          <p:spPr>
            <a:xfrm flipH="1">
              <a:off x="7421040" y="-7560"/>
              <a:ext cx="4770360" cy="1680120"/>
            </a:xfrm>
            <a:custGeom>
              <a:avLst/>
              <a:gdLst/>
              <a:ahLst/>
              <a:cxnLst/>
              <a:rect l="l" t="t" r="r" b="b"/>
              <a:pathLst>
                <a:path w="4770783" h="1662716">
                  <a:moveTo>
                    <a:pt x="0" y="0"/>
                  </a:moveTo>
                  <a:lnTo>
                    <a:pt x="4770783" y="0"/>
                  </a:lnTo>
                  <a:lnTo>
                    <a:pt x="4770783" y="62095"/>
                  </a:lnTo>
                  <a:lnTo>
                    <a:pt x="0" y="1662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35" name="CustomShape 5"/>
            <p:cNvSpPr/>
            <p:nvPr/>
          </p:nvSpPr>
          <p:spPr>
            <a:xfrm flipH="1">
              <a:off x="-720" y="-7560"/>
              <a:ext cx="8798040" cy="6561720"/>
            </a:xfrm>
            <a:custGeom>
              <a:avLst/>
              <a:gdLst/>
              <a:ahLst/>
              <a:cxnLst/>
              <a:rect l="l" t="t" r="r" b="b"/>
              <a:pathLst>
                <a:path w="8797989" h="6493408">
                  <a:moveTo>
                    <a:pt x="0" y="0"/>
                  </a:moveTo>
                  <a:lnTo>
                    <a:pt x="8797989" y="0"/>
                  </a:lnTo>
                  <a:lnTo>
                    <a:pt x="8797989" y="4254418"/>
                  </a:lnTo>
                  <a:lnTo>
                    <a:pt x="2231537" y="64934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12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NI" dirty="0"/>
            </a:p>
          </p:txBody>
        </p:sp>
        <p:grpSp>
          <p:nvGrpSpPr>
            <p:cNvPr id="236" name="Group 6"/>
            <p:cNvGrpSpPr/>
            <p:nvPr/>
          </p:nvGrpSpPr>
          <p:grpSpPr>
            <a:xfrm>
              <a:off x="7059240" y="993960"/>
              <a:ext cx="4925520" cy="5732280"/>
              <a:chOff x="7059240" y="993960"/>
              <a:chExt cx="4925520" cy="5732280"/>
            </a:xfrm>
          </p:grpSpPr>
          <p:pic>
            <p:nvPicPr>
              <p:cNvPr id="237" name="Forma libre 10"/>
              <p:cNvPicPr/>
              <p:nvPr/>
            </p:nvPicPr>
            <p:blipFill>
              <a:blip r:embed="rId2"/>
              <a:stretch/>
            </p:blipFill>
            <p:spPr>
              <a:xfrm>
                <a:off x="7062120" y="993960"/>
                <a:ext cx="4921560" cy="573012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238" name="CustomShape 7"/>
              <p:cNvSpPr/>
              <p:nvPr/>
            </p:nvSpPr>
            <p:spPr>
              <a:xfrm>
                <a:off x="7059240" y="996840"/>
                <a:ext cx="4925520" cy="57294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239" name="CustomShape 8"/>
            <p:cNvSpPr/>
            <p:nvPr/>
          </p:nvSpPr>
          <p:spPr>
            <a:xfrm flipH="1">
              <a:off x="10362960" y="-20520"/>
              <a:ext cx="1828800" cy="1055880"/>
            </a:xfrm>
            <a:custGeom>
              <a:avLst/>
              <a:gdLst/>
              <a:ahLst/>
              <a:cxnLst/>
              <a:rect l="l" t="t" r="r" b="b"/>
              <a:pathLst>
                <a:path w="1828800" h="1045148">
                  <a:moveTo>
                    <a:pt x="0" y="0"/>
                  </a:moveTo>
                  <a:lnTo>
                    <a:pt x="1666150" y="0"/>
                  </a:lnTo>
                  <a:lnTo>
                    <a:pt x="1828800" y="450417"/>
                  </a:lnTo>
                  <a:lnTo>
                    <a:pt x="0" y="1045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40" name="CustomShape 9"/>
          <p:cNvSpPr/>
          <p:nvPr/>
        </p:nvSpPr>
        <p:spPr>
          <a:xfrm>
            <a:off x="1530360" y="1878120"/>
            <a:ext cx="4757760" cy="1006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s-CO" sz="6000" b="1" strike="noStrike" spc="-1" dirty="0">
                <a:solidFill>
                  <a:schemeClr val="bg1"/>
                </a:solidFill>
                <a:latin typeface="Franklin Gothic Demi Cond"/>
              </a:rPr>
              <a:t>¡¡GRACIAS!!</a:t>
            </a:r>
            <a:endParaRPr lang="en-US" sz="6000" b="0" strike="noStrike" spc="-1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5745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1972</TotalTime>
  <Words>522</Words>
  <Application>Microsoft Office PowerPoint</Application>
  <PresentationFormat>Personalizado</PresentationFormat>
  <Paragraphs>47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Franklin Gothic Demi Cond</vt:lpstr>
      <vt:lpstr>Futura Md BT</vt:lpstr>
      <vt:lpstr>Kozuka Gothic Pr6N 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Hazzely Orozco Miranda</dc:creator>
  <dc:description/>
  <cp:lastModifiedBy>Allan Obando</cp:lastModifiedBy>
  <cp:revision>174</cp:revision>
  <dcterms:created xsi:type="dcterms:W3CDTF">2019-03-03T15:26:56Z</dcterms:created>
  <dcterms:modified xsi:type="dcterms:W3CDTF">2024-10-07T16:34:25Z</dcterms:modified>
  <dc:language>en-US</dc:language>
</cp:coreProperties>
</file>